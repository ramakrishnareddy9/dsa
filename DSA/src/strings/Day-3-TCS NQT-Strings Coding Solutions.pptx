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302" r:id="rId16"/>
    <p:sldId id="271" r:id="rId17"/>
    <p:sldId id="303" r:id="rId18"/>
    <p:sldId id="272" r:id="rId19"/>
    <p:sldId id="273" r:id="rId20"/>
    <p:sldId id="274" r:id="rId21"/>
    <p:sldId id="275" r:id="rId22"/>
    <p:sldId id="304"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305" r:id="rId36"/>
    <p:sldId id="288"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EA906-5C05-1FB9-B654-FB68D3BE31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84E5D2F-4E9A-06A6-5CE9-5C20604BFF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BE7A111-86D8-D279-1779-430BCF0B761A}"/>
              </a:ext>
            </a:extLst>
          </p:cNvPr>
          <p:cNvSpPr>
            <a:spLocks noGrp="1"/>
          </p:cNvSpPr>
          <p:nvPr>
            <p:ph type="dt" sz="half" idx="10"/>
          </p:nvPr>
        </p:nvSpPr>
        <p:spPr/>
        <p:txBody>
          <a:bodyPr/>
          <a:lstStyle/>
          <a:p>
            <a:fld id="{3FB75D71-3CF2-420E-9441-A1DFB1E126AA}" type="datetimeFigureOut">
              <a:rPr lang="en-IN" smtClean="0"/>
              <a:t>08-04-2024</a:t>
            </a:fld>
            <a:endParaRPr lang="en-IN"/>
          </a:p>
        </p:txBody>
      </p:sp>
      <p:sp>
        <p:nvSpPr>
          <p:cNvPr id="5" name="Footer Placeholder 4">
            <a:extLst>
              <a:ext uri="{FF2B5EF4-FFF2-40B4-BE49-F238E27FC236}">
                <a16:creationId xmlns:a16="http://schemas.microsoft.com/office/drawing/2014/main" id="{EC307D0D-A1B4-869D-BBF3-25F6AABD86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2B31B3-A0D3-6587-FCE0-1BB223000742}"/>
              </a:ext>
            </a:extLst>
          </p:cNvPr>
          <p:cNvSpPr>
            <a:spLocks noGrp="1"/>
          </p:cNvSpPr>
          <p:nvPr>
            <p:ph type="sldNum" sz="quarter" idx="12"/>
          </p:nvPr>
        </p:nvSpPr>
        <p:spPr/>
        <p:txBody>
          <a:bodyPr/>
          <a:lstStyle/>
          <a:p>
            <a:fld id="{6899F81C-CDAC-4097-8D53-95EC029120B3}" type="slidenum">
              <a:rPr lang="en-IN" smtClean="0"/>
              <a:t>‹#›</a:t>
            </a:fld>
            <a:endParaRPr lang="en-IN"/>
          </a:p>
        </p:txBody>
      </p:sp>
    </p:spTree>
    <p:extLst>
      <p:ext uri="{BB962C8B-B14F-4D97-AF65-F5344CB8AC3E}">
        <p14:creationId xmlns:p14="http://schemas.microsoft.com/office/powerpoint/2010/main" val="3997338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5A8B6-C341-B40E-6C3C-1E2B0880FE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C1E2E4-8ED6-B71B-5859-5FFCA7E40D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E8A385-4AFE-2F3F-C4BF-330D3D4F2E11}"/>
              </a:ext>
            </a:extLst>
          </p:cNvPr>
          <p:cNvSpPr>
            <a:spLocks noGrp="1"/>
          </p:cNvSpPr>
          <p:nvPr>
            <p:ph type="dt" sz="half" idx="10"/>
          </p:nvPr>
        </p:nvSpPr>
        <p:spPr/>
        <p:txBody>
          <a:bodyPr/>
          <a:lstStyle/>
          <a:p>
            <a:fld id="{3FB75D71-3CF2-420E-9441-A1DFB1E126AA}" type="datetimeFigureOut">
              <a:rPr lang="en-IN" smtClean="0"/>
              <a:t>08-04-2024</a:t>
            </a:fld>
            <a:endParaRPr lang="en-IN"/>
          </a:p>
        </p:txBody>
      </p:sp>
      <p:sp>
        <p:nvSpPr>
          <p:cNvPr id="5" name="Footer Placeholder 4">
            <a:extLst>
              <a:ext uri="{FF2B5EF4-FFF2-40B4-BE49-F238E27FC236}">
                <a16:creationId xmlns:a16="http://schemas.microsoft.com/office/drawing/2014/main" id="{2943E172-77B7-60D9-7CF2-B2796A41E3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317C4D-B236-9259-BE84-8A549C563AF6}"/>
              </a:ext>
            </a:extLst>
          </p:cNvPr>
          <p:cNvSpPr>
            <a:spLocks noGrp="1"/>
          </p:cNvSpPr>
          <p:nvPr>
            <p:ph type="sldNum" sz="quarter" idx="12"/>
          </p:nvPr>
        </p:nvSpPr>
        <p:spPr/>
        <p:txBody>
          <a:bodyPr/>
          <a:lstStyle/>
          <a:p>
            <a:fld id="{6899F81C-CDAC-4097-8D53-95EC029120B3}" type="slidenum">
              <a:rPr lang="en-IN" smtClean="0"/>
              <a:t>‹#›</a:t>
            </a:fld>
            <a:endParaRPr lang="en-IN"/>
          </a:p>
        </p:txBody>
      </p:sp>
    </p:spTree>
    <p:extLst>
      <p:ext uri="{BB962C8B-B14F-4D97-AF65-F5344CB8AC3E}">
        <p14:creationId xmlns:p14="http://schemas.microsoft.com/office/powerpoint/2010/main" val="2970564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5602A-51A2-53B1-09D2-B55C135A0E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F25C6E-23F8-9E10-7B1A-F40AE975EE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AADBB2-3CA3-0A4E-49AB-1AAB4C493FB0}"/>
              </a:ext>
            </a:extLst>
          </p:cNvPr>
          <p:cNvSpPr>
            <a:spLocks noGrp="1"/>
          </p:cNvSpPr>
          <p:nvPr>
            <p:ph type="dt" sz="half" idx="10"/>
          </p:nvPr>
        </p:nvSpPr>
        <p:spPr/>
        <p:txBody>
          <a:bodyPr/>
          <a:lstStyle/>
          <a:p>
            <a:fld id="{3FB75D71-3CF2-420E-9441-A1DFB1E126AA}" type="datetimeFigureOut">
              <a:rPr lang="en-IN" smtClean="0"/>
              <a:t>08-04-2024</a:t>
            </a:fld>
            <a:endParaRPr lang="en-IN"/>
          </a:p>
        </p:txBody>
      </p:sp>
      <p:sp>
        <p:nvSpPr>
          <p:cNvPr id="5" name="Footer Placeholder 4">
            <a:extLst>
              <a:ext uri="{FF2B5EF4-FFF2-40B4-BE49-F238E27FC236}">
                <a16:creationId xmlns:a16="http://schemas.microsoft.com/office/drawing/2014/main" id="{86593013-D922-0C4E-067E-E3CBC4CD7B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3C897D-E36E-40C5-03FE-6C15D60E8BB4}"/>
              </a:ext>
            </a:extLst>
          </p:cNvPr>
          <p:cNvSpPr>
            <a:spLocks noGrp="1"/>
          </p:cNvSpPr>
          <p:nvPr>
            <p:ph type="sldNum" sz="quarter" idx="12"/>
          </p:nvPr>
        </p:nvSpPr>
        <p:spPr/>
        <p:txBody>
          <a:bodyPr/>
          <a:lstStyle/>
          <a:p>
            <a:fld id="{6899F81C-CDAC-4097-8D53-95EC029120B3}" type="slidenum">
              <a:rPr lang="en-IN" smtClean="0"/>
              <a:t>‹#›</a:t>
            </a:fld>
            <a:endParaRPr lang="en-IN"/>
          </a:p>
        </p:txBody>
      </p:sp>
    </p:spTree>
    <p:extLst>
      <p:ext uri="{BB962C8B-B14F-4D97-AF65-F5344CB8AC3E}">
        <p14:creationId xmlns:p14="http://schemas.microsoft.com/office/powerpoint/2010/main" val="1545429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EC6EF-735B-6819-0CD8-C22ED68AA4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2AC6A79-F185-5A6C-175C-01A0EFA89E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CE4BCAB-830C-D128-6617-D988C548C1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66F7C7C-71CE-94EC-0D8C-B8201AA8BB23}"/>
              </a:ext>
            </a:extLst>
          </p:cNvPr>
          <p:cNvSpPr>
            <a:spLocks noGrp="1"/>
          </p:cNvSpPr>
          <p:nvPr>
            <p:ph type="dt" sz="half" idx="10"/>
          </p:nvPr>
        </p:nvSpPr>
        <p:spPr/>
        <p:txBody>
          <a:bodyPr/>
          <a:lstStyle/>
          <a:p>
            <a:fld id="{3FB75D71-3CF2-420E-9441-A1DFB1E126AA}" type="datetimeFigureOut">
              <a:rPr lang="en-IN" smtClean="0"/>
              <a:t>08-04-2024</a:t>
            </a:fld>
            <a:endParaRPr lang="en-IN"/>
          </a:p>
        </p:txBody>
      </p:sp>
      <p:sp>
        <p:nvSpPr>
          <p:cNvPr id="6" name="Footer Placeholder 5">
            <a:extLst>
              <a:ext uri="{FF2B5EF4-FFF2-40B4-BE49-F238E27FC236}">
                <a16:creationId xmlns:a16="http://schemas.microsoft.com/office/drawing/2014/main" id="{BE71A9B7-CBD1-EC6E-5CC3-8806A1F998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4717EA-7085-02F4-6488-1D4D1949DDFF}"/>
              </a:ext>
            </a:extLst>
          </p:cNvPr>
          <p:cNvSpPr>
            <a:spLocks noGrp="1"/>
          </p:cNvSpPr>
          <p:nvPr>
            <p:ph type="sldNum" sz="quarter" idx="12"/>
          </p:nvPr>
        </p:nvSpPr>
        <p:spPr/>
        <p:txBody>
          <a:bodyPr/>
          <a:lstStyle/>
          <a:p>
            <a:fld id="{6899F81C-CDAC-4097-8D53-95EC029120B3}" type="slidenum">
              <a:rPr lang="en-IN" smtClean="0"/>
              <a:t>‹#›</a:t>
            </a:fld>
            <a:endParaRPr lang="en-IN"/>
          </a:p>
        </p:txBody>
      </p:sp>
    </p:spTree>
    <p:extLst>
      <p:ext uri="{BB962C8B-B14F-4D97-AF65-F5344CB8AC3E}">
        <p14:creationId xmlns:p14="http://schemas.microsoft.com/office/powerpoint/2010/main" val="2648764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523D8-D239-56A0-1470-3653E28D10E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365FA2-801D-8BDB-526A-E803758F27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3021AA-8219-FECB-D2A8-DF9DACDC8C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4DDE079-852D-287F-0B4C-EEC1E859A8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288437-6128-BDAA-5FFC-637D938FB5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1F829F5-DFAB-F71E-2187-0C8D017B92C0}"/>
              </a:ext>
            </a:extLst>
          </p:cNvPr>
          <p:cNvSpPr>
            <a:spLocks noGrp="1"/>
          </p:cNvSpPr>
          <p:nvPr>
            <p:ph type="dt" sz="half" idx="10"/>
          </p:nvPr>
        </p:nvSpPr>
        <p:spPr/>
        <p:txBody>
          <a:bodyPr/>
          <a:lstStyle/>
          <a:p>
            <a:fld id="{3FB75D71-3CF2-420E-9441-A1DFB1E126AA}" type="datetimeFigureOut">
              <a:rPr lang="en-IN" smtClean="0"/>
              <a:t>08-04-2024</a:t>
            </a:fld>
            <a:endParaRPr lang="en-IN"/>
          </a:p>
        </p:txBody>
      </p:sp>
      <p:sp>
        <p:nvSpPr>
          <p:cNvPr id="8" name="Footer Placeholder 7">
            <a:extLst>
              <a:ext uri="{FF2B5EF4-FFF2-40B4-BE49-F238E27FC236}">
                <a16:creationId xmlns:a16="http://schemas.microsoft.com/office/drawing/2014/main" id="{C7303481-BE3A-FD91-C261-1D91D164761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EA17CF1-E528-EDD3-B222-449D5200EA54}"/>
              </a:ext>
            </a:extLst>
          </p:cNvPr>
          <p:cNvSpPr>
            <a:spLocks noGrp="1"/>
          </p:cNvSpPr>
          <p:nvPr>
            <p:ph type="sldNum" sz="quarter" idx="12"/>
          </p:nvPr>
        </p:nvSpPr>
        <p:spPr/>
        <p:txBody>
          <a:bodyPr/>
          <a:lstStyle/>
          <a:p>
            <a:fld id="{6899F81C-CDAC-4097-8D53-95EC029120B3}" type="slidenum">
              <a:rPr lang="en-IN" smtClean="0"/>
              <a:t>‹#›</a:t>
            </a:fld>
            <a:endParaRPr lang="en-IN"/>
          </a:p>
        </p:txBody>
      </p:sp>
    </p:spTree>
    <p:extLst>
      <p:ext uri="{BB962C8B-B14F-4D97-AF65-F5344CB8AC3E}">
        <p14:creationId xmlns:p14="http://schemas.microsoft.com/office/powerpoint/2010/main" val="1985474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1EAA2-D378-4107-A239-BB3AC721478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2781262-B2A4-F49A-83AA-0215C28EC9DA}"/>
              </a:ext>
            </a:extLst>
          </p:cNvPr>
          <p:cNvSpPr>
            <a:spLocks noGrp="1"/>
          </p:cNvSpPr>
          <p:nvPr>
            <p:ph type="dt" sz="half" idx="10"/>
          </p:nvPr>
        </p:nvSpPr>
        <p:spPr/>
        <p:txBody>
          <a:bodyPr/>
          <a:lstStyle/>
          <a:p>
            <a:fld id="{3FB75D71-3CF2-420E-9441-A1DFB1E126AA}" type="datetimeFigureOut">
              <a:rPr lang="en-IN" smtClean="0"/>
              <a:t>08-04-2024</a:t>
            </a:fld>
            <a:endParaRPr lang="en-IN"/>
          </a:p>
        </p:txBody>
      </p:sp>
      <p:sp>
        <p:nvSpPr>
          <p:cNvPr id="4" name="Footer Placeholder 3">
            <a:extLst>
              <a:ext uri="{FF2B5EF4-FFF2-40B4-BE49-F238E27FC236}">
                <a16:creationId xmlns:a16="http://schemas.microsoft.com/office/drawing/2014/main" id="{C61FAB9B-2F0B-6103-1DAF-B1D20C265AD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00359AA-7E51-F340-2FBC-636D81CCCE7F}"/>
              </a:ext>
            </a:extLst>
          </p:cNvPr>
          <p:cNvSpPr>
            <a:spLocks noGrp="1"/>
          </p:cNvSpPr>
          <p:nvPr>
            <p:ph type="sldNum" sz="quarter" idx="12"/>
          </p:nvPr>
        </p:nvSpPr>
        <p:spPr/>
        <p:txBody>
          <a:bodyPr/>
          <a:lstStyle/>
          <a:p>
            <a:fld id="{6899F81C-CDAC-4097-8D53-95EC029120B3}" type="slidenum">
              <a:rPr lang="en-IN" smtClean="0"/>
              <a:t>‹#›</a:t>
            </a:fld>
            <a:endParaRPr lang="en-IN"/>
          </a:p>
        </p:txBody>
      </p:sp>
    </p:spTree>
    <p:extLst>
      <p:ext uri="{BB962C8B-B14F-4D97-AF65-F5344CB8AC3E}">
        <p14:creationId xmlns:p14="http://schemas.microsoft.com/office/powerpoint/2010/main" val="176449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A34F0B-8550-7A8B-43AC-9C1F3D22EF74}"/>
              </a:ext>
            </a:extLst>
          </p:cNvPr>
          <p:cNvSpPr>
            <a:spLocks noGrp="1"/>
          </p:cNvSpPr>
          <p:nvPr>
            <p:ph type="dt" sz="half" idx="10"/>
          </p:nvPr>
        </p:nvSpPr>
        <p:spPr/>
        <p:txBody>
          <a:bodyPr/>
          <a:lstStyle/>
          <a:p>
            <a:fld id="{3FB75D71-3CF2-420E-9441-A1DFB1E126AA}" type="datetimeFigureOut">
              <a:rPr lang="en-IN" smtClean="0"/>
              <a:t>08-04-2024</a:t>
            </a:fld>
            <a:endParaRPr lang="en-IN"/>
          </a:p>
        </p:txBody>
      </p:sp>
      <p:sp>
        <p:nvSpPr>
          <p:cNvPr id="3" name="Footer Placeholder 2">
            <a:extLst>
              <a:ext uri="{FF2B5EF4-FFF2-40B4-BE49-F238E27FC236}">
                <a16:creationId xmlns:a16="http://schemas.microsoft.com/office/drawing/2014/main" id="{6C661A61-2289-4963-AF68-A54D7B5D8E4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BF4F000-9976-A4C5-582B-ADF38E3E4BEE}"/>
              </a:ext>
            </a:extLst>
          </p:cNvPr>
          <p:cNvSpPr>
            <a:spLocks noGrp="1"/>
          </p:cNvSpPr>
          <p:nvPr>
            <p:ph type="sldNum" sz="quarter" idx="12"/>
          </p:nvPr>
        </p:nvSpPr>
        <p:spPr/>
        <p:txBody>
          <a:bodyPr/>
          <a:lstStyle/>
          <a:p>
            <a:fld id="{6899F81C-CDAC-4097-8D53-95EC029120B3}" type="slidenum">
              <a:rPr lang="en-IN" smtClean="0"/>
              <a:t>‹#›</a:t>
            </a:fld>
            <a:endParaRPr lang="en-IN"/>
          </a:p>
        </p:txBody>
      </p:sp>
    </p:spTree>
    <p:extLst>
      <p:ext uri="{BB962C8B-B14F-4D97-AF65-F5344CB8AC3E}">
        <p14:creationId xmlns:p14="http://schemas.microsoft.com/office/powerpoint/2010/main" val="1978379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256FB-5E9F-E3CD-B5FC-3B3B248A84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49C5A44-6612-249A-0FCE-9808A1637E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B827AF-5A4E-3A9F-8593-1A9B6FF8EB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F9C1A4-8FD3-1624-A903-DD21BB2C795B}"/>
              </a:ext>
            </a:extLst>
          </p:cNvPr>
          <p:cNvSpPr>
            <a:spLocks noGrp="1"/>
          </p:cNvSpPr>
          <p:nvPr>
            <p:ph type="dt" sz="half" idx="10"/>
          </p:nvPr>
        </p:nvSpPr>
        <p:spPr/>
        <p:txBody>
          <a:bodyPr/>
          <a:lstStyle/>
          <a:p>
            <a:fld id="{3FB75D71-3CF2-420E-9441-A1DFB1E126AA}" type="datetimeFigureOut">
              <a:rPr lang="en-IN" smtClean="0"/>
              <a:t>08-04-2024</a:t>
            </a:fld>
            <a:endParaRPr lang="en-IN"/>
          </a:p>
        </p:txBody>
      </p:sp>
      <p:sp>
        <p:nvSpPr>
          <p:cNvPr id="6" name="Footer Placeholder 5">
            <a:extLst>
              <a:ext uri="{FF2B5EF4-FFF2-40B4-BE49-F238E27FC236}">
                <a16:creationId xmlns:a16="http://schemas.microsoft.com/office/drawing/2014/main" id="{16A7A186-F504-A0D1-6B88-FCCC4C91BD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D73D0F-FF9F-1702-CD8A-E2D9935B3719}"/>
              </a:ext>
            </a:extLst>
          </p:cNvPr>
          <p:cNvSpPr>
            <a:spLocks noGrp="1"/>
          </p:cNvSpPr>
          <p:nvPr>
            <p:ph type="sldNum" sz="quarter" idx="12"/>
          </p:nvPr>
        </p:nvSpPr>
        <p:spPr/>
        <p:txBody>
          <a:bodyPr/>
          <a:lstStyle/>
          <a:p>
            <a:fld id="{6899F81C-CDAC-4097-8D53-95EC029120B3}" type="slidenum">
              <a:rPr lang="en-IN" smtClean="0"/>
              <a:t>‹#›</a:t>
            </a:fld>
            <a:endParaRPr lang="en-IN"/>
          </a:p>
        </p:txBody>
      </p:sp>
    </p:spTree>
    <p:extLst>
      <p:ext uri="{BB962C8B-B14F-4D97-AF65-F5344CB8AC3E}">
        <p14:creationId xmlns:p14="http://schemas.microsoft.com/office/powerpoint/2010/main" val="813909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BB594-521C-C57A-ED0D-542497BDD4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59CA26A-48DD-FF53-0546-AA7DD444A3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DEF9ED5-F4AA-D1D7-27D5-466F03F90E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7CA613-173E-32CB-7856-035D90C4956F}"/>
              </a:ext>
            </a:extLst>
          </p:cNvPr>
          <p:cNvSpPr>
            <a:spLocks noGrp="1"/>
          </p:cNvSpPr>
          <p:nvPr>
            <p:ph type="dt" sz="half" idx="10"/>
          </p:nvPr>
        </p:nvSpPr>
        <p:spPr/>
        <p:txBody>
          <a:bodyPr/>
          <a:lstStyle/>
          <a:p>
            <a:fld id="{3FB75D71-3CF2-420E-9441-A1DFB1E126AA}" type="datetimeFigureOut">
              <a:rPr lang="en-IN" smtClean="0"/>
              <a:t>08-04-2024</a:t>
            </a:fld>
            <a:endParaRPr lang="en-IN"/>
          </a:p>
        </p:txBody>
      </p:sp>
      <p:sp>
        <p:nvSpPr>
          <p:cNvPr id="6" name="Footer Placeholder 5">
            <a:extLst>
              <a:ext uri="{FF2B5EF4-FFF2-40B4-BE49-F238E27FC236}">
                <a16:creationId xmlns:a16="http://schemas.microsoft.com/office/drawing/2014/main" id="{46DC78B3-7BB9-5457-8446-5AAAF8728B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680E55-C56B-A1DE-24E9-627A54A41DF2}"/>
              </a:ext>
            </a:extLst>
          </p:cNvPr>
          <p:cNvSpPr>
            <a:spLocks noGrp="1"/>
          </p:cNvSpPr>
          <p:nvPr>
            <p:ph type="sldNum" sz="quarter" idx="12"/>
          </p:nvPr>
        </p:nvSpPr>
        <p:spPr/>
        <p:txBody>
          <a:bodyPr/>
          <a:lstStyle/>
          <a:p>
            <a:fld id="{6899F81C-CDAC-4097-8D53-95EC029120B3}" type="slidenum">
              <a:rPr lang="en-IN" smtClean="0"/>
              <a:t>‹#›</a:t>
            </a:fld>
            <a:endParaRPr lang="en-IN"/>
          </a:p>
        </p:txBody>
      </p:sp>
    </p:spTree>
    <p:extLst>
      <p:ext uri="{BB962C8B-B14F-4D97-AF65-F5344CB8AC3E}">
        <p14:creationId xmlns:p14="http://schemas.microsoft.com/office/powerpoint/2010/main" val="3003337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7FEF-701D-8619-72D8-226252A43CB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FBBC1A8-E664-415E-21B9-9A54229365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66E1CB-CA1F-8548-3951-A8AFB3CEB887}"/>
              </a:ext>
            </a:extLst>
          </p:cNvPr>
          <p:cNvSpPr>
            <a:spLocks noGrp="1"/>
          </p:cNvSpPr>
          <p:nvPr>
            <p:ph type="dt" sz="half" idx="10"/>
          </p:nvPr>
        </p:nvSpPr>
        <p:spPr/>
        <p:txBody>
          <a:bodyPr/>
          <a:lstStyle/>
          <a:p>
            <a:fld id="{3FB75D71-3CF2-420E-9441-A1DFB1E126AA}" type="datetimeFigureOut">
              <a:rPr lang="en-IN" smtClean="0"/>
              <a:t>08-04-2024</a:t>
            </a:fld>
            <a:endParaRPr lang="en-IN"/>
          </a:p>
        </p:txBody>
      </p:sp>
      <p:sp>
        <p:nvSpPr>
          <p:cNvPr id="5" name="Footer Placeholder 4">
            <a:extLst>
              <a:ext uri="{FF2B5EF4-FFF2-40B4-BE49-F238E27FC236}">
                <a16:creationId xmlns:a16="http://schemas.microsoft.com/office/drawing/2014/main" id="{99DD93C7-D1B1-CB58-7339-B9DFD24571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4E596F-1E13-896B-E9F6-29979664E0F4}"/>
              </a:ext>
            </a:extLst>
          </p:cNvPr>
          <p:cNvSpPr>
            <a:spLocks noGrp="1"/>
          </p:cNvSpPr>
          <p:nvPr>
            <p:ph type="sldNum" sz="quarter" idx="12"/>
          </p:nvPr>
        </p:nvSpPr>
        <p:spPr/>
        <p:txBody>
          <a:bodyPr/>
          <a:lstStyle/>
          <a:p>
            <a:fld id="{6899F81C-CDAC-4097-8D53-95EC029120B3}" type="slidenum">
              <a:rPr lang="en-IN" smtClean="0"/>
              <a:t>‹#›</a:t>
            </a:fld>
            <a:endParaRPr lang="en-IN"/>
          </a:p>
        </p:txBody>
      </p:sp>
    </p:spTree>
    <p:extLst>
      <p:ext uri="{BB962C8B-B14F-4D97-AF65-F5344CB8AC3E}">
        <p14:creationId xmlns:p14="http://schemas.microsoft.com/office/powerpoint/2010/main" val="1363295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DEB5CA-8E7D-AADB-45A7-1DED66D8C22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C4EA72-2EBD-340A-F2B3-ACDBCA6C40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69679D-D10E-5219-0314-49A7ADC1304C}"/>
              </a:ext>
            </a:extLst>
          </p:cNvPr>
          <p:cNvSpPr>
            <a:spLocks noGrp="1"/>
          </p:cNvSpPr>
          <p:nvPr>
            <p:ph type="dt" sz="half" idx="10"/>
          </p:nvPr>
        </p:nvSpPr>
        <p:spPr/>
        <p:txBody>
          <a:bodyPr/>
          <a:lstStyle/>
          <a:p>
            <a:fld id="{3FB75D71-3CF2-420E-9441-A1DFB1E126AA}" type="datetimeFigureOut">
              <a:rPr lang="en-IN" smtClean="0"/>
              <a:t>08-04-2024</a:t>
            </a:fld>
            <a:endParaRPr lang="en-IN"/>
          </a:p>
        </p:txBody>
      </p:sp>
      <p:sp>
        <p:nvSpPr>
          <p:cNvPr id="5" name="Footer Placeholder 4">
            <a:extLst>
              <a:ext uri="{FF2B5EF4-FFF2-40B4-BE49-F238E27FC236}">
                <a16:creationId xmlns:a16="http://schemas.microsoft.com/office/drawing/2014/main" id="{1989CEC6-9B1B-5748-44B1-EAF976BEE3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347C23-A0AF-DBE6-72AA-5B2641683D2C}"/>
              </a:ext>
            </a:extLst>
          </p:cNvPr>
          <p:cNvSpPr>
            <a:spLocks noGrp="1"/>
          </p:cNvSpPr>
          <p:nvPr>
            <p:ph type="sldNum" sz="quarter" idx="12"/>
          </p:nvPr>
        </p:nvSpPr>
        <p:spPr/>
        <p:txBody>
          <a:bodyPr/>
          <a:lstStyle/>
          <a:p>
            <a:fld id="{6899F81C-CDAC-4097-8D53-95EC029120B3}" type="slidenum">
              <a:rPr lang="en-IN" smtClean="0"/>
              <a:t>‹#›</a:t>
            </a:fld>
            <a:endParaRPr lang="en-IN"/>
          </a:p>
        </p:txBody>
      </p:sp>
    </p:spTree>
    <p:extLst>
      <p:ext uri="{BB962C8B-B14F-4D97-AF65-F5344CB8AC3E}">
        <p14:creationId xmlns:p14="http://schemas.microsoft.com/office/powerpoint/2010/main" val="4146844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91A43A-D38A-C0F5-2932-64D89A3B66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3EF4BC-8982-0D83-50C2-CF3FCD0844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60449C-9EC7-194F-D988-1613F06E32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B75D71-3CF2-420E-9441-A1DFB1E126AA}" type="datetimeFigureOut">
              <a:rPr lang="en-IN" smtClean="0"/>
              <a:t>08-04-2024</a:t>
            </a:fld>
            <a:endParaRPr lang="en-IN"/>
          </a:p>
        </p:txBody>
      </p:sp>
      <p:sp>
        <p:nvSpPr>
          <p:cNvPr id="5" name="Footer Placeholder 4">
            <a:extLst>
              <a:ext uri="{FF2B5EF4-FFF2-40B4-BE49-F238E27FC236}">
                <a16:creationId xmlns:a16="http://schemas.microsoft.com/office/drawing/2014/main" id="{E4DEB499-8E2F-F498-3074-5A0C9DA288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87CD7F2-B1DC-C629-3889-0B4E9D1976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99F81C-CDAC-4097-8D53-95EC029120B3}" type="slidenum">
              <a:rPr lang="en-IN" smtClean="0"/>
              <a:t>‹#›</a:t>
            </a:fld>
            <a:endParaRPr lang="en-IN"/>
          </a:p>
        </p:txBody>
      </p:sp>
    </p:spTree>
    <p:extLst>
      <p:ext uri="{BB962C8B-B14F-4D97-AF65-F5344CB8AC3E}">
        <p14:creationId xmlns:p14="http://schemas.microsoft.com/office/powerpoint/2010/main" val="9714863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95061-E2B3-2D4F-9B7A-72F41B93CD92}"/>
              </a:ext>
            </a:extLst>
          </p:cNvPr>
          <p:cNvSpPr>
            <a:spLocks noGrp="1"/>
          </p:cNvSpPr>
          <p:nvPr>
            <p:ph type="title"/>
          </p:nvPr>
        </p:nvSpPr>
        <p:spPr>
          <a:xfrm>
            <a:off x="838200" y="127819"/>
            <a:ext cx="10515600" cy="553218"/>
          </a:xfrm>
        </p:spPr>
        <p:txBody>
          <a:bodyPr>
            <a:normAutofit/>
          </a:bodyPr>
          <a:lstStyle/>
          <a:p>
            <a:r>
              <a:rPr lang="en-US" sz="3000" b="1" i="0" dirty="0">
                <a:solidFill>
                  <a:srgbClr val="FF0000"/>
                </a:solidFill>
                <a:effectLst/>
                <a:highlight>
                  <a:srgbClr val="FFFFFF"/>
                </a:highlight>
                <a:latin typeface="+mn-lt"/>
              </a:rPr>
              <a:t>Problem statement 1: Guess the word</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BE85188F-588C-2F30-D8B5-D16E66B8C6A8}"/>
              </a:ext>
            </a:extLst>
          </p:cNvPr>
          <p:cNvSpPr>
            <a:spLocks noGrp="1"/>
          </p:cNvSpPr>
          <p:nvPr>
            <p:ph idx="1"/>
          </p:nvPr>
        </p:nvSpPr>
        <p:spPr>
          <a:xfrm>
            <a:off x="838200" y="796413"/>
            <a:ext cx="10515600" cy="5380550"/>
          </a:xfrm>
        </p:spPr>
        <p:txBody>
          <a:bodyPr>
            <a:normAutofit/>
          </a:bodyPr>
          <a:lstStyle/>
          <a:p>
            <a:pPr marL="0" indent="0" algn="just">
              <a:buNone/>
            </a:pPr>
            <a:r>
              <a:rPr lang="en-US" sz="2400" dirty="0">
                <a:solidFill>
                  <a:srgbClr val="343434"/>
                </a:solidFill>
                <a:highlight>
                  <a:srgbClr val="FFFFFF"/>
                </a:highlight>
              </a:rPr>
              <a:t>Ravi</a:t>
            </a:r>
            <a:r>
              <a:rPr lang="en-US" sz="2400" i="0" dirty="0">
                <a:solidFill>
                  <a:srgbClr val="343434"/>
                </a:solidFill>
                <a:effectLst/>
                <a:highlight>
                  <a:srgbClr val="FFFFFF"/>
                </a:highlight>
              </a:rPr>
              <a:t> went to </a:t>
            </a:r>
            <a:r>
              <a:rPr lang="en-US" sz="2400" dirty="0">
                <a:solidFill>
                  <a:srgbClr val="343434"/>
                </a:solidFill>
                <a:highlight>
                  <a:srgbClr val="FFFFFF"/>
                </a:highlight>
              </a:rPr>
              <a:t>Krishna</a:t>
            </a:r>
            <a:r>
              <a:rPr lang="en-US" sz="2400" i="0" dirty="0">
                <a:solidFill>
                  <a:srgbClr val="343434"/>
                </a:solidFill>
                <a:effectLst/>
                <a:highlight>
                  <a:srgbClr val="FFFFFF"/>
                </a:highlight>
              </a:rPr>
              <a:t> , a gaming space, with his friends and played a game called “Guess the Word”.</a:t>
            </a:r>
          </a:p>
          <a:p>
            <a:pPr marL="0" indent="0" algn="just">
              <a:buNone/>
            </a:pPr>
            <a:r>
              <a:rPr lang="en-US" sz="2400" i="0" dirty="0">
                <a:solidFill>
                  <a:srgbClr val="343434"/>
                </a:solidFill>
                <a:effectLst/>
                <a:highlight>
                  <a:srgbClr val="FFFFFF"/>
                </a:highlight>
              </a:rPr>
              <a:t>Rules of games are </a:t>
            </a:r>
          </a:p>
          <a:p>
            <a:pPr algn="just">
              <a:buFont typeface="Wingdings" panose="05000000000000000000" pitchFamily="2" charset="2"/>
              <a:buChar char="Ø"/>
            </a:pPr>
            <a:r>
              <a:rPr lang="en-US" sz="2400" i="0" dirty="0">
                <a:solidFill>
                  <a:srgbClr val="343434"/>
                </a:solidFill>
                <a:effectLst/>
                <a:highlight>
                  <a:srgbClr val="FFFFFF"/>
                </a:highlight>
              </a:rPr>
              <a:t>Computer displays some strings on the screen and the player should pick one string / word if this word matches with the random word that the computer picks then the player is declared as Winner.</a:t>
            </a:r>
          </a:p>
          <a:p>
            <a:pPr algn="just">
              <a:buFont typeface="Wingdings" panose="05000000000000000000" pitchFamily="2" charset="2"/>
              <a:buChar char="Ø"/>
            </a:pPr>
            <a:r>
              <a:rPr lang="en-US" sz="2400" dirty="0">
                <a:solidFill>
                  <a:srgbClr val="343434"/>
                </a:solidFill>
                <a:highlight>
                  <a:srgbClr val="FFFFFF"/>
                </a:highlight>
              </a:rPr>
              <a:t>Ravi</a:t>
            </a:r>
            <a:r>
              <a:rPr lang="en-US" sz="2400" i="0" dirty="0">
                <a:solidFill>
                  <a:srgbClr val="343434"/>
                </a:solidFill>
                <a:effectLst/>
                <a:highlight>
                  <a:srgbClr val="FFFFFF"/>
                </a:highlight>
              </a:rPr>
              <a:t> friends played the game and no one won the game. This is Ravi turn to play and he decided to must win the game.</a:t>
            </a:r>
          </a:p>
          <a:p>
            <a:pPr algn="just">
              <a:buFont typeface="Wingdings" panose="05000000000000000000" pitchFamily="2" charset="2"/>
              <a:buChar char="Ø"/>
            </a:pPr>
            <a:r>
              <a:rPr lang="en-US" sz="2400" i="0" dirty="0">
                <a:solidFill>
                  <a:srgbClr val="343434"/>
                </a:solidFill>
                <a:effectLst/>
                <a:highlight>
                  <a:srgbClr val="FFFFFF"/>
                </a:highlight>
              </a:rPr>
              <a:t>What he observed from his friend’s game is that the computer is picking up the string whose length is odd and also that should be maximum. Due to system failure computers sometimes cannot generate odd length words. In such cases you will lose the game anyways and it displays “better luck next time”. He needs your help. Check below cases for better understand</a:t>
            </a:r>
          </a:p>
          <a:p>
            <a:pPr algn="just">
              <a:buFont typeface="Wingdings" panose="05000000000000000000" pitchFamily="2" charset="2"/>
              <a:buChar char="Ø"/>
            </a:pPr>
            <a:endParaRPr lang="en-IN" sz="2400" dirty="0"/>
          </a:p>
        </p:txBody>
      </p:sp>
    </p:spTree>
    <p:extLst>
      <p:ext uri="{BB962C8B-B14F-4D97-AF65-F5344CB8AC3E}">
        <p14:creationId xmlns:p14="http://schemas.microsoft.com/office/powerpoint/2010/main" val="4288281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ECF919-CFD0-0BE4-1840-884295EA9FF0}"/>
              </a:ext>
            </a:extLst>
          </p:cNvPr>
          <p:cNvSpPr>
            <a:spLocks noGrp="1"/>
          </p:cNvSpPr>
          <p:nvPr>
            <p:ph idx="1"/>
          </p:nvPr>
        </p:nvSpPr>
        <p:spPr>
          <a:xfrm>
            <a:off x="838200" y="629265"/>
            <a:ext cx="10515600" cy="5547698"/>
          </a:xfrm>
        </p:spPr>
        <p:txBody>
          <a:bodyPr>
            <a:normAutofit/>
          </a:bodyPr>
          <a:lstStyle/>
          <a:p>
            <a:pPr marL="0" indent="0" algn="l">
              <a:buNone/>
            </a:pPr>
            <a:r>
              <a:rPr lang="en-US" sz="2600" b="1" i="0" dirty="0">
                <a:solidFill>
                  <a:srgbClr val="343434"/>
                </a:solidFill>
                <a:effectLst/>
                <a:highlight>
                  <a:srgbClr val="FFFFFF"/>
                </a:highlight>
              </a:rPr>
              <a:t>Sample input :</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5 → number of strings</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Hello Good morning Welcome you</a:t>
            </a:r>
            <a:br>
              <a:rPr lang="en-US" sz="2600" b="0" i="0" dirty="0">
                <a:solidFill>
                  <a:srgbClr val="343434"/>
                </a:solidFill>
                <a:effectLst/>
                <a:highlight>
                  <a:srgbClr val="FFFFFF"/>
                </a:highlight>
              </a:rPr>
            </a:br>
            <a:r>
              <a:rPr lang="en-US" sz="2600" b="1" i="0" dirty="0">
                <a:solidFill>
                  <a:srgbClr val="343434"/>
                </a:solidFill>
                <a:effectLst/>
                <a:highlight>
                  <a:srgbClr val="FFFFFF"/>
                </a:highlight>
              </a:rPr>
              <a:t>Sample output :</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morning</a:t>
            </a:r>
          </a:p>
          <a:p>
            <a:pPr marL="0" indent="0" algn="l">
              <a:buNone/>
            </a:pPr>
            <a:r>
              <a:rPr lang="en-US" sz="2600" b="1" i="0" dirty="0">
                <a:solidFill>
                  <a:srgbClr val="343434"/>
                </a:solidFill>
                <a:effectLst/>
                <a:highlight>
                  <a:srgbClr val="FFFFFF"/>
                </a:highlight>
              </a:rPr>
              <a:t>Explanation:</a:t>
            </a:r>
            <a:endParaRPr lang="en-US" sz="2600" b="0" i="0" dirty="0">
              <a:solidFill>
                <a:srgbClr val="343434"/>
              </a:solidFill>
              <a:effectLst/>
              <a:highlight>
                <a:srgbClr val="FFFFFF"/>
              </a:highlight>
            </a:endParaRPr>
          </a:p>
          <a:p>
            <a:pPr marL="0" indent="0" algn="l">
              <a:buNone/>
            </a:pPr>
            <a:r>
              <a:rPr lang="en-US" sz="2600" b="0" i="0" dirty="0">
                <a:solidFill>
                  <a:srgbClr val="343434"/>
                </a:solidFill>
                <a:effectLst/>
                <a:highlight>
                  <a:srgbClr val="FFFFFF"/>
                </a:highlight>
              </a:rPr>
              <a:t>Hello → 5</a:t>
            </a:r>
          </a:p>
          <a:p>
            <a:pPr marL="0" indent="0" algn="l">
              <a:buNone/>
            </a:pPr>
            <a:r>
              <a:rPr lang="en-US" sz="2600" b="0" i="0" dirty="0">
                <a:solidFill>
                  <a:srgbClr val="343434"/>
                </a:solidFill>
                <a:effectLst/>
                <a:highlight>
                  <a:srgbClr val="FFFFFF"/>
                </a:highlight>
              </a:rPr>
              <a:t>Good → 4</a:t>
            </a:r>
          </a:p>
          <a:p>
            <a:pPr marL="0" indent="0" algn="l">
              <a:buNone/>
            </a:pPr>
            <a:r>
              <a:rPr lang="en-US" sz="2600" b="0" i="0" dirty="0">
                <a:solidFill>
                  <a:srgbClr val="343434"/>
                </a:solidFill>
                <a:effectLst/>
                <a:highlight>
                  <a:srgbClr val="FFFFFF"/>
                </a:highlight>
              </a:rPr>
              <a:t>Morning → 7</a:t>
            </a:r>
          </a:p>
          <a:p>
            <a:pPr marL="0" indent="0" algn="l">
              <a:buNone/>
            </a:pPr>
            <a:r>
              <a:rPr lang="en-US" sz="2600" b="0" i="0" dirty="0">
                <a:solidFill>
                  <a:srgbClr val="343434"/>
                </a:solidFill>
                <a:effectLst/>
                <a:highlight>
                  <a:srgbClr val="FFFFFF"/>
                </a:highlight>
              </a:rPr>
              <a:t>Welcome → 7</a:t>
            </a:r>
          </a:p>
          <a:p>
            <a:pPr marL="0" indent="0" algn="l">
              <a:buNone/>
            </a:pPr>
            <a:r>
              <a:rPr lang="en-US" sz="2600" b="0" i="0" dirty="0">
                <a:solidFill>
                  <a:srgbClr val="343434"/>
                </a:solidFill>
                <a:effectLst/>
                <a:highlight>
                  <a:srgbClr val="FFFFFF"/>
                </a:highlight>
              </a:rPr>
              <a:t>You → 3</a:t>
            </a:r>
          </a:p>
          <a:p>
            <a:pPr marL="0" indent="0" algn="l">
              <a:buNone/>
            </a:pPr>
            <a:r>
              <a:rPr lang="en-US" sz="2600" b="0" i="0" dirty="0">
                <a:solidFill>
                  <a:srgbClr val="343434"/>
                </a:solidFill>
                <a:effectLst/>
                <a:highlight>
                  <a:srgbClr val="FFFFFF"/>
                </a:highlight>
              </a:rPr>
              <a:t>First word that is picked by computer is morning</a:t>
            </a:r>
          </a:p>
          <a:p>
            <a:pPr marL="0" indent="0">
              <a:buNone/>
            </a:pPr>
            <a:endParaRPr lang="en-IN" sz="2600" dirty="0"/>
          </a:p>
        </p:txBody>
      </p:sp>
    </p:spTree>
    <p:extLst>
      <p:ext uri="{BB962C8B-B14F-4D97-AF65-F5344CB8AC3E}">
        <p14:creationId xmlns:p14="http://schemas.microsoft.com/office/powerpoint/2010/main" val="815064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D0E10-6882-DAFC-1DC0-1CF6ABC91FD1}"/>
              </a:ext>
            </a:extLst>
          </p:cNvPr>
          <p:cNvSpPr>
            <a:spLocks noGrp="1"/>
          </p:cNvSpPr>
          <p:nvPr>
            <p:ph idx="1"/>
          </p:nvPr>
        </p:nvSpPr>
        <p:spPr>
          <a:xfrm>
            <a:off x="838200" y="1002890"/>
            <a:ext cx="10515600" cy="5174073"/>
          </a:xfrm>
        </p:spPr>
        <p:txBody>
          <a:bodyPr>
            <a:normAutofit/>
          </a:bodyPr>
          <a:lstStyle/>
          <a:p>
            <a:pPr marL="0" indent="0" algn="l">
              <a:buNone/>
            </a:pPr>
            <a:r>
              <a:rPr lang="en-US" sz="2600" b="1" i="0" dirty="0">
                <a:solidFill>
                  <a:srgbClr val="343434"/>
                </a:solidFill>
                <a:effectLst/>
                <a:highlight>
                  <a:srgbClr val="FFFFFF"/>
                </a:highlight>
              </a:rPr>
              <a:t>Sample input 2 :</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3</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Go to hell</a:t>
            </a:r>
          </a:p>
          <a:p>
            <a:pPr marL="0" indent="0" algn="l">
              <a:buNone/>
            </a:pPr>
            <a:r>
              <a:rPr lang="en-US" sz="2600" b="1" i="0" dirty="0">
                <a:solidFill>
                  <a:srgbClr val="343434"/>
                </a:solidFill>
                <a:effectLst/>
                <a:highlight>
                  <a:srgbClr val="FFFFFF"/>
                </a:highlight>
              </a:rPr>
              <a:t>Sample output 2:</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Better luck next time</a:t>
            </a:r>
          </a:p>
          <a:p>
            <a:pPr marL="0" indent="0" algn="l">
              <a:buNone/>
            </a:pPr>
            <a:r>
              <a:rPr lang="en-US" sz="2600" b="1" i="0" dirty="0">
                <a:solidFill>
                  <a:srgbClr val="343434"/>
                </a:solidFill>
                <a:effectLst/>
                <a:highlight>
                  <a:srgbClr val="FFFFFF"/>
                </a:highlight>
              </a:rPr>
              <a:t>Explanation:</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Here no word with odd length so computer confuses and gives better luck next time</a:t>
            </a:r>
          </a:p>
          <a:p>
            <a:pPr marL="0" indent="0">
              <a:buNone/>
            </a:pPr>
            <a:endParaRPr lang="en-IN" sz="2600" dirty="0"/>
          </a:p>
        </p:txBody>
      </p:sp>
    </p:spTree>
    <p:extLst>
      <p:ext uri="{BB962C8B-B14F-4D97-AF65-F5344CB8AC3E}">
        <p14:creationId xmlns:p14="http://schemas.microsoft.com/office/powerpoint/2010/main" val="3955862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85188F-588C-2F30-D8B5-D16E66B8C6A8}"/>
              </a:ext>
            </a:extLst>
          </p:cNvPr>
          <p:cNvSpPr>
            <a:spLocks noGrp="1"/>
          </p:cNvSpPr>
          <p:nvPr>
            <p:ph idx="1"/>
          </p:nvPr>
        </p:nvSpPr>
        <p:spPr>
          <a:xfrm>
            <a:off x="838200" y="206478"/>
            <a:ext cx="10515600" cy="5970486"/>
          </a:xfrm>
        </p:spPr>
        <p:txBody>
          <a:bodyPr>
            <a:noAutofit/>
          </a:bodyPr>
          <a:lstStyle/>
          <a:p>
            <a:pPr marL="0" indent="0">
              <a:buNone/>
            </a:pPr>
            <a:r>
              <a:rPr lang="en-IN" sz="2600" b="1" dirty="0"/>
              <a:t>n=int(input())</a:t>
            </a:r>
          </a:p>
          <a:p>
            <a:pPr marL="0" indent="0">
              <a:buNone/>
            </a:pPr>
            <a:r>
              <a:rPr lang="en-IN" sz="2600" b="1" dirty="0"/>
              <a:t>sentence=input().split()</a:t>
            </a:r>
          </a:p>
          <a:p>
            <a:pPr marL="0" indent="0">
              <a:buNone/>
            </a:pPr>
            <a:r>
              <a:rPr lang="en-IN" sz="2600" b="1" dirty="0"/>
              <a:t>length=[]</a:t>
            </a:r>
          </a:p>
          <a:p>
            <a:pPr marL="0" indent="0">
              <a:buNone/>
            </a:pPr>
            <a:r>
              <a:rPr lang="en-IN" sz="2600" b="1" dirty="0"/>
              <a:t>for </a:t>
            </a:r>
            <a:r>
              <a:rPr lang="en-IN" sz="2600" b="1" dirty="0" err="1"/>
              <a:t>i</a:t>
            </a:r>
            <a:r>
              <a:rPr lang="en-IN" sz="2600" b="1" dirty="0"/>
              <a:t> in sentence:</a:t>
            </a:r>
          </a:p>
          <a:p>
            <a:pPr marL="0" indent="0">
              <a:buNone/>
            </a:pPr>
            <a:r>
              <a:rPr lang="en-IN" sz="2600" b="1" dirty="0"/>
              <a:t>    L=</a:t>
            </a:r>
            <a:r>
              <a:rPr lang="en-IN" sz="2600" b="1" dirty="0" err="1"/>
              <a:t>len</a:t>
            </a:r>
            <a:r>
              <a:rPr lang="en-IN" sz="2600" b="1" dirty="0"/>
              <a:t>(</a:t>
            </a:r>
            <a:r>
              <a:rPr lang="en-IN" sz="2600" b="1" dirty="0" err="1"/>
              <a:t>i</a:t>
            </a:r>
            <a:r>
              <a:rPr lang="en-IN" sz="2600" b="1" dirty="0"/>
              <a:t>)</a:t>
            </a:r>
          </a:p>
          <a:p>
            <a:pPr marL="0" indent="0">
              <a:buNone/>
            </a:pPr>
            <a:r>
              <a:rPr lang="en-IN" sz="2600" b="1" dirty="0"/>
              <a:t>    if L%2==1:</a:t>
            </a:r>
          </a:p>
          <a:p>
            <a:pPr marL="0" indent="0">
              <a:buNone/>
            </a:pPr>
            <a:r>
              <a:rPr lang="en-IN" sz="2600" b="1" dirty="0"/>
              <a:t>        </a:t>
            </a:r>
            <a:r>
              <a:rPr lang="en-IN" sz="2600" b="1" dirty="0" err="1"/>
              <a:t>length.append</a:t>
            </a:r>
            <a:r>
              <a:rPr lang="en-IN" sz="2600" b="1" dirty="0"/>
              <a:t>(</a:t>
            </a:r>
            <a:r>
              <a:rPr lang="en-IN" sz="2600" b="1" dirty="0" err="1"/>
              <a:t>len</a:t>
            </a:r>
            <a:r>
              <a:rPr lang="en-IN" sz="2600" b="1" dirty="0"/>
              <a:t>(</a:t>
            </a:r>
            <a:r>
              <a:rPr lang="en-IN" sz="2600" b="1" dirty="0" err="1"/>
              <a:t>i</a:t>
            </a:r>
            <a:r>
              <a:rPr lang="en-IN" sz="2600" b="1" dirty="0"/>
              <a:t>))</a:t>
            </a:r>
          </a:p>
          <a:p>
            <a:pPr marL="0" indent="0">
              <a:buNone/>
            </a:pPr>
            <a:r>
              <a:rPr lang="en-IN" sz="2600" b="1" dirty="0"/>
              <a:t>    else:</a:t>
            </a:r>
          </a:p>
          <a:p>
            <a:pPr marL="0" indent="0">
              <a:buNone/>
            </a:pPr>
            <a:r>
              <a:rPr lang="en-IN" sz="2600" b="1" dirty="0"/>
              <a:t>        </a:t>
            </a:r>
            <a:r>
              <a:rPr lang="en-IN" sz="2600" b="1" dirty="0" err="1"/>
              <a:t>length.append</a:t>
            </a:r>
            <a:r>
              <a:rPr lang="en-IN" sz="2600" b="1" dirty="0"/>
              <a:t>(0)</a:t>
            </a:r>
          </a:p>
          <a:p>
            <a:pPr marL="0" indent="0">
              <a:buNone/>
            </a:pPr>
            <a:r>
              <a:rPr lang="en-IN" sz="2600" b="1" dirty="0"/>
              <a:t>if max(length)==0:</a:t>
            </a:r>
          </a:p>
          <a:p>
            <a:pPr marL="0" indent="0">
              <a:buNone/>
            </a:pPr>
            <a:r>
              <a:rPr lang="en-IN" sz="2600" b="1" dirty="0"/>
              <a:t>    print("Better Luck next Time")</a:t>
            </a:r>
          </a:p>
          <a:p>
            <a:pPr marL="0" indent="0">
              <a:buNone/>
            </a:pPr>
            <a:r>
              <a:rPr lang="en-IN" sz="2600" b="1" dirty="0"/>
              <a:t>else:</a:t>
            </a:r>
          </a:p>
          <a:p>
            <a:pPr marL="0" indent="0">
              <a:buNone/>
            </a:pPr>
            <a:r>
              <a:rPr lang="en-IN" sz="2600" b="1" dirty="0"/>
              <a:t>    print(sentence[</a:t>
            </a:r>
            <a:r>
              <a:rPr lang="en-IN" sz="2600" b="1" dirty="0" err="1"/>
              <a:t>length.index</a:t>
            </a:r>
            <a:r>
              <a:rPr lang="en-IN" sz="2600" b="1" dirty="0"/>
              <a:t>(max(length))])</a:t>
            </a:r>
          </a:p>
        </p:txBody>
      </p:sp>
    </p:spTree>
    <p:extLst>
      <p:ext uri="{BB962C8B-B14F-4D97-AF65-F5344CB8AC3E}">
        <p14:creationId xmlns:p14="http://schemas.microsoft.com/office/powerpoint/2010/main" val="2611068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95889-AC83-9D2E-0347-E604FE2295DE}"/>
              </a:ext>
            </a:extLst>
          </p:cNvPr>
          <p:cNvSpPr>
            <a:spLocks noGrp="1"/>
          </p:cNvSpPr>
          <p:nvPr>
            <p:ph type="title"/>
          </p:nvPr>
        </p:nvSpPr>
        <p:spPr/>
        <p:txBody>
          <a:bodyPr>
            <a:normAutofit/>
          </a:bodyPr>
          <a:lstStyle/>
          <a:p>
            <a:r>
              <a:rPr lang="en-US" sz="3000" b="1" dirty="0">
                <a:solidFill>
                  <a:srgbClr val="FF0000"/>
                </a:solidFill>
                <a:latin typeface="+mn-lt"/>
              </a:rPr>
              <a:t>Problem Statement 2: </a:t>
            </a:r>
            <a:r>
              <a:rPr lang="en-US" sz="3000" b="1" i="0" dirty="0">
                <a:solidFill>
                  <a:srgbClr val="FF0000"/>
                </a:solidFill>
                <a:effectLst/>
                <a:highlight>
                  <a:srgbClr val="FFFFFF"/>
                </a:highlight>
                <a:latin typeface="+mn-lt"/>
              </a:rPr>
              <a:t>Minimum Occurrence</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D9ECF919-CFD0-0BE4-1840-884295EA9FF0}"/>
              </a:ext>
            </a:extLst>
          </p:cNvPr>
          <p:cNvSpPr>
            <a:spLocks noGrp="1"/>
          </p:cNvSpPr>
          <p:nvPr>
            <p:ph idx="1"/>
          </p:nvPr>
        </p:nvSpPr>
        <p:spPr/>
        <p:txBody>
          <a:bodyPr>
            <a:normAutofit/>
          </a:bodyPr>
          <a:lstStyle/>
          <a:p>
            <a:pPr algn="l">
              <a:buFont typeface="Wingdings" panose="05000000000000000000" pitchFamily="2" charset="2"/>
              <a:buChar char="Ø"/>
            </a:pPr>
            <a:r>
              <a:rPr lang="en-US" sz="2400" b="0" i="0" dirty="0">
                <a:solidFill>
                  <a:srgbClr val="343434"/>
                </a:solidFill>
                <a:effectLst/>
                <a:highlight>
                  <a:srgbClr val="FFFFFF"/>
                </a:highlight>
                <a:latin typeface="roboto" panose="02000000000000000000" pitchFamily="2" charset="0"/>
              </a:rPr>
              <a:t>Given a sting , return the character that appears the minimum number of times in the string. The string will contain only ascii characters, from the ranges (“a”-”z”,”A”-”Z”,0-9), and case matters . If there is a tie in the minimum number of times a character appears in the string return the character that appears first in the string.</a:t>
            </a:r>
          </a:p>
          <a:p>
            <a:pPr algn="l">
              <a:buFont typeface="Wingdings" panose="05000000000000000000" pitchFamily="2" charset="2"/>
              <a:buChar char="Ø"/>
            </a:pPr>
            <a:r>
              <a:rPr lang="en-US" sz="2400" b="1" i="0" dirty="0">
                <a:solidFill>
                  <a:srgbClr val="343434"/>
                </a:solidFill>
                <a:effectLst/>
                <a:highlight>
                  <a:srgbClr val="FFFFFF"/>
                </a:highlight>
                <a:latin typeface="roboto" panose="02000000000000000000" pitchFamily="2" charset="0"/>
              </a:rPr>
              <a:t>Input Format:</a:t>
            </a:r>
            <a:br>
              <a:rPr lang="en-US" sz="2400" b="0" i="0" dirty="0">
                <a:solidFill>
                  <a:srgbClr val="343434"/>
                </a:solidFill>
                <a:effectLst/>
                <a:highlight>
                  <a:srgbClr val="FFFFFF"/>
                </a:highlight>
                <a:latin typeface="roboto" panose="02000000000000000000" pitchFamily="2" charset="0"/>
              </a:rPr>
            </a:br>
            <a:r>
              <a:rPr lang="en-US" sz="2400" b="0" i="0" dirty="0">
                <a:solidFill>
                  <a:srgbClr val="343434"/>
                </a:solidFill>
                <a:effectLst/>
                <a:highlight>
                  <a:srgbClr val="FFFFFF"/>
                </a:highlight>
                <a:latin typeface="roboto" panose="02000000000000000000" pitchFamily="2" charset="0"/>
              </a:rPr>
              <a:t>Single line with no space denoting the input string.</a:t>
            </a:r>
          </a:p>
          <a:p>
            <a:pPr algn="l">
              <a:buFont typeface="Wingdings" panose="05000000000000000000" pitchFamily="2" charset="2"/>
              <a:buChar char="Ø"/>
            </a:pPr>
            <a:r>
              <a:rPr lang="en-US" sz="2400" b="1" i="0" dirty="0" err="1">
                <a:solidFill>
                  <a:srgbClr val="343434"/>
                </a:solidFill>
                <a:effectLst/>
                <a:highlight>
                  <a:srgbClr val="FFFFFF"/>
                </a:highlight>
                <a:latin typeface="roboto" panose="02000000000000000000" pitchFamily="2" charset="0"/>
              </a:rPr>
              <a:t>OutputFormat</a:t>
            </a:r>
            <a:r>
              <a:rPr lang="en-US" sz="2400" b="1" i="0" dirty="0">
                <a:solidFill>
                  <a:srgbClr val="343434"/>
                </a:solidFill>
                <a:effectLst/>
                <a:highlight>
                  <a:srgbClr val="FFFFFF"/>
                </a:highlight>
                <a:latin typeface="roboto" panose="02000000000000000000" pitchFamily="2" charset="0"/>
              </a:rPr>
              <a:t>:</a:t>
            </a:r>
            <a:br>
              <a:rPr lang="en-US" sz="2400" b="0" i="0" dirty="0">
                <a:solidFill>
                  <a:srgbClr val="343434"/>
                </a:solidFill>
                <a:effectLst/>
                <a:highlight>
                  <a:srgbClr val="FFFFFF"/>
                </a:highlight>
                <a:latin typeface="roboto" panose="02000000000000000000" pitchFamily="2" charset="0"/>
              </a:rPr>
            </a:br>
            <a:r>
              <a:rPr lang="en-US" sz="2400" b="0" i="0" dirty="0">
                <a:solidFill>
                  <a:srgbClr val="343434"/>
                </a:solidFill>
                <a:effectLst/>
                <a:highlight>
                  <a:srgbClr val="FFFFFF"/>
                </a:highlight>
                <a:latin typeface="roboto" panose="02000000000000000000" pitchFamily="2" charset="0"/>
              </a:rPr>
              <a:t>Single character denoting the least frequent character.</a:t>
            </a:r>
          </a:p>
          <a:p>
            <a:pPr algn="l">
              <a:buFont typeface="Wingdings" panose="05000000000000000000" pitchFamily="2" charset="2"/>
              <a:buChar char="Ø"/>
            </a:pPr>
            <a:r>
              <a:rPr lang="en-US" sz="2400" b="1" i="0" dirty="0">
                <a:solidFill>
                  <a:srgbClr val="343434"/>
                </a:solidFill>
                <a:effectLst/>
                <a:highlight>
                  <a:srgbClr val="FFFFFF"/>
                </a:highlight>
                <a:latin typeface="roboto" panose="02000000000000000000" pitchFamily="2" charset="0"/>
              </a:rPr>
              <a:t>Constraints:</a:t>
            </a:r>
            <a:br>
              <a:rPr lang="en-US" sz="2400" b="0" i="0" dirty="0">
                <a:solidFill>
                  <a:srgbClr val="343434"/>
                </a:solidFill>
                <a:effectLst/>
                <a:highlight>
                  <a:srgbClr val="FFFFFF"/>
                </a:highlight>
                <a:latin typeface="roboto" panose="02000000000000000000" pitchFamily="2" charset="0"/>
              </a:rPr>
            </a:br>
            <a:r>
              <a:rPr lang="en-US" sz="2400" b="0" i="0" dirty="0">
                <a:solidFill>
                  <a:srgbClr val="343434"/>
                </a:solidFill>
                <a:effectLst/>
                <a:highlight>
                  <a:srgbClr val="FFFFFF"/>
                </a:highlight>
                <a:latin typeface="roboto" panose="02000000000000000000" pitchFamily="2" charset="0"/>
              </a:rPr>
              <a:t>Length of string &lt;=10^6</a:t>
            </a:r>
          </a:p>
          <a:p>
            <a:pPr>
              <a:buFont typeface="Wingdings" panose="05000000000000000000" pitchFamily="2" charset="2"/>
              <a:buChar char="Ø"/>
            </a:pPr>
            <a:endParaRPr lang="en-IN" sz="2400" dirty="0"/>
          </a:p>
        </p:txBody>
      </p:sp>
    </p:spTree>
    <p:extLst>
      <p:ext uri="{BB962C8B-B14F-4D97-AF65-F5344CB8AC3E}">
        <p14:creationId xmlns:p14="http://schemas.microsoft.com/office/powerpoint/2010/main" val="801677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D0E10-6882-DAFC-1DC0-1CF6ABC91FD1}"/>
              </a:ext>
            </a:extLst>
          </p:cNvPr>
          <p:cNvSpPr>
            <a:spLocks noGrp="1"/>
          </p:cNvSpPr>
          <p:nvPr>
            <p:ph idx="1"/>
          </p:nvPr>
        </p:nvSpPr>
        <p:spPr>
          <a:xfrm>
            <a:off x="838200" y="766916"/>
            <a:ext cx="10515600" cy="5410047"/>
          </a:xfrm>
        </p:spPr>
        <p:txBody>
          <a:bodyPr>
            <a:normAutofit/>
          </a:bodyPr>
          <a:lstStyle/>
          <a:p>
            <a:pPr marL="0" indent="0" algn="l">
              <a:buNone/>
            </a:pPr>
            <a:r>
              <a:rPr lang="en-US" sz="2600" b="1" i="0" dirty="0">
                <a:solidFill>
                  <a:srgbClr val="343434"/>
                </a:solidFill>
                <a:effectLst/>
                <a:highlight>
                  <a:srgbClr val="FFFFFF"/>
                </a:highlight>
              </a:rPr>
              <a:t>Sample Input:</a:t>
            </a:r>
            <a:br>
              <a:rPr lang="en-US" sz="2600" b="0" i="0" dirty="0">
                <a:solidFill>
                  <a:srgbClr val="343434"/>
                </a:solidFill>
                <a:effectLst/>
                <a:highlight>
                  <a:srgbClr val="FFFFFF"/>
                </a:highlight>
              </a:rPr>
            </a:br>
            <a:r>
              <a:rPr lang="en-US" sz="2600" b="0" i="0" dirty="0" err="1">
                <a:solidFill>
                  <a:srgbClr val="343434"/>
                </a:solidFill>
                <a:effectLst/>
                <a:highlight>
                  <a:srgbClr val="FFFFFF"/>
                </a:highlight>
              </a:rPr>
              <a:t>cdadcda</a:t>
            </a:r>
            <a:endParaRPr lang="en-US" sz="2600" b="0" i="0" dirty="0">
              <a:solidFill>
                <a:srgbClr val="343434"/>
              </a:solidFill>
              <a:effectLst/>
              <a:highlight>
                <a:srgbClr val="FFFFFF"/>
              </a:highlight>
            </a:endParaRPr>
          </a:p>
          <a:p>
            <a:pPr marL="0" indent="0" algn="l">
              <a:buNone/>
            </a:pPr>
            <a:r>
              <a:rPr lang="en-US" sz="2600" b="1" i="0" dirty="0">
                <a:solidFill>
                  <a:srgbClr val="343434"/>
                </a:solidFill>
                <a:effectLst/>
                <a:highlight>
                  <a:srgbClr val="FFFFFF"/>
                </a:highlight>
              </a:rPr>
              <a:t>Sample Output:</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c</a:t>
            </a:r>
          </a:p>
          <a:p>
            <a:pPr marL="0" indent="0" algn="l">
              <a:buNone/>
            </a:pPr>
            <a:r>
              <a:rPr lang="en-US" sz="2600" b="1" i="0" dirty="0">
                <a:solidFill>
                  <a:srgbClr val="343434"/>
                </a:solidFill>
                <a:effectLst/>
                <a:highlight>
                  <a:srgbClr val="FFFFFF"/>
                </a:highlight>
              </a:rPr>
              <a:t>Explanation:</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C and A both are with minimum frequency. So c is the answer because it comes first with less index.</a:t>
            </a:r>
          </a:p>
          <a:p>
            <a:pPr marL="0" indent="0">
              <a:buNone/>
            </a:pPr>
            <a:endParaRPr lang="en-IN" sz="2600" dirty="0"/>
          </a:p>
        </p:txBody>
      </p:sp>
    </p:spTree>
    <p:extLst>
      <p:ext uri="{BB962C8B-B14F-4D97-AF65-F5344CB8AC3E}">
        <p14:creationId xmlns:p14="http://schemas.microsoft.com/office/powerpoint/2010/main" val="1852280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85188F-588C-2F30-D8B5-D16E66B8C6A8}"/>
              </a:ext>
            </a:extLst>
          </p:cNvPr>
          <p:cNvSpPr>
            <a:spLocks noGrp="1"/>
          </p:cNvSpPr>
          <p:nvPr>
            <p:ph idx="1"/>
          </p:nvPr>
        </p:nvSpPr>
        <p:spPr>
          <a:xfrm>
            <a:off x="838200" y="1022555"/>
            <a:ext cx="10515600" cy="5154408"/>
          </a:xfrm>
        </p:spPr>
        <p:txBody>
          <a:bodyPr>
            <a:normAutofit/>
          </a:bodyPr>
          <a:lstStyle/>
          <a:p>
            <a:pPr marL="0" indent="0">
              <a:buNone/>
            </a:pPr>
            <a:r>
              <a:rPr lang="en-US" sz="2600" b="1" dirty="0"/>
              <a:t>s=input()</a:t>
            </a:r>
          </a:p>
          <a:p>
            <a:pPr marL="0" indent="0">
              <a:buNone/>
            </a:pPr>
            <a:r>
              <a:rPr lang="en-US" sz="2600" b="1" dirty="0" err="1"/>
              <a:t>ans</a:t>
            </a:r>
            <a:r>
              <a:rPr lang="en-US" sz="2600" b="1" dirty="0"/>
              <a:t>=[]</a:t>
            </a:r>
          </a:p>
          <a:p>
            <a:pPr marL="0" indent="0">
              <a:buNone/>
            </a:pPr>
            <a:r>
              <a:rPr lang="en-US" sz="2600" b="1" dirty="0"/>
              <a:t>for </a:t>
            </a:r>
            <a:r>
              <a:rPr lang="en-US" sz="2600" b="1" dirty="0" err="1"/>
              <a:t>i</a:t>
            </a:r>
            <a:r>
              <a:rPr lang="en-US" sz="2600" b="1" dirty="0"/>
              <a:t> in s:</a:t>
            </a:r>
          </a:p>
          <a:p>
            <a:pPr marL="0" indent="0">
              <a:buNone/>
            </a:pPr>
            <a:r>
              <a:rPr lang="en-US" sz="2600" b="1" dirty="0"/>
              <a:t>    </a:t>
            </a:r>
            <a:r>
              <a:rPr lang="en-US" sz="2600" b="1" dirty="0" err="1"/>
              <a:t>ans.append</a:t>
            </a:r>
            <a:r>
              <a:rPr lang="en-US" sz="2600" b="1" dirty="0"/>
              <a:t>(</a:t>
            </a:r>
            <a:r>
              <a:rPr lang="en-US" sz="2600" b="1" dirty="0" err="1"/>
              <a:t>s.count</a:t>
            </a:r>
            <a:r>
              <a:rPr lang="en-US" sz="2600" b="1" dirty="0"/>
              <a:t>(</a:t>
            </a:r>
            <a:r>
              <a:rPr lang="en-US" sz="2600" b="1" dirty="0" err="1"/>
              <a:t>i</a:t>
            </a:r>
            <a:r>
              <a:rPr lang="en-US" sz="2600" b="1" dirty="0"/>
              <a:t>))</a:t>
            </a:r>
          </a:p>
          <a:p>
            <a:pPr marL="0" indent="0">
              <a:buNone/>
            </a:pPr>
            <a:r>
              <a:rPr lang="en-US" sz="2600" b="1" dirty="0"/>
              <a:t>print(s[</a:t>
            </a:r>
            <a:r>
              <a:rPr lang="en-US" sz="2600" b="1" dirty="0" err="1"/>
              <a:t>ans.index</a:t>
            </a:r>
            <a:r>
              <a:rPr lang="en-US" sz="2600" b="1" dirty="0"/>
              <a:t>(min(</a:t>
            </a:r>
            <a:r>
              <a:rPr lang="en-US" sz="2600" b="1" dirty="0" err="1"/>
              <a:t>ans</a:t>
            </a:r>
            <a:r>
              <a:rPr lang="en-US" sz="2600" b="1" dirty="0"/>
              <a:t>))])</a:t>
            </a:r>
            <a:endParaRPr lang="en-IN" sz="2600" b="1" dirty="0"/>
          </a:p>
        </p:txBody>
      </p:sp>
    </p:spTree>
    <p:extLst>
      <p:ext uri="{BB962C8B-B14F-4D97-AF65-F5344CB8AC3E}">
        <p14:creationId xmlns:p14="http://schemas.microsoft.com/office/powerpoint/2010/main" val="2908741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95889-AC83-9D2E-0347-E604FE2295DE}"/>
              </a:ext>
            </a:extLst>
          </p:cNvPr>
          <p:cNvSpPr>
            <a:spLocks noGrp="1"/>
          </p:cNvSpPr>
          <p:nvPr>
            <p:ph type="title"/>
          </p:nvPr>
        </p:nvSpPr>
        <p:spPr>
          <a:xfrm>
            <a:off x="838200" y="365125"/>
            <a:ext cx="10515600" cy="618101"/>
          </a:xfrm>
        </p:spPr>
        <p:txBody>
          <a:bodyPr>
            <a:normAutofit/>
          </a:bodyPr>
          <a:lstStyle/>
          <a:p>
            <a:r>
              <a:rPr lang="en-US" sz="3000" b="1" dirty="0">
                <a:solidFill>
                  <a:srgbClr val="FF0000"/>
                </a:solidFill>
                <a:latin typeface="+mn-lt"/>
              </a:rPr>
              <a:t>Problem statement 3: </a:t>
            </a:r>
            <a:r>
              <a:rPr lang="en-US" sz="3000" b="1" dirty="0">
                <a:solidFill>
                  <a:srgbClr val="FF0000"/>
                </a:solidFill>
                <a:effectLst/>
                <a:highlight>
                  <a:srgbClr val="FFFFFF"/>
                </a:highlight>
                <a:latin typeface="+mn-lt"/>
              </a:rPr>
              <a:t>Devil Groups</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D9ECF919-CFD0-0BE4-1840-884295EA9FF0}"/>
              </a:ext>
            </a:extLst>
          </p:cNvPr>
          <p:cNvSpPr>
            <a:spLocks noGrp="1"/>
          </p:cNvSpPr>
          <p:nvPr>
            <p:ph idx="1"/>
          </p:nvPr>
        </p:nvSpPr>
        <p:spPr>
          <a:xfrm>
            <a:off x="838200" y="1229032"/>
            <a:ext cx="10515600" cy="4975123"/>
          </a:xfrm>
        </p:spPr>
        <p:txBody>
          <a:bodyPr>
            <a:normAutofit/>
          </a:bodyPr>
          <a:lstStyle/>
          <a:p>
            <a:pPr algn="l">
              <a:buFont typeface="Wingdings" panose="05000000000000000000" pitchFamily="2" charset="2"/>
              <a:buChar char="Ø"/>
            </a:pPr>
            <a:r>
              <a:rPr lang="en-US" sz="2600" b="0" i="0" dirty="0">
                <a:solidFill>
                  <a:srgbClr val="343434"/>
                </a:solidFill>
                <a:effectLst/>
                <a:highlight>
                  <a:srgbClr val="FFFFFF"/>
                </a:highlight>
              </a:rPr>
              <a:t>There are some groups of devils and they </a:t>
            </a:r>
            <a:r>
              <a:rPr lang="en-US" sz="2600" b="0" i="0" dirty="0" err="1">
                <a:solidFill>
                  <a:srgbClr val="343434"/>
                </a:solidFill>
                <a:effectLst/>
                <a:highlight>
                  <a:srgbClr val="FFFFFF"/>
                </a:highlight>
              </a:rPr>
              <a:t>splitted</a:t>
            </a:r>
            <a:r>
              <a:rPr lang="en-US" sz="2600" b="0" i="0" dirty="0">
                <a:solidFill>
                  <a:srgbClr val="343434"/>
                </a:solidFill>
                <a:effectLst/>
                <a:highlight>
                  <a:srgbClr val="FFFFFF"/>
                </a:highlight>
              </a:rPr>
              <a:t> into people to kill them. Devils make People to them left as their group and at last the group with maximum length will be killed. Two types of devils are there namely “@” and “$”</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People is represented as a string “P”</a:t>
            </a:r>
          </a:p>
          <a:p>
            <a:pPr algn="l">
              <a:buFont typeface="Wingdings" panose="05000000000000000000" pitchFamily="2" charset="2"/>
              <a:buChar char="Ø"/>
            </a:pPr>
            <a:r>
              <a:rPr lang="en-US" sz="2600" b="1" i="0" dirty="0">
                <a:solidFill>
                  <a:srgbClr val="343434"/>
                </a:solidFill>
                <a:effectLst/>
                <a:highlight>
                  <a:srgbClr val="FFFFFF"/>
                </a:highlight>
              </a:rPr>
              <a:t>Input Format:</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First line with the string for input</a:t>
            </a:r>
          </a:p>
          <a:p>
            <a:pPr algn="l">
              <a:buFont typeface="Wingdings" panose="05000000000000000000" pitchFamily="2" charset="2"/>
              <a:buChar char="Ø"/>
            </a:pPr>
            <a:r>
              <a:rPr lang="en-US" sz="2600" b="1" i="0" dirty="0">
                <a:solidFill>
                  <a:srgbClr val="343434"/>
                </a:solidFill>
                <a:effectLst/>
                <a:highlight>
                  <a:srgbClr val="FFFFFF"/>
                </a:highlight>
              </a:rPr>
              <a:t>Output Format:</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Number of groups that can be formed.</a:t>
            </a:r>
          </a:p>
          <a:p>
            <a:pPr algn="l">
              <a:buFont typeface="Wingdings" panose="05000000000000000000" pitchFamily="2" charset="2"/>
              <a:buChar char="Ø"/>
            </a:pPr>
            <a:r>
              <a:rPr lang="en-US" sz="2600" b="1" i="0" dirty="0">
                <a:solidFill>
                  <a:srgbClr val="343434"/>
                </a:solidFill>
                <a:effectLst/>
                <a:highlight>
                  <a:srgbClr val="FFFFFF"/>
                </a:highlight>
              </a:rPr>
              <a:t>Constraints:</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2&lt;=Length of string&lt;=10^9</a:t>
            </a:r>
          </a:p>
        </p:txBody>
      </p:sp>
    </p:spTree>
    <p:extLst>
      <p:ext uri="{BB962C8B-B14F-4D97-AF65-F5344CB8AC3E}">
        <p14:creationId xmlns:p14="http://schemas.microsoft.com/office/powerpoint/2010/main" val="2909932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D0E10-6882-DAFC-1DC0-1CF6ABC91FD1}"/>
              </a:ext>
            </a:extLst>
          </p:cNvPr>
          <p:cNvSpPr>
            <a:spLocks noGrp="1"/>
          </p:cNvSpPr>
          <p:nvPr>
            <p:ph idx="1"/>
          </p:nvPr>
        </p:nvSpPr>
        <p:spPr>
          <a:xfrm>
            <a:off x="838200" y="658761"/>
            <a:ext cx="10515600" cy="5518202"/>
          </a:xfrm>
        </p:spPr>
        <p:txBody>
          <a:bodyPr>
            <a:normAutofit/>
          </a:bodyPr>
          <a:lstStyle/>
          <a:p>
            <a:pPr marL="0" indent="0" algn="l">
              <a:buNone/>
            </a:pPr>
            <a:r>
              <a:rPr lang="en-US" sz="2600" b="1" i="0" dirty="0">
                <a:solidFill>
                  <a:srgbClr val="343434"/>
                </a:solidFill>
                <a:effectLst/>
                <a:highlight>
                  <a:srgbClr val="FFFFFF"/>
                </a:highlight>
              </a:rPr>
              <a:t>Input string</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PPPPPP@PPP@PP$PP</a:t>
            </a:r>
          </a:p>
          <a:p>
            <a:pPr marL="0" indent="0" algn="l">
              <a:buNone/>
            </a:pPr>
            <a:r>
              <a:rPr lang="en-US" sz="2600" b="1" i="0" dirty="0">
                <a:solidFill>
                  <a:srgbClr val="343434"/>
                </a:solidFill>
                <a:effectLst/>
                <a:highlight>
                  <a:srgbClr val="FFFFFF"/>
                </a:highlight>
              </a:rPr>
              <a:t>Output</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7</a:t>
            </a:r>
          </a:p>
          <a:p>
            <a:pPr marL="0" indent="0" algn="l">
              <a:buNone/>
            </a:pPr>
            <a:r>
              <a:rPr lang="en-US" sz="2600" b="1" i="0" dirty="0">
                <a:solidFill>
                  <a:srgbClr val="343434"/>
                </a:solidFill>
                <a:effectLst/>
                <a:highlight>
                  <a:srgbClr val="FFFFFF"/>
                </a:highlight>
              </a:rPr>
              <a:t>Explanation</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4 groups can be formed</a:t>
            </a:r>
          </a:p>
          <a:p>
            <a:pPr marL="0" indent="0" algn="l">
              <a:buNone/>
            </a:pPr>
            <a:r>
              <a:rPr lang="en-US" sz="2600" b="0" i="0" dirty="0">
                <a:solidFill>
                  <a:srgbClr val="343434"/>
                </a:solidFill>
                <a:effectLst/>
                <a:highlight>
                  <a:srgbClr val="FFFFFF"/>
                </a:highlight>
              </a:rPr>
              <a:t>PPPPPP@</a:t>
            </a:r>
          </a:p>
          <a:p>
            <a:pPr marL="0" indent="0" algn="l">
              <a:buNone/>
            </a:pPr>
            <a:r>
              <a:rPr lang="en-US" sz="2600" b="0" i="0" dirty="0">
                <a:solidFill>
                  <a:srgbClr val="343434"/>
                </a:solidFill>
                <a:effectLst/>
                <a:highlight>
                  <a:srgbClr val="FFFFFF"/>
                </a:highlight>
              </a:rPr>
              <a:t>PPP@</a:t>
            </a:r>
          </a:p>
          <a:p>
            <a:pPr marL="0" indent="0" algn="l">
              <a:buNone/>
            </a:pPr>
            <a:r>
              <a:rPr lang="en-US" sz="2600" b="0" i="0" dirty="0">
                <a:solidFill>
                  <a:srgbClr val="343434"/>
                </a:solidFill>
                <a:effectLst/>
                <a:highlight>
                  <a:srgbClr val="FFFFFF"/>
                </a:highlight>
              </a:rPr>
              <a:t>PP$</a:t>
            </a:r>
          </a:p>
          <a:p>
            <a:pPr marL="0" indent="0" algn="l">
              <a:buNone/>
            </a:pPr>
            <a:r>
              <a:rPr lang="en-US" sz="2600" b="0" i="0" dirty="0">
                <a:solidFill>
                  <a:srgbClr val="343434"/>
                </a:solidFill>
                <a:effectLst/>
                <a:highlight>
                  <a:srgbClr val="FFFFFF"/>
                </a:highlight>
              </a:rPr>
              <a:t>PP</a:t>
            </a:r>
          </a:p>
          <a:p>
            <a:pPr marL="0" indent="0" algn="l">
              <a:buNone/>
            </a:pPr>
            <a:r>
              <a:rPr lang="en-US" sz="2600" b="0" i="0" dirty="0">
                <a:solidFill>
                  <a:srgbClr val="343434"/>
                </a:solidFill>
                <a:effectLst/>
                <a:highlight>
                  <a:srgbClr val="FFFFFF"/>
                </a:highlight>
              </a:rPr>
              <a:t>Most people in the group lie in group 1 with 7 members.</a:t>
            </a:r>
          </a:p>
          <a:p>
            <a:pPr marL="0" indent="0">
              <a:buNone/>
            </a:pPr>
            <a:endParaRPr lang="en-IN" sz="2600" dirty="0"/>
          </a:p>
        </p:txBody>
      </p:sp>
    </p:spTree>
    <p:extLst>
      <p:ext uri="{BB962C8B-B14F-4D97-AF65-F5344CB8AC3E}">
        <p14:creationId xmlns:p14="http://schemas.microsoft.com/office/powerpoint/2010/main" val="2059340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9E4434B-FA54-4080-EFA6-1521B472DFCC}"/>
              </a:ext>
            </a:extLst>
          </p:cNvPr>
          <p:cNvSpPr>
            <a:spLocks noGrp="1"/>
          </p:cNvSpPr>
          <p:nvPr>
            <p:ph idx="1"/>
          </p:nvPr>
        </p:nvSpPr>
        <p:spPr>
          <a:xfrm>
            <a:off x="838200" y="530941"/>
            <a:ext cx="10515600" cy="5646021"/>
          </a:xfrm>
        </p:spPr>
        <p:txBody>
          <a:bodyPr/>
          <a:lstStyle/>
          <a:p>
            <a:pPr marL="0" indent="0">
              <a:buNone/>
            </a:pPr>
            <a:r>
              <a:rPr lang="en-US" b="1" dirty="0"/>
              <a:t>s=input()</a:t>
            </a:r>
          </a:p>
          <a:p>
            <a:pPr marL="0" indent="0">
              <a:buNone/>
            </a:pPr>
            <a:r>
              <a:rPr lang="en-US" b="1" dirty="0"/>
              <a:t>s=</a:t>
            </a:r>
            <a:r>
              <a:rPr lang="en-US" b="1" dirty="0" err="1"/>
              <a:t>s.replace</a:t>
            </a:r>
            <a:r>
              <a:rPr lang="en-US" b="1" dirty="0"/>
              <a:t>("@"," ").replace("$"," ")</a:t>
            </a:r>
          </a:p>
          <a:p>
            <a:pPr marL="0" indent="0">
              <a:buNone/>
            </a:pPr>
            <a:r>
              <a:rPr lang="en-US" b="1" dirty="0"/>
              <a:t>s=</a:t>
            </a:r>
            <a:r>
              <a:rPr lang="en-US" b="1" dirty="0" err="1"/>
              <a:t>s.split</a:t>
            </a:r>
            <a:r>
              <a:rPr lang="en-US" b="1" dirty="0"/>
              <a:t>()</a:t>
            </a:r>
          </a:p>
          <a:p>
            <a:pPr marL="0" indent="0">
              <a:buNone/>
            </a:pPr>
            <a:r>
              <a:rPr lang="en-US" b="1" dirty="0" err="1"/>
              <a:t>ans</a:t>
            </a:r>
            <a:r>
              <a:rPr lang="en-US" b="1" dirty="0"/>
              <a:t>=[]</a:t>
            </a:r>
          </a:p>
          <a:p>
            <a:pPr marL="0" indent="0">
              <a:buNone/>
            </a:pPr>
            <a:r>
              <a:rPr lang="en-US" b="1" dirty="0"/>
              <a:t>for </a:t>
            </a:r>
            <a:r>
              <a:rPr lang="en-US" b="1" dirty="0" err="1"/>
              <a:t>i</a:t>
            </a:r>
            <a:r>
              <a:rPr lang="en-US" b="1" dirty="0"/>
              <a:t> in s:</a:t>
            </a:r>
          </a:p>
          <a:p>
            <a:pPr marL="0" indent="0">
              <a:buNone/>
            </a:pPr>
            <a:r>
              <a:rPr lang="en-US" b="1" dirty="0"/>
              <a:t>    </a:t>
            </a:r>
            <a:r>
              <a:rPr lang="en-US" b="1" dirty="0" err="1"/>
              <a:t>ans.append</a:t>
            </a:r>
            <a:r>
              <a:rPr lang="en-US" b="1" dirty="0"/>
              <a:t>(</a:t>
            </a:r>
            <a:r>
              <a:rPr lang="en-US" b="1" dirty="0" err="1"/>
              <a:t>len</a:t>
            </a:r>
            <a:r>
              <a:rPr lang="en-US" b="1" dirty="0"/>
              <a:t>(</a:t>
            </a:r>
            <a:r>
              <a:rPr lang="en-US" b="1" dirty="0" err="1"/>
              <a:t>i</a:t>
            </a:r>
            <a:r>
              <a:rPr lang="en-US" b="1" dirty="0"/>
              <a:t>)+1)</a:t>
            </a:r>
          </a:p>
          <a:p>
            <a:pPr marL="0" indent="0">
              <a:buNone/>
            </a:pPr>
            <a:r>
              <a:rPr lang="en-US" b="1" dirty="0" err="1"/>
              <a:t>ans</a:t>
            </a:r>
            <a:r>
              <a:rPr lang="en-US" b="1" dirty="0"/>
              <a:t>[-1]-=1 </a:t>
            </a:r>
          </a:p>
          <a:p>
            <a:pPr marL="0" indent="0">
              <a:buNone/>
            </a:pPr>
            <a:r>
              <a:rPr lang="en-US" b="1" dirty="0"/>
              <a:t>print(max(</a:t>
            </a:r>
            <a:r>
              <a:rPr lang="en-US" b="1" dirty="0" err="1"/>
              <a:t>ans</a:t>
            </a:r>
            <a:r>
              <a:rPr lang="en-US" b="1" dirty="0"/>
              <a:t>))</a:t>
            </a:r>
            <a:endParaRPr lang="en-IN" b="1" dirty="0"/>
          </a:p>
        </p:txBody>
      </p:sp>
    </p:spTree>
    <p:extLst>
      <p:ext uri="{BB962C8B-B14F-4D97-AF65-F5344CB8AC3E}">
        <p14:creationId xmlns:p14="http://schemas.microsoft.com/office/powerpoint/2010/main" val="3850484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95889-AC83-9D2E-0347-E604FE2295DE}"/>
              </a:ext>
            </a:extLst>
          </p:cNvPr>
          <p:cNvSpPr>
            <a:spLocks noGrp="1"/>
          </p:cNvSpPr>
          <p:nvPr>
            <p:ph type="title"/>
          </p:nvPr>
        </p:nvSpPr>
        <p:spPr>
          <a:xfrm>
            <a:off x="838200" y="365125"/>
            <a:ext cx="10515600" cy="519777"/>
          </a:xfrm>
        </p:spPr>
        <p:txBody>
          <a:bodyPr>
            <a:normAutofit/>
          </a:bodyPr>
          <a:lstStyle/>
          <a:p>
            <a:r>
              <a:rPr lang="en-US" sz="3000" b="1" dirty="0">
                <a:solidFill>
                  <a:srgbClr val="FF0000"/>
                </a:solidFill>
                <a:latin typeface="+mn-lt"/>
              </a:rPr>
              <a:t>Problem Statement 4: </a:t>
            </a:r>
            <a:r>
              <a:rPr lang="en-US" sz="3000" b="1" i="0" dirty="0">
                <a:solidFill>
                  <a:srgbClr val="FF0000"/>
                </a:solidFill>
                <a:effectLst/>
                <a:highlight>
                  <a:srgbClr val="FFFFFF"/>
                </a:highlight>
                <a:latin typeface="+mn-lt"/>
              </a:rPr>
              <a:t>Copycat in exam</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D9ECF919-CFD0-0BE4-1840-884295EA9FF0}"/>
              </a:ext>
            </a:extLst>
          </p:cNvPr>
          <p:cNvSpPr>
            <a:spLocks noGrp="1"/>
          </p:cNvSpPr>
          <p:nvPr>
            <p:ph idx="1"/>
          </p:nvPr>
        </p:nvSpPr>
        <p:spPr>
          <a:xfrm>
            <a:off x="838200" y="940286"/>
            <a:ext cx="10515600" cy="5917714"/>
          </a:xfrm>
        </p:spPr>
        <p:txBody>
          <a:bodyPr>
            <a:noAutofit/>
          </a:bodyPr>
          <a:lstStyle/>
          <a:p>
            <a:pPr algn="just">
              <a:buFont typeface="Wingdings" panose="05000000000000000000" pitchFamily="2" charset="2"/>
              <a:buChar char="Ø"/>
            </a:pPr>
            <a:r>
              <a:rPr lang="en-US" sz="2400" i="0" dirty="0">
                <a:solidFill>
                  <a:srgbClr val="343434"/>
                </a:solidFill>
                <a:effectLst/>
                <a:highlight>
                  <a:srgbClr val="FFFFFF"/>
                </a:highlight>
              </a:rPr>
              <a:t>Rahul copies in the exam from his adjacent students. But he doesn’t want to be caught, so he changes words keeping the letter constant. That means he interchanges the positions of letters in words. You are the examiner and you have to find if he has copied a certain word from the one adjacent student who is giving the same exam, and give Rahul the markings he deserves.</a:t>
            </a:r>
          </a:p>
          <a:p>
            <a:pPr marL="0" indent="0" algn="just">
              <a:buNone/>
            </a:pPr>
            <a:r>
              <a:rPr lang="en-US" sz="2400" i="0" dirty="0">
                <a:solidFill>
                  <a:srgbClr val="343434"/>
                </a:solidFill>
                <a:effectLst/>
                <a:highlight>
                  <a:srgbClr val="FFFFFF"/>
                </a:highlight>
              </a:rPr>
              <a:t>Note that: Uppercase and lowercase are the  same.</a:t>
            </a:r>
          </a:p>
          <a:p>
            <a:pPr marL="0" indent="0" algn="just">
              <a:buNone/>
            </a:pPr>
            <a:r>
              <a:rPr lang="en-US" sz="2400" b="1" i="0" dirty="0">
                <a:solidFill>
                  <a:srgbClr val="343434"/>
                </a:solidFill>
                <a:effectLst/>
                <a:highlight>
                  <a:srgbClr val="FFFFFF"/>
                </a:highlight>
              </a:rPr>
              <a:t>Input Format:</a:t>
            </a:r>
            <a:endParaRPr lang="en-US" sz="2400" i="0" dirty="0">
              <a:solidFill>
                <a:srgbClr val="343434"/>
              </a:solidFill>
              <a:effectLst/>
              <a:highlight>
                <a:srgbClr val="FFFFFF"/>
              </a:highlight>
            </a:endParaRPr>
          </a:p>
          <a:p>
            <a:pPr algn="just">
              <a:buFont typeface="Wingdings" panose="05000000000000000000" pitchFamily="2" charset="2"/>
              <a:buChar char="Ø"/>
            </a:pPr>
            <a:r>
              <a:rPr lang="en-US" sz="2400" i="0" dirty="0">
                <a:solidFill>
                  <a:srgbClr val="343434"/>
                </a:solidFill>
                <a:effectLst/>
                <a:highlight>
                  <a:srgbClr val="FFFFFF"/>
                </a:highlight>
              </a:rPr>
              <a:t>First line with the adjacent student’s word</a:t>
            </a:r>
          </a:p>
          <a:p>
            <a:pPr algn="just">
              <a:buFont typeface="Wingdings" panose="05000000000000000000" pitchFamily="2" charset="2"/>
              <a:buChar char="Ø"/>
            </a:pPr>
            <a:r>
              <a:rPr lang="en-US" sz="2400" i="0" dirty="0">
                <a:solidFill>
                  <a:srgbClr val="343434"/>
                </a:solidFill>
                <a:effectLst/>
                <a:highlight>
                  <a:srgbClr val="FFFFFF"/>
                </a:highlight>
              </a:rPr>
              <a:t>Second line with Rahul’s word</a:t>
            </a:r>
          </a:p>
          <a:p>
            <a:pPr marL="0" indent="0" algn="just">
              <a:buNone/>
            </a:pPr>
            <a:r>
              <a:rPr lang="en-US" sz="2400" b="1" i="0" dirty="0">
                <a:solidFill>
                  <a:srgbClr val="343434"/>
                </a:solidFill>
                <a:effectLst/>
                <a:highlight>
                  <a:srgbClr val="FFFFFF"/>
                </a:highlight>
              </a:rPr>
              <a:t>Output Format:</a:t>
            </a:r>
            <a:endParaRPr lang="en-US" sz="2400" i="0" dirty="0">
              <a:solidFill>
                <a:srgbClr val="343434"/>
              </a:solidFill>
              <a:effectLst/>
              <a:highlight>
                <a:srgbClr val="FFFFFF"/>
              </a:highlight>
            </a:endParaRPr>
          </a:p>
          <a:p>
            <a:pPr algn="just">
              <a:buFont typeface="Wingdings" panose="05000000000000000000" pitchFamily="2" charset="2"/>
              <a:buChar char="Ø"/>
            </a:pPr>
            <a:r>
              <a:rPr lang="en-US" sz="2400" i="0" dirty="0">
                <a:solidFill>
                  <a:srgbClr val="343434"/>
                </a:solidFill>
                <a:effectLst/>
                <a:highlight>
                  <a:srgbClr val="FFFFFF"/>
                </a:highlight>
              </a:rPr>
              <a:t>0 if not copied</a:t>
            </a:r>
          </a:p>
          <a:p>
            <a:pPr algn="just">
              <a:buFont typeface="Wingdings" panose="05000000000000000000" pitchFamily="2" charset="2"/>
              <a:buChar char="Ø"/>
            </a:pPr>
            <a:r>
              <a:rPr lang="en-US" sz="2400" i="0" dirty="0">
                <a:solidFill>
                  <a:srgbClr val="343434"/>
                </a:solidFill>
                <a:effectLst/>
                <a:highlight>
                  <a:srgbClr val="FFFFFF"/>
                </a:highlight>
              </a:rPr>
              <a:t>1 if copied</a:t>
            </a:r>
          </a:p>
          <a:p>
            <a:pPr marL="0" indent="0" algn="just">
              <a:buNone/>
            </a:pPr>
            <a:r>
              <a:rPr lang="en-US" sz="2400" b="1" i="0" dirty="0">
                <a:solidFill>
                  <a:srgbClr val="343434"/>
                </a:solidFill>
                <a:effectLst/>
                <a:highlight>
                  <a:srgbClr val="FFFFFF"/>
                </a:highlight>
              </a:rPr>
              <a:t>Constraints:</a:t>
            </a:r>
            <a:endParaRPr lang="en-US" sz="2400" i="0" dirty="0">
              <a:solidFill>
                <a:srgbClr val="343434"/>
              </a:solidFill>
              <a:effectLst/>
              <a:highlight>
                <a:srgbClr val="FFFFFF"/>
              </a:highlight>
            </a:endParaRPr>
          </a:p>
          <a:p>
            <a:pPr algn="just">
              <a:buFont typeface="Wingdings" panose="05000000000000000000" pitchFamily="2" charset="2"/>
              <a:buChar char="Ø"/>
            </a:pPr>
            <a:r>
              <a:rPr lang="en-US" sz="2400" i="0" dirty="0">
                <a:solidFill>
                  <a:srgbClr val="343434"/>
                </a:solidFill>
                <a:effectLst/>
                <a:highlight>
                  <a:srgbClr val="FFFFFF"/>
                </a:highlight>
              </a:rPr>
              <a:t>1&lt;=Length of string&lt;=10^6</a:t>
            </a:r>
          </a:p>
          <a:p>
            <a:pPr algn="just">
              <a:buFont typeface="Wingdings" panose="05000000000000000000" pitchFamily="2" charset="2"/>
              <a:buChar char="Ø"/>
            </a:pPr>
            <a:endParaRPr lang="en-IN" sz="2400" dirty="0"/>
          </a:p>
        </p:txBody>
      </p:sp>
    </p:spTree>
    <p:extLst>
      <p:ext uri="{BB962C8B-B14F-4D97-AF65-F5344CB8AC3E}">
        <p14:creationId xmlns:p14="http://schemas.microsoft.com/office/powerpoint/2010/main" val="2589327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D0E10-6882-DAFC-1DC0-1CF6ABC91FD1}"/>
              </a:ext>
            </a:extLst>
          </p:cNvPr>
          <p:cNvSpPr>
            <a:spLocks noGrp="1"/>
          </p:cNvSpPr>
          <p:nvPr>
            <p:ph idx="1"/>
          </p:nvPr>
        </p:nvSpPr>
        <p:spPr>
          <a:xfrm>
            <a:off x="838200" y="904568"/>
            <a:ext cx="10515600" cy="5272395"/>
          </a:xfrm>
        </p:spPr>
        <p:txBody>
          <a:bodyPr>
            <a:normAutofit/>
          </a:bodyPr>
          <a:lstStyle/>
          <a:p>
            <a:pPr marL="0" indent="0" algn="l">
              <a:buNone/>
            </a:pPr>
            <a:r>
              <a:rPr lang="en-US" sz="2600" b="1" i="0" dirty="0">
                <a:solidFill>
                  <a:srgbClr val="343434"/>
                </a:solidFill>
                <a:effectLst/>
                <a:highlight>
                  <a:srgbClr val="FFFFFF"/>
                </a:highlight>
              </a:rPr>
              <a:t>Sample Input:</a:t>
            </a:r>
            <a:endParaRPr lang="en-US" sz="2600" i="0" dirty="0">
              <a:solidFill>
                <a:srgbClr val="343434"/>
              </a:solidFill>
              <a:effectLst/>
              <a:highlight>
                <a:srgbClr val="FFFFFF"/>
              </a:highlight>
            </a:endParaRPr>
          </a:p>
          <a:p>
            <a:pPr marL="0" indent="0" algn="l">
              <a:buNone/>
            </a:pPr>
            <a:r>
              <a:rPr lang="en-US" sz="2600" i="0" dirty="0">
                <a:solidFill>
                  <a:srgbClr val="343434"/>
                </a:solidFill>
                <a:effectLst/>
                <a:highlight>
                  <a:srgbClr val="FFFFFF"/>
                </a:highlight>
              </a:rPr>
              <a:t>CAR</a:t>
            </a:r>
          </a:p>
          <a:p>
            <a:pPr marL="0" indent="0" algn="l">
              <a:buNone/>
            </a:pPr>
            <a:r>
              <a:rPr lang="en-US" sz="2600" i="0" dirty="0" err="1">
                <a:solidFill>
                  <a:srgbClr val="343434"/>
                </a:solidFill>
                <a:effectLst/>
                <a:highlight>
                  <a:srgbClr val="FFFFFF"/>
                </a:highlight>
              </a:rPr>
              <a:t>Acr</a:t>
            </a:r>
            <a:endParaRPr lang="en-US" sz="2600" i="0" dirty="0">
              <a:solidFill>
                <a:srgbClr val="343434"/>
              </a:solidFill>
              <a:effectLst/>
              <a:highlight>
                <a:srgbClr val="FFFFFF"/>
              </a:highlight>
            </a:endParaRPr>
          </a:p>
          <a:p>
            <a:pPr marL="0" indent="0" algn="l">
              <a:buNone/>
            </a:pPr>
            <a:r>
              <a:rPr lang="en-US" sz="2600" b="1" i="0" dirty="0">
                <a:solidFill>
                  <a:srgbClr val="343434"/>
                </a:solidFill>
                <a:effectLst/>
                <a:highlight>
                  <a:srgbClr val="FFFFFF"/>
                </a:highlight>
              </a:rPr>
              <a:t>Sample Output:</a:t>
            </a:r>
            <a:endParaRPr lang="en-US" sz="2600" i="0" dirty="0">
              <a:solidFill>
                <a:srgbClr val="343434"/>
              </a:solidFill>
              <a:effectLst/>
              <a:highlight>
                <a:srgbClr val="FFFFFF"/>
              </a:highlight>
            </a:endParaRPr>
          </a:p>
          <a:p>
            <a:pPr marL="0" indent="0" algn="l">
              <a:buNone/>
            </a:pPr>
            <a:r>
              <a:rPr lang="en-US" sz="2600" i="0" dirty="0">
                <a:solidFill>
                  <a:srgbClr val="343434"/>
                </a:solidFill>
                <a:effectLst/>
                <a:highlight>
                  <a:srgbClr val="FFFFFF"/>
                </a:highlight>
              </a:rPr>
              <a:t>1</a:t>
            </a:r>
          </a:p>
          <a:p>
            <a:pPr marL="0" indent="0">
              <a:buNone/>
            </a:pPr>
            <a:endParaRPr lang="en-IN" sz="2600" dirty="0"/>
          </a:p>
        </p:txBody>
      </p:sp>
    </p:spTree>
    <p:extLst>
      <p:ext uri="{BB962C8B-B14F-4D97-AF65-F5344CB8AC3E}">
        <p14:creationId xmlns:p14="http://schemas.microsoft.com/office/powerpoint/2010/main" val="3242100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85188F-588C-2F30-D8B5-D16E66B8C6A8}"/>
              </a:ext>
            </a:extLst>
          </p:cNvPr>
          <p:cNvSpPr>
            <a:spLocks noGrp="1"/>
          </p:cNvSpPr>
          <p:nvPr>
            <p:ph idx="1"/>
          </p:nvPr>
        </p:nvSpPr>
        <p:spPr>
          <a:xfrm>
            <a:off x="838200" y="698090"/>
            <a:ext cx="10515600" cy="5478873"/>
          </a:xfrm>
        </p:spPr>
        <p:txBody>
          <a:bodyPr>
            <a:normAutofit/>
          </a:bodyPr>
          <a:lstStyle/>
          <a:p>
            <a:pPr marL="0" indent="0">
              <a:buNone/>
            </a:pPr>
            <a:r>
              <a:rPr lang="en-US" sz="2600" b="1" dirty="0"/>
              <a:t>s=input()</a:t>
            </a:r>
          </a:p>
          <a:p>
            <a:pPr marL="0" indent="0">
              <a:buNone/>
            </a:pPr>
            <a:r>
              <a:rPr lang="en-US" sz="2600" b="1" dirty="0"/>
              <a:t>s1=input()</a:t>
            </a:r>
          </a:p>
          <a:p>
            <a:pPr marL="0" indent="0">
              <a:buNone/>
            </a:pPr>
            <a:r>
              <a:rPr lang="en-US" sz="2600" b="1" dirty="0"/>
              <a:t>s=</a:t>
            </a:r>
            <a:r>
              <a:rPr lang="en-US" sz="2600" b="1" dirty="0" err="1"/>
              <a:t>s.lower</a:t>
            </a:r>
            <a:r>
              <a:rPr lang="en-US" sz="2600" b="1" dirty="0"/>
              <a:t>()</a:t>
            </a:r>
          </a:p>
          <a:p>
            <a:pPr marL="0" indent="0">
              <a:buNone/>
            </a:pPr>
            <a:r>
              <a:rPr lang="en-US" sz="2600" b="1" dirty="0"/>
              <a:t>s=sorted(s)</a:t>
            </a:r>
          </a:p>
          <a:p>
            <a:pPr marL="0" indent="0">
              <a:buNone/>
            </a:pPr>
            <a:r>
              <a:rPr lang="en-US" sz="2600" b="1" dirty="0"/>
              <a:t>s1=s1.lower()</a:t>
            </a:r>
          </a:p>
          <a:p>
            <a:pPr marL="0" indent="0">
              <a:buNone/>
            </a:pPr>
            <a:r>
              <a:rPr lang="en-US" sz="2600" b="1" dirty="0"/>
              <a:t>s1=sorted(s1)</a:t>
            </a:r>
          </a:p>
          <a:p>
            <a:pPr marL="0" indent="0">
              <a:buNone/>
            </a:pPr>
            <a:r>
              <a:rPr lang="en-US" sz="2600" b="1" dirty="0"/>
              <a:t>if s1==s:</a:t>
            </a:r>
          </a:p>
          <a:p>
            <a:pPr marL="0" indent="0">
              <a:buNone/>
            </a:pPr>
            <a:r>
              <a:rPr lang="en-US" sz="2600" b="1" dirty="0"/>
              <a:t>    print(1)</a:t>
            </a:r>
          </a:p>
          <a:p>
            <a:pPr marL="0" indent="0">
              <a:buNone/>
            </a:pPr>
            <a:r>
              <a:rPr lang="en-US" sz="2600" b="1" dirty="0"/>
              <a:t>else:</a:t>
            </a:r>
          </a:p>
          <a:p>
            <a:pPr marL="0" indent="0">
              <a:buNone/>
            </a:pPr>
            <a:r>
              <a:rPr lang="en-US" sz="2600" b="1" dirty="0"/>
              <a:t>    print(0)</a:t>
            </a:r>
            <a:endParaRPr lang="en-IN" sz="2600" b="1" dirty="0"/>
          </a:p>
        </p:txBody>
      </p:sp>
    </p:spTree>
    <p:extLst>
      <p:ext uri="{BB962C8B-B14F-4D97-AF65-F5344CB8AC3E}">
        <p14:creationId xmlns:p14="http://schemas.microsoft.com/office/powerpoint/2010/main" val="428757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95889-AC83-9D2E-0347-E604FE2295DE}"/>
              </a:ext>
            </a:extLst>
          </p:cNvPr>
          <p:cNvSpPr>
            <a:spLocks noGrp="1"/>
          </p:cNvSpPr>
          <p:nvPr>
            <p:ph type="title"/>
          </p:nvPr>
        </p:nvSpPr>
        <p:spPr>
          <a:xfrm>
            <a:off x="838200" y="365126"/>
            <a:ext cx="10515600" cy="578772"/>
          </a:xfrm>
        </p:spPr>
        <p:txBody>
          <a:bodyPr>
            <a:normAutofit/>
          </a:bodyPr>
          <a:lstStyle/>
          <a:p>
            <a:r>
              <a:rPr lang="en-US" sz="3000" b="1" dirty="0">
                <a:solidFill>
                  <a:srgbClr val="FF0000"/>
                </a:solidFill>
                <a:latin typeface="+mn-lt"/>
              </a:rPr>
              <a:t>Problem Statement 5: </a:t>
            </a:r>
            <a:r>
              <a:rPr lang="en-US" sz="3000" b="1" i="0" dirty="0">
                <a:solidFill>
                  <a:srgbClr val="FF0000"/>
                </a:solidFill>
                <a:effectLst/>
                <a:highlight>
                  <a:srgbClr val="FFFFFF"/>
                </a:highlight>
                <a:latin typeface="+mn-lt"/>
              </a:rPr>
              <a:t>Mr. Robot’s Password</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D9ECF919-CFD0-0BE4-1840-884295EA9FF0}"/>
              </a:ext>
            </a:extLst>
          </p:cNvPr>
          <p:cNvSpPr>
            <a:spLocks noGrp="1"/>
          </p:cNvSpPr>
          <p:nvPr>
            <p:ph idx="1"/>
          </p:nvPr>
        </p:nvSpPr>
        <p:spPr>
          <a:xfrm>
            <a:off x="838200" y="943898"/>
            <a:ext cx="10515600" cy="5301892"/>
          </a:xfrm>
        </p:spPr>
        <p:txBody>
          <a:bodyPr>
            <a:noAutofit/>
          </a:bodyPr>
          <a:lstStyle/>
          <a:p>
            <a:pPr marL="0" indent="0" algn="l">
              <a:buNone/>
            </a:pPr>
            <a:r>
              <a:rPr lang="en-US" sz="2400" b="0" i="0" dirty="0">
                <a:solidFill>
                  <a:srgbClr val="343434"/>
                </a:solidFill>
                <a:effectLst/>
                <a:highlight>
                  <a:srgbClr val="FFFFFF"/>
                </a:highlight>
              </a:rPr>
              <a:t>Mr. Robot is making a website, in which there is a tab to create a password. As other websites, there are rules so that the password gets complex and none can predict the password for another. So he gave some rules like:</a:t>
            </a:r>
          </a:p>
          <a:p>
            <a:pPr marL="0" indent="0" algn="l">
              <a:buNone/>
            </a:pPr>
            <a:r>
              <a:rPr lang="en-US" sz="2400" b="0" i="0" dirty="0">
                <a:solidFill>
                  <a:srgbClr val="343434"/>
                </a:solidFill>
                <a:effectLst/>
                <a:highlight>
                  <a:srgbClr val="FFFFFF"/>
                </a:highlight>
              </a:rPr>
              <a:t>At least one numeric digit and At Least one Small/Lowercase Letter</a:t>
            </a:r>
          </a:p>
          <a:p>
            <a:pPr marL="0" indent="0" algn="l">
              <a:buNone/>
            </a:pPr>
            <a:r>
              <a:rPr lang="en-US" sz="2400" b="0" i="0" dirty="0">
                <a:solidFill>
                  <a:srgbClr val="343434"/>
                </a:solidFill>
                <a:effectLst/>
                <a:highlight>
                  <a:srgbClr val="FFFFFF"/>
                </a:highlight>
              </a:rPr>
              <a:t>At Least one Capital/Uppercase Letter</a:t>
            </a:r>
          </a:p>
          <a:p>
            <a:pPr marL="0" indent="0" algn="l">
              <a:buNone/>
            </a:pPr>
            <a:r>
              <a:rPr lang="en-US" sz="2400" b="0" i="0" dirty="0">
                <a:solidFill>
                  <a:srgbClr val="343434"/>
                </a:solidFill>
                <a:effectLst/>
                <a:highlight>
                  <a:srgbClr val="FFFFFF"/>
                </a:highlight>
              </a:rPr>
              <a:t>Must not have space and Must not have slash (/)</a:t>
            </a:r>
          </a:p>
          <a:p>
            <a:pPr marL="0" indent="0" algn="l">
              <a:buNone/>
            </a:pPr>
            <a:r>
              <a:rPr lang="en-US" sz="2400" b="0" i="0" dirty="0">
                <a:solidFill>
                  <a:srgbClr val="343434"/>
                </a:solidFill>
                <a:effectLst/>
                <a:highlight>
                  <a:srgbClr val="FFFFFF"/>
                </a:highlight>
              </a:rPr>
              <a:t>At least 6 characters</a:t>
            </a:r>
          </a:p>
          <a:p>
            <a:pPr marL="0" indent="0" algn="l">
              <a:buNone/>
            </a:pPr>
            <a:r>
              <a:rPr lang="en-US" sz="2400" b="0" i="0" dirty="0">
                <a:solidFill>
                  <a:srgbClr val="343434"/>
                </a:solidFill>
                <a:effectLst/>
                <a:highlight>
                  <a:srgbClr val="FFFFFF"/>
                </a:highlight>
              </a:rPr>
              <a:t>If someone inputs an invalid password, the code prints: “Invalid password, try again”.</a:t>
            </a:r>
          </a:p>
          <a:p>
            <a:pPr marL="0" indent="0" algn="l">
              <a:buNone/>
            </a:pPr>
            <a:r>
              <a:rPr lang="en-US" sz="2400" b="0" i="0" dirty="0">
                <a:solidFill>
                  <a:srgbClr val="343434"/>
                </a:solidFill>
                <a:effectLst/>
                <a:highlight>
                  <a:srgbClr val="FFFFFF"/>
                </a:highlight>
              </a:rPr>
              <a:t>Otherwise, it prints: “password valid”.</a:t>
            </a:r>
          </a:p>
          <a:p>
            <a:pPr marL="0" indent="0">
              <a:buNone/>
            </a:pPr>
            <a:endParaRPr lang="en-IN" sz="2400" dirty="0"/>
          </a:p>
        </p:txBody>
      </p:sp>
    </p:spTree>
    <p:extLst>
      <p:ext uri="{BB962C8B-B14F-4D97-AF65-F5344CB8AC3E}">
        <p14:creationId xmlns:p14="http://schemas.microsoft.com/office/powerpoint/2010/main" val="1338193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C63F10-6B90-F437-9E25-A784FF9692E0}"/>
              </a:ext>
            </a:extLst>
          </p:cNvPr>
          <p:cNvSpPr>
            <a:spLocks noGrp="1"/>
          </p:cNvSpPr>
          <p:nvPr>
            <p:ph idx="1"/>
          </p:nvPr>
        </p:nvSpPr>
        <p:spPr>
          <a:xfrm>
            <a:off x="838200" y="481781"/>
            <a:ext cx="10515600" cy="5695182"/>
          </a:xfrm>
        </p:spPr>
        <p:txBody>
          <a:bodyPr>
            <a:normAutofit/>
          </a:bodyPr>
          <a:lstStyle/>
          <a:p>
            <a:pPr marL="0" indent="0" algn="l">
              <a:buNone/>
            </a:pPr>
            <a:r>
              <a:rPr lang="en-US" sz="2400" b="1" i="0" dirty="0">
                <a:solidFill>
                  <a:srgbClr val="343434"/>
                </a:solidFill>
                <a:effectLst/>
                <a:highlight>
                  <a:srgbClr val="FFFFFF"/>
                </a:highlight>
              </a:rPr>
              <a:t>Input Format:</a:t>
            </a:r>
            <a:endParaRPr lang="en-US" sz="2400" b="0" i="0" dirty="0">
              <a:solidFill>
                <a:srgbClr val="343434"/>
              </a:solidFill>
              <a:effectLst/>
              <a:highlight>
                <a:srgbClr val="FFFFFF"/>
              </a:highlight>
            </a:endParaRPr>
          </a:p>
          <a:p>
            <a:pPr marL="0" indent="0" algn="l">
              <a:buNone/>
            </a:pPr>
            <a:r>
              <a:rPr lang="en-US" sz="2400" b="0" i="0" dirty="0">
                <a:solidFill>
                  <a:srgbClr val="343434"/>
                </a:solidFill>
                <a:effectLst/>
                <a:highlight>
                  <a:srgbClr val="FFFFFF"/>
                </a:highlight>
              </a:rPr>
              <a:t>A line with a given string as a password</a:t>
            </a:r>
          </a:p>
          <a:p>
            <a:pPr marL="0" indent="0" algn="l">
              <a:buNone/>
            </a:pPr>
            <a:r>
              <a:rPr lang="en-US" sz="2400" b="1" i="0" dirty="0">
                <a:solidFill>
                  <a:srgbClr val="343434"/>
                </a:solidFill>
                <a:effectLst/>
                <a:highlight>
                  <a:srgbClr val="FFFFFF"/>
                </a:highlight>
              </a:rPr>
              <a:t>Output Format:</a:t>
            </a:r>
            <a:endParaRPr lang="en-US" sz="2400" b="0" i="0" dirty="0">
              <a:solidFill>
                <a:srgbClr val="343434"/>
              </a:solidFill>
              <a:effectLst/>
              <a:highlight>
                <a:srgbClr val="FFFFFF"/>
              </a:highlight>
            </a:endParaRPr>
          </a:p>
          <a:p>
            <a:pPr marL="0" indent="0" algn="l">
              <a:buNone/>
            </a:pPr>
            <a:r>
              <a:rPr lang="en-US" sz="2400" b="0" i="0" dirty="0">
                <a:solidFill>
                  <a:srgbClr val="343434"/>
                </a:solidFill>
                <a:effectLst/>
                <a:highlight>
                  <a:srgbClr val="FFFFFF"/>
                </a:highlight>
              </a:rPr>
              <a:t>If someone inputs an invalid password, the code prints: “Invalid password, try again”.</a:t>
            </a:r>
          </a:p>
          <a:p>
            <a:pPr marL="0" indent="0" algn="l">
              <a:buNone/>
            </a:pPr>
            <a:r>
              <a:rPr lang="en-US" sz="2400" b="0" i="0" dirty="0">
                <a:solidFill>
                  <a:srgbClr val="343434"/>
                </a:solidFill>
                <a:effectLst/>
                <a:highlight>
                  <a:srgbClr val="FFFFFF"/>
                </a:highlight>
              </a:rPr>
              <a:t>Otherwise, it prints: “password valid”, without the quotation marks.</a:t>
            </a:r>
          </a:p>
          <a:p>
            <a:pPr marL="0" indent="0" algn="l">
              <a:buNone/>
            </a:pPr>
            <a:r>
              <a:rPr lang="en-US" sz="2400" b="1" i="0" dirty="0">
                <a:solidFill>
                  <a:srgbClr val="343434"/>
                </a:solidFill>
                <a:effectLst/>
                <a:highlight>
                  <a:srgbClr val="FFFFFF"/>
                </a:highlight>
              </a:rPr>
              <a:t>Constraints:</a:t>
            </a:r>
            <a:endParaRPr lang="en-US" sz="2400" b="0" i="0" dirty="0">
              <a:solidFill>
                <a:srgbClr val="343434"/>
              </a:solidFill>
              <a:effectLst/>
              <a:highlight>
                <a:srgbClr val="FFFFFF"/>
              </a:highlight>
            </a:endParaRPr>
          </a:p>
          <a:p>
            <a:pPr marL="0" indent="0" algn="l">
              <a:buNone/>
            </a:pPr>
            <a:r>
              <a:rPr lang="en-US" sz="2400" b="0" i="0" dirty="0">
                <a:solidFill>
                  <a:srgbClr val="343434"/>
                </a:solidFill>
                <a:effectLst/>
                <a:highlight>
                  <a:srgbClr val="FFFFFF"/>
                </a:highlight>
              </a:rPr>
              <a:t>Number of character in the given string &lt;=10^9</a:t>
            </a:r>
          </a:p>
          <a:p>
            <a:endParaRPr lang="en-IN" sz="2400" dirty="0"/>
          </a:p>
        </p:txBody>
      </p:sp>
    </p:spTree>
    <p:extLst>
      <p:ext uri="{BB962C8B-B14F-4D97-AF65-F5344CB8AC3E}">
        <p14:creationId xmlns:p14="http://schemas.microsoft.com/office/powerpoint/2010/main" val="1001241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D0E10-6882-DAFC-1DC0-1CF6ABC91FD1}"/>
              </a:ext>
            </a:extLst>
          </p:cNvPr>
          <p:cNvSpPr>
            <a:spLocks noGrp="1"/>
          </p:cNvSpPr>
          <p:nvPr>
            <p:ph idx="1"/>
          </p:nvPr>
        </p:nvSpPr>
        <p:spPr>
          <a:xfrm>
            <a:off x="838200" y="589935"/>
            <a:ext cx="10515600" cy="5587028"/>
          </a:xfrm>
        </p:spPr>
        <p:txBody>
          <a:bodyPr>
            <a:normAutofit/>
          </a:bodyPr>
          <a:lstStyle/>
          <a:p>
            <a:pPr marL="0" indent="0" algn="l">
              <a:buNone/>
            </a:pPr>
            <a:r>
              <a:rPr lang="en-IN" sz="2400" b="1" i="0" dirty="0">
                <a:solidFill>
                  <a:srgbClr val="343434"/>
                </a:solidFill>
                <a:effectLst/>
                <a:highlight>
                  <a:srgbClr val="FFFFFF"/>
                </a:highlight>
              </a:rPr>
              <a:t>Sample input 1: </a:t>
            </a:r>
            <a:endParaRPr lang="en-IN" sz="2400" b="0" i="0" dirty="0">
              <a:solidFill>
                <a:srgbClr val="343434"/>
              </a:solidFill>
              <a:effectLst/>
              <a:highlight>
                <a:srgbClr val="FFFFFF"/>
              </a:highlight>
            </a:endParaRPr>
          </a:p>
          <a:p>
            <a:pPr marL="0" indent="0" algn="l">
              <a:buNone/>
            </a:pPr>
            <a:r>
              <a:rPr lang="en-IN" sz="2400" b="0" i="0" dirty="0">
                <a:solidFill>
                  <a:srgbClr val="343434"/>
                </a:solidFill>
                <a:effectLst/>
                <a:highlight>
                  <a:srgbClr val="FFFFFF"/>
                </a:highlight>
              </a:rPr>
              <a:t>abjnlL09</a:t>
            </a:r>
          </a:p>
          <a:p>
            <a:pPr marL="0" indent="0" algn="l">
              <a:buNone/>
            </a:pPr>
            <a:r>
              <a:rPr lang="en-IN" sz="2400" b="1" i="0" dirty="0">
                <a:solidFill>
                  <a:srgbClr val="343434"/>
                </a:solidFill>
                <a:effectLst/>
                <a:highlight>
                  <a:srgbClr val="FFFFFF"/>
                </a:highlight>
              </a:rPr>
              <a:t>Sample output 1: </a:t>
            </a:r>
            <a:endParaRPr lang="en-IN" sz="2400" b="0" i="0" dirty="0">
              <a:solidFill>
                <a:srgbClr val="343434"/>
              </a:solidFill>
              <a:effectLst/>
              <a:highlight>
                <a:srgbClr val="FFFFFF"/>
              </a:highlight>
            </a:endParaRPr>
          </a:p>
          <a:p>
            <a:pPr marL="0" indent="0" algn="l">
              <a:buNone/>
            </a:pPr>
            <a:r>
              <a:rPr lang="en-IN" sz="2400" b="0" i="0" dirty="0">
                <a:solidFill>
                  <a:srgbClr val="343434"/>
                </a:solidFill>
                <a:effectLst/>
                <a:highlight>
                  <a:srgbClr val="FFFFFF"/>
                </a:highlight>
              </a:rPr>
              <a:t>password valid</a:t>
            </a:r>
          </a:p>
          <a:p>
            <a:pPr marL="0" indent="0" algn="l">
              <a:buNone/>
            </a:pPr>
            <a:r>
              <a:rPr lang="en-IN" sz="2400" b="1" i="0" dirty="0">
                <a:solidFill>
                  <a:srgbClr val="343434"/>
                </a:solidFill>
                <a:effectLst/>
                <a:highlight>
                  <a:srgbClr val="FFFFFF"/>
                </a:highlight>
              </a:rPr>
              <a:t>Sample input 2: </a:t>
            </a:r>
            <a:endParaRPr lang="en-IN" sz="2400" b="0" i="0" dirty="0">
              <a:solidFill>
                <a:srgbClr val="343434"/>
              </a:solidFill>
              <a:effectLst/>
              <a:highlight>
                <a:srgbClr val="FFFFFF"/>
              </a:highlight>
            </a:endParaRPr>
          </a:p>
          <a:p>
            <a:pPr marL="0" indent="0" algn="l">
              <a:buNone/>
            </a:pPr>
            <a:r>
              <a:rPr lang="en-IN" sz="2400" b="0" i="0" dirty="0" err="1">
                <a:solidFill>
                  <a:srgbClr val="343434"/>
                </a:solidFill>
                <a:effectLst/>
                <a:highlight>
                  <a:srgbClr val="FFFFFF"/>
                </a:highlight>
              </a:rPr>
              <a:t>jjnaskpk</a:t>
            </a:r>
            <a:endParaRPr lang="en-IN" sz="2400" b="0" i="0" dirty="0">
              <a:solidFill>
                <a:srgbClr val="343434"/>
              </a:solidFill>
              <a:effectLst/>
              <a:highlight>
                <a:srgbClr val="FFFFFF"/>
              </a:highlight>
            </a:endParaRPr>
          </a:p>
          <a:p>
            <a:pPr marL="0" indent="0" algn="l">
              <a:buNone/>
            </a:pPr>
            <a:r>
              <a:rPr lang="en-IN" sz="2400" b="1" i="0" dirty="0">
                <a:solidFill>
                  <a:srgbClr val="343434"/>
                </a:solidFill>
                <a:effectLst/>
                <a:highlight>
                  <a:srgbClr val="FFFFFF"/>
                </a:highlight>
              </a:rPr>
              <a:t>Sample output 2: </a:t>
            </a:r>
            <a:endParaRPr lang="en-IN" sz="2400" b="0" i="0" dirty="0">
              <a:solidFill>
                <a:srgbClr val="343434"/>
              </a:solidFill>
              <a:effectLst/>
              <a:highlight>
                <a:srgbClr val="FFFFFF"/>
              </a:highlight>
            </a:endParaRPr>
          </a:p>
          <a:p>
            <a:pPr marL="0" indent="0" algn="l">
              <a:buNone/>
            </a:pPr>
            <a:r>
              <a:rPr lang="en-IN" sz="2400" b="0" i="0" dirty="0">
                <a:solidFill>
                  <a:srgbClr val="343434"/>
                </a:solidFill>
                <a:effectLst/>
                <a:highlight>
                  <a:srgbClr val="FFFFFF"/>
                </a:highlight>
              </a:rPr>
              <a:t>Invalid password, try again</a:t>
            </a:r>
          </a:p>
        </p:txBody>
      </p:sp>
    </p:spTree>
    <p:extLst>
      <p:ext uri="{BB962C8B-B14F-4D97-AF65-F5344CB8AC3E}">
        <p14:creationId xmlns:p14="http://schemas.microsoft.com/office/powerpoint/2010/main" val="3032401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D44863-F94B-67BE-19F7-B1871F3F777A}"/>
              </a:ext>
            </a:extLst>
          </p:cNvPr>
          <p:cNvSpPr>
            <a:spLocks noGrp="1"/>
          </p:cNvSpPr>
          <p:nvPr>
            <p:ph idx="1"/>
          </p:nvPr>
        </p:nvSpPr>
        <p:spPr>
          <a:xfrm>
            <a:off x="838200" y="678426"/>
            <a:ext cx="10515600" cy="5498537"/>
          </a:xfrm>
        </p:spPr>
        <p:txBody>
          <a:bodyPr/>
          <a:lstStyle/>
          <a:p>
            <a:pPr marL="0" indent="0">
              <a:spcBef>
                <a:spcPts val="0"/>
              </a:spcBef>
              <a:buNone/>
            </a:pPr>
            <a:r>
              <a:rPr lang="en-US" sz="2800" b="1" dirty="0"/>
              <a:t>s=input()</a:t>
            </a:r>
          </a:p>
          <a:p>
            <a:pPr marL="0" indent="0">
              <a:spcBef>
                <a:spcPts val="0"/>
              </a:spcBef>
              <a:buNone/>
            </a:pPr>
            <a:r>
              <a:rPr lang="en-US" sz="2800" b="1" dirty="0"/>
              <a:t>a=</a:t>
            </a:r>
            <a:r>
              <a:rPr lang="en-US" sz="2800" b="1" dirty="0" err="1"/>
              <a:t>len</a:t>
            </a:r>
            <a:r>
              <a:rPr lang="en-US" sz="2800" b="1" dirty="0"/>
              <a:t>(s)</a:t>
            </a:r>
          </a:p>
          <a:p>
            <a:pPr marL="0" indent="0">
              <a:spcBef>
                <a:spcPts val="0"/>
              </a:spcBef>
              <a:buNone/>
            </a:pPr>
            <a:r>
              <a:rPr lang="en-US" sz="2800" b="1" dirty="0"/>
              <a:t>if </a:t>
            </a:r>
            <a:r>
              <a:rPr lang="en-US" sz="2800" b="1" dirty="0" err="1"/>
              <a:t>CheckPassword</a:t>
            </a:r>
            <a:r>
              <a:rPr lang="en-US" sz="2800" b="1" dirty="0"/>
              <a:t>(</a:t>
            </a:r>
            <a:r>
              <a:rPr lang="en-US" sz="2800" b="1" dirty="0" err="1"/>
              <a:t>s,a</a:t>
            </a:r>
            <a:r>
              <a:rPr lang="en-US" sz="2800" b="1" dirty="0"/>
              <a:t>):</a:t>
            </a:r>
          </a:p>
          <a:p>
            <a:pPr marL="0" indent="0">
              <a:spcBef>
                <a:spcPts val="0"/>
              </a:spcBef>
              <a:buNone/>
            </a:pPr>
            <a:r>
              <a:rPr lang="en-US" sz="2800" b="1" dirty="0"/>
              <a:t>    print("password valid")</a:t>
            </a:r>
          </a:p>
          <a:p>
            <a:pPr marL="0" indent="0">
              <a:spcBef>
                <a:spcPts val="0"/>
              </a:spcBef>
              <a:buNone/>
            </a:pPr>
            <a:r>
              <a:rPr lang="en-US" sz="2800" b="1" dirty="0"/>
              <a:t>else:</a:t>
            </a:r>
          </a:p>
          <a:p>
            <a:pPr marL="0" indent="0">
              <a:spcBef>
                <a:spcPts val="0"/>
              </a:spcBef>
              <a:buNone/>
            </a:pPr>
            <a:r>
              <a:rPr lang="en-US" sz="2800" b="1" dirty="0"/>
              <a:t>    print("Invalid password, try again")</a:t>
            </a:r>
            <a:endParaRPr lang="en-IN" dirty="0"/>
          </a:p>
        </p:txBody>
      </p:sp>
    </p:spTree>
    <p:extLst>
      <p:ext uri="{BB962C8B-B14F-4D97-AF65-F5344CB8AC3E}">
        <p14:creationId xmlns:p14="http://schemas.microsoft.com/office/powerpoint/2010/main" val="1885799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85188F-588C-2F30-D8B5-D16E66B8C6A8}"/>
              </a:ext>
            </a:extLst>
          </p:cNvPr>
          <p:cNvSpPr>
            <a:spLocks noGrp="1"/>
          </p:cNvSpPr>
          <p:nvPr>
            <p:ph idx="1"/>
          </p:nvPr>
        </p:nvSpPr>
        <p:spPr>
          <a:xfrm>
            <a:off x="838200" y="0"/>
            <a:ext cx="10515600" cy="6735097"/>
          </a:xfrm>
        </p:spPr>
        <p:txBody>
          <a:bodyPr>
            <a:noAutofit/>
          </a:bodyPr>
          <a:lstStyle/>
          <a:p>
            <a:pPr marL="0" indent="0">
              <a:spcBef>
                <a:spcPts val="0"/>
              </a:spcBef>
              <a:buNone/>
            </a:pPr>
            <a:endParaRPr lang="en-US" sz="2400" b="1" dirty="0"/>
          </a:p>
          <a:p>
            <a:pPr marL="0" indent="0">
              <a:spcBef>
                <a:spcPts val="0"/>
              </a:spcBef>
              <a:buNone/>
            </a:pPr>
            <a:r>
              <a:rPr lang="en-US" sz="2400" b="1" dirty="0"/>
              <a:t>def </a:t>
            </a:r>
            <a:r>
              <a:rPr lang="en-US" sz="2400" b="1" dirty="0" err="1"/>
              <a:t>CheckPassword</a:t>
            </a:r>
            <a:r>
              <a:rPr lang="en-US" sz="2400" b="1" dirty="0"/>
              <a:t>(</a:t>
            </a:r>
            <a:r>
              <a:rPr lang="en-US" sz="2400" b="1" dirty="0" err="1"/>
              <a:t>s,n</a:t>
            </a:r>
            <a:r>
              <a:rPr lang="en-US" sz="2400" b="1" dirty="0"/>
              <a:t>):</a:t>
            </a:r>
          </a:p>
          <a:p>
            <a:pPr marL="0" indent="0">
              <a:spcBef>
                <a:spcPts val="0"/>
              </a:spcBef>
              <a:buNone/>
            </a:pPr>
            <a:r>
              <a:rPr lang="en-US" sz="2400" b="1" dirty="0"/>
              <a:t>    if n&lt;4:</a:t>
            </a:r>
          </a:p>
          <a:p>
            <a:pPr marL="0" indent="0">
              <a:spcBef>
                <a:spcPts val="0"/>
              </a:spcBef>
              <a:buNone/>
            </a:pPr>
            <a:r>
              <a:rPr lang="en-US" sz="2400" b="1" dirty="0"/>
              <a:t>        return 0</a:t>
            </a:r>
          </a:p>
          <a:p>
            <a:pPr marL="0" indent="0">
              <a:spcBef>
                <a:spcPts val="0"/>
              </a:spcBef>
              <a:buNone/>
            </a:pPr>
            <a:r>
              <a:rPr lang="en-US" sz="2400" b="1" dirty="0"/>
              <a:t>    cap=0</a:t>
            </a:r>
          </a:p>
          <a:p>
            <a:pPr marL="0" indent="0">
              <a:spcBef>
                <a:spcPts val="0"/>
              </a:spcBef>
              <a:buNone/>
            </a:pPr>
            <a:r>
              <a:rPr lang="en-US" sz="2400" b="1" dirty="0"/>
              <a:t>    nu=0</a:t>
            </a:r>
          </a:p>
          <a:p>
            <a:pPr marL="0" indent="0">
              <a:spcBef>
                <a:spcPts val="0"/>
              </a:spcBef>
              <a:buNone/>
            </a:pPr>
            <a:r>
              <a:rPr lang="en-US" sz="2400" b="1" dirty="0"/>
              <a:t>    lo=0</a:t>
            </a:r>
          </a:p>
          <a:p>
            <a:pPr marL="0" indent="0">
              <a:spcBef>
                <a:spcPts val="0"/>
              </a:spcBef>
              <a:buNone/>
            </a:pPr>
            <a:r>
              <a:rPr lang="en-US" sz="2400" b="1" dirty="0"/>
              <a:t>    for </a:t>
            </a:r>
            <a:r>
              <a:rPr lang="en-US" sz="2400" b="1" dirty="0" err="1"/>
              <a:t>i</a:t>
            </a:r>
            <a:r>
              <a:rPr lang="en-US" sz="2400" b="1" dirty="0"/>
              <a:t> in range(n):</a:t>
            </a:r>
          </a:p>
          <a:p>
            <a:pPr marL="0" indent="0">
              <a:spcBef>
                <a:spcPts val="0"/>
              </a:spcBef>
              <a:buNone/>
            </a:pPr>
            <a:r>
              <a:rPr lang="en-US" sz="2400" b="1" dirty="0"/>
              <a:t>        if s[</a:t>
            </a:r>
            <a:r>
              <a:rPr lang="en-US" sz="2400" b="1" dirty="0" err="1"/>
              <a:t>i</a:t>
            </a:r>
            <a:r>
              <a:rPr lang="en-US" sz="2400" b="1" dirty="0"/>
              <a:t>]==' ' or s[</a:t>
            </a:r>
            <a:r>
              <a:rPr lang="en-US" sz="2400" b="1" dirty="0" err="1"/>
              <a:t>i</a:t>
            </a:r>
            <a:r>
              <a:rPr lang="en-US" sz="2400" b="1" dirty="0"/>
              <a:t>]=='/':</a:t>
            </a:r>
          </a:p>
          <a:p>
            <a:pPr marL="0" indent="0">
              <a:spcBef>
                <a:spcPts val="0"/>
              </a:spcBef>
              <a:buNone/>
            </a:pPr>
            <a:r>
              <a:rPr lang="en-US" sz="2400" b="1" dirty="0"/>
              <a:t>            return 0</a:t>
            </a:r>
          </a:p>
          <a:p>
            <a:pPr marL="0" indent="0">
              <a:spcBef>
                <a:spcPts val="0"/>
              </a:spcBef>
              <a:buNone/>
            </a:pPr>
            <a:r>
              <a:rPr lang="en-US" sz="2400" b="1" dirty="0"/>
              <a:t>        if s[</a:t>
            </a:r>
            <a:r>
              <a:rPr lang="en-US" sz="2400" b="1" dirty="0" err="1"/>
              <a:t>i</a:t>
            </a:r>
            <a:r>
              <a:rPr lang="en-US" sz="2400" b="1" dirty="0"/>
              <a:t>]&gt;='A' and s[</a:t>
            </a:r>
            <a:r>
              <a:rPr lang="en-US" sz="2400" b="1" dirty="0" err="1"/>
              <a:t>i</a:t>
            </a:r>
            <a:r>
              <a:rPr lang="en-US" sz="2400" b="1" dirty="0"/>
              <a:t>]&lt;='Z':</a:t>
            </a:r>
          </a:p>
          <a:p>
            <a:pPr marL="0" indent="0">
              <a:spcBef>
                <a:spcPts val="0"/>
              </a:spcBef>
              <a:buNone/>
            </a:pPr>
            <a:r>
              <a:rPr lang="en-US" sz="2400" b="1" dirty="0"/>
              <a:t>            cap+=1</a:t>
            </a:r>
          </a:p>
          <a:p>
            <a:pPr marL="0" indent="0">
              <a:spcBef>
                <a:spcPts val="0"/>
              </a:spcBef>
              <a:buNone/>
            </a:pPr>
            <a:r>
              <a:rPr lang="en-US" sz="2400" b="1" dirty="0"/>
              <a:t>        if s[</a:t>
            </a:r>
            <a:r>
              <a:rPr lang="en-US" sz="2400" b="1" dirty="0" err="1"/>
              <a:t>i</a:t>
            </a:r>
            <a:r>
              <a:rPr lang="en-US" sz="2400" b="1" dirty="0"/>
              <a:t>]&gt;='a' and s[</a:t>
            </a:r>
            <a:r>
              <a:rPr lang="en-US" sz="2400" b="1" dirty="0" err="1"/>
              <a:t>i</a:t>
            </a:r>
            <a:r>
              <a:rPr lang="en-US" sz="2400" b="1" dirty="0"/>
              <a:t>]&lt;='z':</a:t>
            </a:r>
          </a:p>
          <a:p>
            <a:pPr marL="0" indent="0">
              <a:spcBef>
                <a:spcPts val="0"/>
              </a:spcBef>
              <a:buNone/>
            </a:pPr>
            <a:r>
              <a:rPr lang="en-US" sz="2400" b="1" dirty="0"/>
              <a:t>            lo+=1</a:t>
            </a:r>
          </a:p>
          <a:p>
            <a:pPr marL="0" indent="0">
              <a:spcBef>
                <a:spcPts val="0"/>
              </a:spcBef>
              <a:buNone/>
            </a:pPr>
            <a:r>
              <a:rPr lang="en-US" sz="2400" b="1" dirty="0"/>
              <a:t>        </a:t>
            </a:r>
            <a:r>
              <a:rPr lang="en-US" sz="2400" b="1" dirty="0" err="1"/>
              <a:t>elif</a:t>
            </a:r>
            <a:r>
              <a:rPr lang="en-US" sz="2400" b="1" dirty="0"/>
              <a:t> s[</a:t>
            </a:r>
            <a:r>
              <a:rPr lang="en-US" sz="2400" b="1" dirty="0" err="1"/>
              <a:t>i</a:t>
            </a:r>
            <a:r>
              <a:rPr lang="en-US" sz="2400" b="1" dirty="0"/>
              <a:t>].</a:t>
            </a:r>
            <a:r>
              <a:rPr lang="en-US" sz="2400" b="1" dirty="0" err="1"/>
              <a:t>isdigit</a:t>
            </a:r>
            <a:r>
              <a:rPr lang="en-US" sz="2400" b="1" dirty="0"/>
              <a:t>():</a:t>
            </a:r>
          </a:p>
          <a:p>
            <a:pPr marL="0" indent="0">
              <a:spcBef>
                <a:spcPts val="0"/>
              </a:spcBef>
              <a:buNone/>
            </a:pPr>
            <a:r>
              <a:rPr lang="en-US" sz="2400" b="1" dirty="0"/>
              <a:t>            nu+=1</a:t>
            </a:r>
          </a:p>
          <a:p>
            <a:pPr marL="0" indent="0">
              <a:spcBef>
                <a:spcPts val="0"/>
              </a:spcBef>
              <a:buNone/>
            </a:pPr>
            <a:r>
              <a:rPr lang="en-US" sz="2400" b="1" dirty="0"/>
              <a:t>    if cap&gt;0 and nu&gt;0 and lo&gt;0:</a:t>
            </a:r>
          </a:p>
          <a:p>
            <a:pPr marL="0" indent="0">
              <a:spcBef>
                <a:spcPts val="0"/>
              </a:spcBef>
              <a:buNone/>
            </a:pPr>
            <a:r>
              <a:rPr lang="en-US" sz="2400" b="1" dirty="0"/>
              <a:t>        return 1</a:t>
            </a:r>
          </a:p>
          <a:p>
            <a:pPr marL="0" indent="0">
              <a:spcBef>
                <a:spcPts val="0"/>
              </a:spcBef>
              <a:buNone/>
            </a:pPr>
            <a:r>
              <a:rPr lang="en-US" sz="2400" b="1" dirty="0"/>
              <a:t>    else:</a:t>
            </a:r>
          </a:p>
          <a:p>
            <a:pPr marL="0" indent="0">
              <a:spcBef>
                <a:spcPts val="0"/>
              </a:spcBef>
              <a:buNone/>
            </a:pPr>
            <a:r>
              <a:rPr lang="en-US" sz="2400" b="1" dirty="0"/>
              <a:t>        return 0</a:t>
            </a:r>
          </a:p>
          <a:p>
            <a:pPr marL="0" indent="0">
              <a:spcBef>
                <a:spcPts val="0"/>
              </a:spcBef>
              <a:buNone/>
            </a:pPr>
            <a:endParaRPr lang="en-IN" sz="2400" b="1" dirty="0"/>
          </a:p>
        </p:txBody>
      </p:sp>
    </p:spTree>
    <p:extLst>
      <p:ext uri="{BB962C8B-B14F-4D97-AF65-F5344CB8AC3E}">
        <p14:creationId xmlns:p14="http://schemas.microsoft.com/office/powerpoint/2010/main" val="4003985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95889-AC83-9D2E-0347-E604FE2295DE}"/>
              </a:ext>
            </a:extLst>
          </p:cNvPr>
          <p:cNvSpPr>
            <a:spLocks noGrp="1"/>
          </p:cNvSpPr>
          <p:nvPr>
            <p:ph type="title"/>
          </p:nvPr>
        </p:nvSpPr>
        <p:spPr>
          <a:xfrm>
            <a:off x="838200" y="365126"/>
            <a:ext cx="10515600" cy="500114"/>
          </a:xfrm>
        </p:spPr>
        <p:txBody>
          <a:bodyPr>
            <a:normAutofit fontScale="90000"/>
          </a:bodyPr>
          <a:lstStyle/>
          <a:p>
            <a:r>
              <a:rPr lang="en-US" sz="3000" b="1" dirty="0">
                <a:solidFill>
                  <a:srgbClr val="FF0000"/>
                </a:solidFill>
                <a:latin typeface="+mn-lt"/>
              </a:rPr>
              <a:t>Problem Statement 6: </a:t>
            </a:r>
            <a:r>
              <a:rPr lang="en-US" sz="3000" b="1" i="0" dirty="0">
                <a:solidFill>
                  <a:srgbClr val="FF0000"/>
                </a:solidFill>
                <a:effectLst/>
                <a:highlight>
                  <a:srgbClr val="FFFFFF"/>
                </a:highlight>
                <a:latin typeface="+mn-lt"/>
              </a:rPr>
              <a:t>Weird Terminal</a:t>
            </a:r>
            <a:r>
              <a:rPr lang="en-US" sz="3000" b="1" dirty="0">
                <a:solidFill>
                  <a:srgbClr val="FF0000"/>
                </a:solidFill>
                <a:latin typeface="+mn-lt"/>
              </a:rPr>
              <a:t> </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D9ECF919-CFD0-0BE4-1840-884295EA9FF0}"/>
              </a:ext>
            </a:extLst>
          </p:cNvPr>
          <p:cNvSpPr>
            <a:spLocks noGrp="1"/>
          </p:cNvSpPr>
          <p:nvPr>
            <p:ph idx="1"/>
          </p:nvPr>
        </p:nvSpPr>
        <p:spPr>
          <a:xfrm>
            <a:off x="838200" y="1052052"/>
            <a:ext cx="10515600" cy="5124911"/>
          </a:xfrm>
        </p:spPr>
        <p:txBody>
          <a:bodyPr>
            <a:normAutofit/>
          </a:bodyPr>
          <a:lstStyle/>
          <a:p>
            <a:pPr marL="0" indent="0" algn="just">
              <a:buNone/>
            </a:pPr>
            <a:r>
              <a:rPr lang="en-US" sz="2600" b="0" i="0" dirty="0">
                <a:solidFill>
                  <a:srgbClr val="343434"/>
                </a:solidFill>
                <a:effectLst/>
                <a:highlight>
                  <a:srgbClr val="FFFFFF"/>
                </a:highlight>
              </a:rPr>
              <a:t>Here is a weird problem in Susan’s terminal. He can not write more than two words each line, if she writes more than two, it takes only 2 words and the rest are not taken. So she needs to use enter and put the rest in a new line. For a given paragraph, how many lines are needed to be written in Susan’s terminal?</a:t>
            </a:r>
          </a:p>
          <a:p>
            <a:pPr marL="0" indent="0" algn="just">
              <a:buNone/>
            </a:pPr>
            <a:r>
              <a:rPr lang="en-US" sz="2600" b="1" i="0" dirty="0">
                <a:solidFill>
                  <a:srgbClr val="343434"/>
                </a:solidFill>
                <a:effectLst/>
                <a:highlight>
                  <a:srgbClr val="FFFFFF"/>
                </a:highlight>
              </a:rPr>
              <a:t>Input Format:</a:t>
            </a:r>
            <a:endParaRPr lang="en-US" sz="2600" b="0" i="0" dirty="0">
              <a:solidFill>
                <a:srgbClr val="343434"/>
              </a:solidFill>
              <a:effectLst/>
              <a:highlight>
                <a:srgbClr val="FFFFFF"/>
              </a:highlight>
            </a:endParaRPr>
          </a:p>
          <a:p>
            <a:pPr marL="0" indent="0" algn="just">
              <a:buNone/>
            </a:pPr>
            <a:r>
              <a:rPr lang="en-US" sz="2600" b="0" i="0" dirty="0">
                <a:solidFill>
                  <a:srgbClr val="343434"/>
                </a:solidFill>
                <a:effectLst/>
                <a:highlight>
                  <a:srgbClr val="FFFFFF"/>
                </a:highlight>
              </a:rPr>
              <a:t>A string as the text to input in the terminal</a:t>
            </a:r>
          </a:p>
          <a:p>
            <a:pPr marL="0" indent="0" algn="just">
              <a:buNone/>
            </a:pPr>
            <a:r>
              <a:rPr lang="en-US" sz="2600" b="1" i="0" dirty="0">
                <a:solidFill>
                  <a:srgbClr val="343434"/>
                </a:solidFill>
                <a:effectLst/>
                <a:highlight>
                  <a:srgbClr val="FFFFFF"/>
                </a:highlight>
              </a:rPr>
              <a:t>Output Format:</a:t>
            </a:r>
            <a:endParaRPr lang="en-US" sz="2600" b="0" i="0" dirty="0">
              <a:solidFill>
                <a:srgbClr val="343434"/>
              </a:solidFill>
              <a:effectLst/>
              <a:highlight>
                <a:srgbClr val="FFFFFF"/>
              </a:highlight>
            </a:endParaRPr>
          </a:p>
          <a:p>
            <a:pPr marL="0" indent="0" algn="just">
              <a:buNone/>
            </a:pPr>
            <a:r>
              <a:rPr lang="en-US" sz="2600" b="0" i="0" dirty="0">
                <a:solidFill>
                  <a:srgbClr val="343434"/>
                </a:solidFill>
                <a:effectLst/>
                <a:highlight>
                  <a:srgbClr val="FFFFFF"/>
                </a:highlight>
              </a:rPr>
              <a:t>Number of lines written.</a:t>
            </a:r>
          </a:p>
          <a:p>
            <a:pPr marL="0" indent="0" algn="just">
              <a:buNone/>
            </a:pPr>
            <a:r>
              <a:rPr lang="en-US" sz="2600" b="1" i="0" dirty="0">
                <a:solidFill>
                  <a:srgbClr val="343434"/>
                </a:solidFill>
                <a:effectLst/>
                <a:highlight>
                  <a:srgbClr val="FFFFFF"/>
                </a:highlight>
              </a:rPr>
              <a:t>Constraints:</a:t>
            </a:r>
            <a:endParaRPr lang="en-US" sz="2600" b="0" i="0" dirty="0">
              <a:solidFill>
                <a:srgbClr val="343434"/>
              </a:solidFill>
              <a:effectLst/>
              <a:highlight>
                <a:srgbClr val="FFFFFF"/>
              </a:highlight>
            </a:endParaRPr>
          </a:p>
          <a:p>
            <a:pPr marL="0" indent="0" algn="just">
              <a:buNone/>
            </a:pPr>
            <a:r>
              <a:rPr lang="en-US" sz="2600" b="0" i="0" dirty="0">
                <a:solidFill>
                  <a:srgbClr val="343434"/>
                </a:solidFill>
                <a:effectLst/>
                <a:highlight>
                  <a:srgbClr val="FFFFFF"/>
                </a:highlight>
              </a:rPr>
              <a:t>Number of words &lt;=10^7</a:t>
            </a:r>
          </a:p>
          <a:p>
            <a:pPr marL="0" indent="0" algn="just">
              <a:buNone/>
            </a:pPr>
            <a:endParaRPr lang="en-IN" sz="2600" dirty="0"/>
          </a:p>
        </p:txBody>
      </p:sp>
    </p:spTree>
    <p:extLst>
      <p:ext uri="{BB962C8B-B14F-4D97-AF65-F5344CB8AC3E}">
        <p14:creationId xmlns:p14="http://schemas.microsoft.com/office/powerpoint/2010/main" val="24598310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D0E10-6882-DAFC-1DC0-1CF6ABC91FD1}"/>
              </a:ext>
            </a:extLst>
          </p:cNvPr>
          <p:cNvSpPr>
            <a:spLocks noGrp="1"/>
          </p:cNvSpPr>
          <p:nvPr>
            <p:ph idx="1"/>
          </p:nvPr>
        </p:nvSpPr>
        <p:spPr>
          <a:xfrm>
            <a:off x="838200" y="491613"/>
            <a:ext cx="10515600" cy="5685350"/>
          </a:xfrm>
        </p:spPr>
        <p:txBody>
          <a:bodyPr>
            <a:normAutofit/>
          </a:bodyPr>
          <a:lstStyle/>
          <a:p>
            <a:pPr marL="0" indent="0" algn="l">
              <a:buNone/>
            </a:pPr>
            <a:r>
              <a:rPr lang="en-US" sz="2600" b="1" i="0" dirty="0">
                <a:solidFill>
                  <a:srgbClr val="343434"/>
                </a:solidFill>
                <a:effectLst/>
                <a:highlight>
                  <a:srgbClr val="FFFFFF"/>
                </a:highlight>
              </a:rPr>
              <a:t>Sample Input:</a:t>
            </a:r>
            <a:endParaRPr lang="en-US" sz="2600" b="0" i="0" dirty="0">
              <a:solidFill>
                <a:srgbClr val="343434"/>
              </a:solidFill>
              <a:effectLst/>
              <a:highlight>
                <a:srgbClr val="FFFFFF"/>
              </a:highlight>
            </a:endParaRPr>
          </a:p>
          <a:p>
            <a:pPr marL="0" indent="0" algn="l">
              <a:buNone/>
            </a:pPr>
            <a:r>
              <a:rPr lang="en-US" sz="2600" b="0" i="0" dirty="0">
                <a:solidFill>
                  <a:srgbClr val="343434"/>
                </a:solidFill>
                <a:effectLst/>
                <a:highlight>
                  <a:srgbClr val="FFFFFF"/>
                </a:highlight>
              </a:rPr>
              <a:t>How long do you have to sit dear ?</a:t>
            </a:r>
          </a:p>
          <a:p>
            <a:pPr marL="0" indent="0" algn="l">
              <a:buNone/>
            </a:pPr>
            <a:r>
              <a:rPr lang="en-US" sz="2600" b="1" i="0" dirty="0">
                <a:solidFill>
                  <a:srgbClr val="343434"/>
                </a:solidFill>
                <a:effectLst/>
                <a:highlight>
                  <a:srgbClr val="FFFFFF"/>
                </a:highlight>
              </a:rPr>
              <a:t>Sample Output:</a:t>
            </a:r>
            <a:endParaRPr lang="en-US" sz="2600" b="0" i="0" dirty="0">
              <a:solidFill>
                <a:srgbClr val="343434"/>
              </a:solidFill>
              <a:effectLst/>
              <a:highlight>
                <a:srgbClr val="FFFFFF"/>
              </a:highlight>
            </a:endParaRPr>
          </a:p>
          <a:p>
            <a:pPr marL="0" indent="0" algn="l">
              <a:buNone/>
            </a:pPr>
            <a:r>
              <a:rPr lang="en-US" sz="2600" b="0" i="0" dirty="0">
                <a:solidFill>
                  <a:srgbClr val="343434"/>
                </a:solidFill>
                <a:effectLst/>
                <a:highlight>
                  <a:srgbClr val="FFFFFF"/>
                </a:highlight>
              </a:rPr>
              <a:t>4</a:t>
            </a:r>
          </a:p>
          <a:p>
            <a:pPr marL="0" indent="0" algn="l">
              <a:buNone/>
            </a:pPr>
            <a:r>
              <a:rPr lang="en-US" sz="2600" b="1" i="0" dirty="0">
                <a:solidFill>
                  <a:srgbClr val="343434"/>
                </a:solidFill>
                <a:effectLst/>
                <a:highlight>
                  <a:srgbClr val="FFFFFF"/>
                </a:highlight>
              </a:rPr>
              <a:t>Explanation:</a:t>
            </a:r>
            <a:endParaRPr lang="en-US" sz="2600" b="0" i="0" dirty="0">
              <a:solidFill>
                <a:srgbClr val="343434"/>
              </a:solidFill>
              <a:effectLst/>
              <a:highlight>
                <a:srgbClr val="FFFFFF"/>
              </a:highlight>
            </a:endParaRPr>
          </a:p>
          <a:p>
            <a:pPr marL="0" indent="0" algn="l">
              <a:buNone/>
            </a:pPr>
            <a:r>
              <a:rPr lang="en-US" sz="2600" b="0" i="0" dirty="0">
                <a:solidFill>
                  <a:srgbClr val="343434"/>
                </a:solidFill>
                <a:effectLst/>
                <a:highlight>
                  <a:srgbClr val="FFFFFF"/>
                </a:highlight>
              </a:rPr>
              <a:t>The writing will be:</a:t>
            </a:r>
          </a:p>
          <a:p>
            <a:pPr marL="0" indent="0" algn="l">
              <a:buNone/>
            </a:pPr>
            <a:r>
              <a:rPr lang="en-US" sz="2600" b="0" i="0" dirty="0">
                <a:solidFill>
                  <a:srgbClr val="343434"/>
                </a:solidFill>
                <a:effectLst/>
                <a:highlight>
                  <a:srgbClr val="FFFFFF"/>
                </a:highlight>
              </a:rPr>
              <a:t>How long</a:t>
            </a:r>
          </a:p>
          <a:p>
            <a:pPr marL="0" indent="0" algn="l">
              <a:buNone/>
            </a:pPr>
            <a:r>
              <a:rPr lang="en-US" sz="2600" b="0" i="0" dirty="0">
                <a:solidFill>
                  <a:srgbClr val="343434"/>
                </a:solidFill>
                <a:effectLst/>
                <a:highlight>
                  <a:srgbClr val="FFFFFF"/>
                </a:highlight>
              </a:rPr>
              <a:t>Do you</a:t>
            </a:r>
          </a:p>
          <a:p>
            <a:pPr marL="0" indent="0" algn="l">
              <a:buNone/>
            </a:pPr>
            <a:r>
              <a:rPr lang="en-US" sz="2600" b="0" i="0" dirty="0">
                <a:solidFill>
                  <a:srgbClr val="343434"/>
                </a:solidFill>
                <a:effectLst/>
                <a:highlight>
                  <a:srgbClr val="FFFFFF"/>
                </a:highlight>
              </a:rPr>
              <a:t>Have to</a:t>
            </a:r>
          </a:p>
          <a:p>
            <a:pPr marL="0" indent="0" algn="l">
              <a:buNone/>
            </a:pPr>
            <a:r>
              <a:rPr lang="en-US" sz="2600" b="0" i="0" dirty="0">
                <a:solidFill>
                  <a:srgbClr val="343434"/>
                </a:solidFill>
                <a:effectLst/>
                <a:highlight>
                  <a:srgbClr val="FFFFFF"/>
                </a:highlight>
              </a:rPr>
              <a:t>Sit dear ?</a:t>
            </a:r>
          </a:p>
        </p:txBody>
      </p:sp>
    </p:spTree>
    <p:extLst>
      <p:ext uri="{BB962C8B-B14F-4D97-AF65-F5344CB8AC3E}">
        <p14:creationId xmlns:p14="http://schemas.microsoft.com/office/powerpoint/2010/main" val="3175141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85188F-588C-2F30-D8B5-D16E66B8C6A8}"/>
              </a:ext>
            </a:extLst>
          </p:cNvPr>
          <p:cNvSpPr>
            <a:spLocks noGrp="1"/>
          </p:cNvSpPr>
          <p:nvPr>
            <p:ph idx="1"/>
          </p:nvPr>
        </p:nvSpPr>
        <p:spPr>
          <a:xfrm>
            <a:off x="739878" y="835742"/>
            <a:ext cx="10515600" cy="4513006"/>
          </a:xfrm>
        </p:spPr>
        <p:txBody>
          <a:bodyPr>
            <a:noAutofit/>
          </a:bodyPr>
          <a:lstStyle/>
          <a:p>
            <a:pPr marL="0" indent="0">
              <a:spcBef>
                <a:spcPts val="0"/>
              </a:spcBef>
              <a:buNone/>
            </a:pPr>
            <a:r>
              <a:rPr lang="en-US" sz="2400" b="1" dirty="0"/>
              <a:t>s=input()</a:t>
            </a:r>
          </a:p>
          <a:p>
            <a:pPr marL="0" indent="0">
              <a:spcBef>
                <a:spcPts val="0"/>
              </a:spcBef>
              <a:buNone/>
            </a:pPr>
            <a:r>
              <a:rPr lang="en-US" sz="2400" b="1" dirty="0"/>
              <a:t>n=</a:t>
            </a:r>
            <a:r>
              <a:rPr lang="en-US" sz="2400" b="1" dirty="0" err="1"/>
              <a:t>len</a:t>
            </a:r>
            <a:r>
              <a:rPr lang="en-US" sz="2400" b="1" dirty="0"/>
              <a:t>(s)</a:t>
            </a:r>
          </a:p>
          <a:p>
            <a:pPr marL="0" indent="0">
              <a:spcBef>
                <a:spcPts val="0"/>
              </a:spcBef>
              <a:buNone/>
            </a:pPr>
            <a:r>
              <a:rPr lang="en-US" sz="2400" b="1" dirty="0"/>
              <a:t>s1=''</a:t>
            </a:r>
          </a:p>
          <a:p>
            <a:pPr marL="0" indent="0">
              <a:spcBef>
                <a:spcPts val="0"/>
              </a:spcBef>
              <a:buNone/>
            </a:pPr>
            <a:r>
              <a:rPr lang="en-US" sz="2400" b="1" dirty="0"/>
              <a:t>for </a:t>
            </a:r>
            <a:r>
              <a:rPr lang="en-US" sz="2400" b="1" dirty="0" err="1"/>
              <a:t>i</a:t>
            </a:r>
            <a:r>
              <a:rPr lang="en-US" sz="2400" b="1" dirty="0"/>
              <a:t> in range(n):</a:t>
            </a:r>
          </a:p>
          <a:p>
            <a:pPr marL="0" indent="0">
              <a:spcBef>
                <a:spcPts val="0"/>
              </a:spcBef>
              <a:buNone/>
            </a:pPr>
            <a:r>
              <a:rPr lang="en-US" sz="2400" b="1" dirty="0"/>
              <a:t>    if s[</a:t>
            </a:r>
            <a:r>
              <a:rPr lang="en-US" sz="2400" b="1" dirty="0" err="1"/>
              <a:t>i</a:t>
            </a:r>
            <a:r>
              <a:rPr lang="en-US" sz="2400" b="1" dirty="0"/>
              <a:t>]=='-':</a:t>
            </a:r>
          </a:p>
          <a:p>
            <a:pPr marL="0" indent="0">
              <a:spcBef>
                <a:spcPts val="0"/>
              </a:spcBef>
              <a:buNone/>
            </a:pPr>
            <a:r>
              <a:rPr lang="en-US" sz="2400" b="1" dirty="0"/>
              <a:t>        s1+=''</a:t>
            </a:r>
          </a:p>
          <a:p>
            <a:pPr marL="0" indent="0">
              <a:spcBef>
                <a:spcPts val="0"/>
              </a:spcBef>
              <a:buNone/>
            </a:pPr>
            <a:r>
              <a:rPr lang="en-US" sz="2400" b="1" dirty="0"/>
              <a:t>        continue</a:t>
            </a:r>
          </a:p>
          <a:p>
            <a:pPr marL="0" indent="0">
              <a:spcBef>
                <a:spcPts val="0"/>
              </a:spcBef>
              <a:buNone/>
            </a:pPr>
            <a:r>
              <a:rPr lang="en-US" sz="2400" b="1" dirty="0"/>
              <a:t>    if s[</a:t>
            </a:r>
            <a:r>
              <a:rPr lang="en-US" sz="2400" b="1" dirty="0" err="1"/>
              <a:t>i</a:t>
            </a:r>
            <a:r>
              <a:rPr lang="en-US" sz="2400" b="1" dirty="0"/>
              <a:t>]=='.' or s[</a:t>
            </a:r>
            <a:r>
              <a:rPr lang="en-US" sz="2400" b="1" dirty="0" err="1"/>
              <a:t>i</a:t>
            </a:r>
            <a:r>
              <a:rPr lang="en-US" sz="2400" b="1" dirty="0"/>
              <a:t>]=='!' or s[</a:t>
            </a:r>
            <a:r>
              <a:rPr lang="en-US" sz="2400" b="1" dirty="0" err="1"/>
              <a:t>i</a:t>
            </a:r>
            <a:r>
              <a:rPr lang="en-US" sz="2400" b="1" dirty="0"/>
              <a:t>]==',' or s[</a:t>
            </a:r>
            <a:r>
              <a:rPr lang="en-US" sz="2400" b="1" dirty="0" err="1"/>
              <a:t>i</a:t>
            </a:r>
            <a:r>
              <a:rPr lang="en-US" sz="2400" b="1" dirty="0"/>
              <a:t>]=='?':</a:t>
            </a:r>
          </a:p>
          <a:p>
            <a:pPr marL="0" indent="0">
              <a:spcBef>
                <a:spcPts val="0"/>
              </a:spcBef>
              <a:buNone/>
            </a:pPr>
            <a:r>
              <a:rPr lang="en-US" sz="2400" b="1" dirty="0"/>
              <a:t>        s1+=' '</a:t>
            </a:r>
          </a:p>
          <a:p>
            <a:pPr marL="0" indent="0">
              <a:spcBef>
                <a:spcPts val="0"/>
              </a:spcBef>
              <a:buNone/>
            </a:pPr>
            <a:r>
              <a:rPr lang="en-US" sz="2400" b="1" dirty="0"/>
              <a:t>        continue</a:t>
            </a:r>
          </a:p>
          <a:p>
            <a:pPr marL="0" indent="0">
              <a:spcBef>
                <a:spcPts val="0"/>
              </a:spcBef>
              <a:buNone/>
            </a:pPr>
            <a:r>
              <a:rPr lang="en-US" sz="2400" b="1" dirty="0"/>
              <a:t>    else:</a:t>
            </a:r>
          </a:p>
          <a:p>
            <a:pPr marL="0" indent="0">
              <a:spcBef>
                <a:spcPts val="0"/>
              </a:spcBef>
              <a:buNone/>
            </a:pPr>
            <a:r>
              <a:rPr lang="en-US" sz="2400" b="1" dirty="0"/>
              <a:t>        s1+=s[</a:t>
            </a:r>
            <a:r>
              <a:rPr lang="en-US" sz="2400" b="1" dirty="0" err="1"/>
              <a:t>i</a:t>
            </a:r>
            <a:r>
              <a:rPr lang="en-US" sz="2400" b="1" dirty="0"/>
              <a:t>]</a:t>
            </a:r>
          </a:p>
          <a:p>
            <a:pPr marL="0" indent="0">
              <a:spcBef>
                <a:spcPts val="0"/>
              </a:spcBef>
              <a:buNone/>
            </a:pPr>
            <a:endParaRPr lang="en-IN" sz="2400" b="1" dirty="0"/>
          </a:p>
        </p:txBody>
      </p:sp>
    </p:spTree>
    <p:extLst>
      <p:ext uri="{BB962C8B-B14F-4D97-AF65-F5344CB8AC3E}">
        <p14:creationId xmlns:p14="http://schemas.microsoft.com/office/powerpoint/2010/main" val="6827370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7A2E10-AF1A-2374-7FC6-3052AAC3068F}"/>
              </a:ext>
            </a:extLst>
          </p:cNvPr>
          <p:cNvSpPr>
            <a:spLocks noGrp="1"/>
          </p:cNvSpPr>
          <p:nvPr>
            <p:ph idx="1"/>
          </p:nvPr>
        </p:nvSpPr>
        <p:spPr>
          <a:xfrm>
            <a:off x="838200" y="1078374"/>
            <a:ext cx="10515600" cy="4351338"/>
          </a:xfrm>
        </p:spPr>
        <p:txBody>
          <a:bodyPr>
            <a:normAutofit/>
          </a:bodyPr>
          <a:lstStyle/>
          <a:p>
            <a:pPr marL="0" indent="0">
              <a:spcBef>
                <a:spcPts val="0"/>
              </a:spcBef>
              <a:buNone/>
            </a:pPr>
            <a:r>
              <a:rPr lang="en-US" sz="2400" b="1" dirty="0"/>
              <a:t>a=list(s1.split())</a:t>
            </a:r>
          </a:p>
          <a:p>
            <a:pPr marL="0" indent="0">
              <a:spcBef>
                <a:spcPts val="0"/>
              </a:spcBef>
              <a:buNone/>
            </a:pPr>
            <a:r>
              <a:rPr lang="en-US" sz="2400" b="1" dirty="0"/>
              <a:t>c=0</a:t>
            </a:r>
          </a:p>
          <a:p>
            <a:pPr marL="0" indent="0">
              <a:spcBef>
                <a:spcPts val="0"/>
              </a:spcBef>
              <a:buNone/>
            </a:pPr>
            <a:r>
              <a:rPr lang="en-US" sz="2400" b="1" dirty="0"/>
              <a:t>for </a:t>
            </a:r>
            <a:r>
              <a:rPr lang="en-US" sz="2400" b="1" dirty="0" err="1"/>
              <a:t>i</a:t>
            </a:r>
            <a:r>
              <a:rPr lang="en-US" sz="2400" b="1" dirty="0"/>
              <a:t> in a:</a:t>
            </a:r>
          </a:p>
          <a:p>
            <a:pPr marL="0" indent="0">
              <a:spcBef>
                <a:spcPts val="0"/>
              </a:spcBef>
              <a:buNone/>
            </a:pPr>
            <a:r>
              <a:rPr lang="en-US" sz="2400" b="1" dirty="0"/>
              <a:t>    i1=0</a:t>
            </a:r>
          </a:p>
          <a:p>
            <a:pPr marL="0" indent="0">
              <a:spcBef>
                <a:spcPts val="0"/>
              </a:spcBef>
              <a:buNone/>
            </a:pPr>
            <a:r>
              <a:rPr lang="en-US" sz="2400" b="1" dirty="0"/>
              <a:t>    for j in i:</a:t>
            </a:r>
          </a:p>
          <a:p>
            <a:pPr marL="0" indent="0">
              <a:spcBef>
                <a:spcPts val="0"/>
              </a:spcBef>
              <a:buNone/>
            </a:pPr>
            <a:r>
              <a:rPr lang="en-US" sz="2400" b="1" dirty="0"/>
              <a:t>        if not ((</a:t>
            </a:r>
            <a:r>
              <a:rPr lang="en-US" sz="2400" b="1" dirty="0" err="1"/>
              <a:t>ord</a:t>
            </a:r>
            <a:r>
              <a:rPr lang="en-US" sz="2400" b="1" dirty="0"/>
              <a:t>(j)&gt;=65 and </a:t>
            </a:r>
            <a:r>
              <a:rPr lang="en-US" sz="2400" b="1" dirty="0" err="1"/>
              <a:t>ord</a:t>
            </a:r>
            <a:r>
              <a:rPr lang="en-US" sz="2400" b="1" dirty="0"/>
              <a:t>(j)&lt;=90) or (</a:t>
            </a:r>
            <a:r>
              <a:rPr lang="en-US" sz="2400" b="1" dirty="0" err="1"/>
              <a:t>ord</a:t>
            </a:r>
            <a:r>
              <a:rPr lang="en-US" sz="2400" b="1" dirty="0"/>
              <a:t>(j)&gt;=97 and </a:t>
            </a:r>
            <a:r>
              <a:rPr lang="en-US" sz="2400" b="1" dirty="0" err="1"/>
              <a:t>ord</a:t>
            </a:r>
            <a:r>
              <a:rPr lang="en-US" sz="2400" b="1" dirty="0"/>
              <a:t>(j)&lt;=122)):</a:t>
            </a:r>
          </a:p>
          <a:p>
            <a:pPr marL="0" indent="0">
              <a:spcBef>
                <a:spcPts val="0"/>
              </a:spcBef>
              <a:buNone/>
            </a:pPr>
            <a:r>
              <a:rPr lang="en-US" sz="2400" b="1" dirty="0"/>
              <a:t>            i1=1</a:t>
            </a:r>
          </a:p>
          <a:p>
            <a:pPr marL="0" indent="0">
              <a:spcBef>
                <a:spcPts val="0"/>
              </a:spcBef>
              <a:buNone/>
            </a:pPr>
            <a:r>
              <a:rPr lang="en-US" sz="2400" b="1" dirty="0"/>
              <a:t>            break</a:t>
            </a:r>
          </a:p>
          <a:p>
            <a:pPr marL="0" indent="0">
              <a:spcBef>
                <a:spcPts val="0"/>
              </a:spcBef>
              <a:buNone/>
            </a:pPr>
            <a:r>
              <a:rPr lang="en-US" sz="2400" b="1" dirty="0"/>
              <a:t>    if i1==0:</a:t>
            </a:r>
          </a:p>
          <a:p>
            <a:pPr marL="0" indent="0">
              <a:spcBef>
                <a:spcPts val="0"/>
              </a:spcBef>
              <a:buNone/>
            </a:pPr>
            <a:r>
              <a:rPr lang="en-US" sz="2400" b="1" dirty="0"/>
              <a:t>        c+=1</a:t>
            </a:r>
          </a:p>
          <a:p>
            <a:pPr marL="0" indent="0">
              <a:spcBef>
                <a:spcPts val="0"/>
              </a:spcBef>
              <a:buNone/>
            </a:pPr>
            <a:r>
              <a:rPr lang="en-US" sz="2400" b="1" dirty="0"/>
              <a:t>        </a:t>
            </a:r>
          </a:p>
          <a:p>
            <a:pPr marL="0" indent="0">
              <a:spcBef>
                <a:spcPts val="0"/>
              </a:spcBef>
              <a:buNone/>
            </a:pPr>
            <a:r>
              <a:rPr lang="en-US" sz="2400" b="1" dirty="0"/>
              <a:t>print((c-1)//2 +1)</a:t>
            </a:r>
            <a:endParaRPr lang="en-IN" sz="2400" dirty="0"/>
          </a:p>
        </p:txBody>
      </p:sp>
    </p:spTree>
    <p:extLst>
      <p:ext uri="{BB962C8B-B14F-4D97-AF65-F5344CB8AC3E}">
        <p14:creationId xmlns:p14="http://schemas.microsoft.com/office/powerpoint/2010/main" val="42588792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95889-AC83-9D2E-0347-E604FE2295DE}"/>
              </a:ext>
            </a:extLst>
          </p:cNvPr>
          <p:cNvSpPr>
            <a:spLocks noGrp="1"/>
          </p:cNvSpPr>
          <p:nvPr>
            <p:ph type="title"/>
          </p:nvPr>
        </p:nvSpPr>
        <p:spPr>
          <a:xfrm>
            <a:off x="838200" y="265472"/>
            <a:ext cx="10515600" cy="235974"/>
          </a:xfrm>
        </p:spPr>
        <p:txBody>
          <a:bodyPr>
            <a:normAutofit fontScale="90000"/>
          </a:bodyPr>
          <a:lstStyle/>
          <a:p>
            <a:r>
              <a:rPr lang="en-US" sz="3000" b="1" dirty="0">
                <a:solidFill>
                  <a:srgbClr val="FF0000"/>
                </a:solidFill>
                <a:latin typeface="+mn-lt"/>
              </a:rPr>
              <a:t>Problem Statement 7: </a:t>
            </a:r>
            <a:r>
              <a:rPr lang="en-US" sz="3000" b="1" i="0" dirty="0">
                <a:solidFill>
                  <a:srgbClr val="FF0000"/>
                </a:solidFill>
                <a:effectLst/>
                <a:highlight>
                  <a:srgbClr val="FFFFFF"/>
                </a:highlight>
                <a:latin typeface="+mn-lt"/>
              </a:rPr>
              <a:t>Device Name System</a:t>
            </a:r>
            <a:r>
              <a:rPr lang="en-US" sz="3000" b="1" dirty="0">
                <a:solidFill>
                  <a:srgbClr val="FF0000"/>
                </a:solidFill>
                <a:latin typeface="+mn-lt"/>
              </a:rPr>
              <a:t> </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D9ECF919-CFD0-0BE4-1840-884295EA9FF0}"/>
              </a:ext>
            </a:extLst>
          </p:cNvPr>
          <p:cNvSpPr>
            <a:spLocks noGrp="1"/>
          </p:cNvSpPr>
          <p:nvPr>
            <p:ph idx="1"/>
          </p:nvPr>
        </p:nvSpPr>
        <p:spPr>
          <a:xfrm>
            <a:off x="838200" y="501446"/>
            <a:ext cx="10515600" cy="6356554"/>
          </a:xfrm>
        </p:spPr>
        <p:txBody>
          <a:bodyPr>
            <a:noAutofit/>
          </a:bodyPr>
          <a:lstStyle/>
          <a:p>
            <a:pPr marL="0" indent="0" algn="just">
              <a:spcBef>
                <a:spcPts val="0"/>
              </a:spcBef>
              <a:buNone/>
            </a:pPr>
            <a:r>
              <a:rPr lang="en-US" sz="2400" b="0" i="0" dirty="0">
                <a:solidFill>
                  <a:srgbClr val="343434"/>
                </a:solidFill>
                <a:effectLst/>
                <a:highlight>
                  <a:srgbClr val="FFFFFF"/>
                </a:highlight>
              </a:rPr>
              <a:t>Rocky is a software engineer and he is creating his own operating system called “</a:t>
            </a:r>
            <a:r>
              <a:rPr lang="en-US" sz="2400" b="0" i="0" dirty="0" err="1">
                <a:solidFill>
                  <a:srgbClr val="343434"/>
                </a:solidFill>
                <a:effectLst/>
                <a:highlight>
                  <a:srgbClr val="FFFFFF"/>
                </a:highlight>
              </a:rPr>
              <a:t>myFirst</a:t>
            </a:r>
            <a:r>
              <a:rPr lang="en-US" sz="2400" b="0" i="0" dirty="0">
                <a:solidFill>
                  <a:srgbClr val="343434"/>
                </a:solidFill>
                <a:effectLst/>
                <a:highlight>
                  <a:srgbClr val="FFFFFF"/>
                </a:highlight>
              </a:rPr>
              <a:t> </a:t>
            </a:r>
            <a:r>
              <a:rPr lang="en-US" sz="2400" b="0" i="0" dirty="0" err="1">
                <a:solidFill>
                  <a:srgbClr val="343434"/>
                </a:solidFill>
                <a:effectLst/>
                <a:highlight>
                  <a:srgbClr val="FFFFFF"/>
                </a:highlight>
              </a:rPr>
              <a:t>os</a:t>
            </a:r>
            <a:r>
              <a:rPr lang="en-US" sz="2400" b="0" i="0" dirty="0">
                <a:solidFill>
                  <a:srgbClr val="343434"/>
                </a:solidFill>
                <a:effectLst/>
                <a:highlight>
                  <a:srgbClr val="FFFFFF"/>
                </a:highlight>
              </a:rPr>
              <a:t>”. </a:t>
            </a:r>
            <a:r>
              <a:rPr lang="en-US" sz="2400" b="0" i="0" dirty="0" err="1">
                <a:solidFill>
                  <a:srgbClr val="343434"/>
                </a:solidFill>
                <a:effectLst/>
                <a:highlight>
                  <a:srgbClr val="FFFFFF"/>
                </a:highlight>
              </a:rPr>
              <a:t>myFirst</a:t>
            </a:r>
            <a:r>
              <a:rPr lang="en-US" sz="2400" b="0" i="0" dirty="0">
                <a:solidFill>
                  <a:srgbClr val="343434"/>
                </a:solidFill>
                <a:effectLst/>
                <a:highlight>
                  <a:srgbClr val="FFFFFF"/>
                </a:highlight>
              </a:rPr>
              <a:t> </a:t>
            </a:r>
            <a:r>
              <a:rPr lang="en-US" sz="2400" b="0" i="0" dirty="0" err="1">
                <a:solidFill>
                  <a:srgbClr val="343434"/>
                </a:solidFill>
                <a:effectLst/>
                <a:highlight>
                  <a:srgbClr val="FFFFFF"/>
                </a:highlight>
              </a:rPr>
              <a:t>os</a:t>
            </a:r>
            <a:r>
              <a:rPr lang="en-US" sz="2400" b="0" i="0" dirty="0">
                <a:solidFill>
                  <a:srgbClr val="343434"/>
                </a:solidFill>
                <a:effectLst/>
                <a:highlight>
                  <a:srgbClr val="FFFFFF"/>
                </a:highlight>
              </a:rPr>
              <a:t>  is a GUI (Graphical user interface) based operating system where everything is stored in files and folders. He is facing issues on  creating unique folder names for the operating system . Help rocky to create the unique folder name for it’s </a:t>
            </a:r>
            <a:r>
              <a:rPr lang="en-US" sz="2400" b="0" i="0" dirty="0" err="1">
                <a:solidFill>
                  <a:srgbClr val="343434"/>
                </a:solidFill>
                <a:effectLst/>
                <a:highlight>
                  <a:srgbClr val="FFFFFF"/>
                </a:highlight>
              </a:rPr>
              <a:t>os.If</a:t>
            </a:r>
            <a:r>
              <a:rPr lang="en-US" sz="2400" b="0" i="0" dirty="0">
                <a:solidFill>
                  <a:srgbClr val="343434"/>
                </a:solidFill>
                <a:effectLst/>
                <a:highlight>
                  <a:srgbClr val="FFFFFF"/>
                </a:highlight>
              </a:rPr>
              <a:t> folder name already exists in the system and integer number is added at the name to make it unique. The integer added starts with 1 and is incremented by 1 for each new request of an existing folder name. Given a list of folder names , process all requests and return an array of corresponding folder names.</a:t>
            </a:r>
          </a:p>
          <a:p>
            <a:pPr marL="0" indent="0" algn="just">
              <a:spcBef>
                <a:spcPts val="0"/>
              </a:spcBef>
              <a:buNone/>
            </a:pPr>
            <a:r>
              <a:rPr lang="en-US" sz="2400" b="1" i="0" dirty="0">
                <a:solidFill>
                  <a:srgbClr val="343434"/>
                </a:solidFill>
                <a:effectLst/>
                <a:highlight>
                  <a:srgbClr val="FFFFFF"/>
                </a:highlight>
              </a:rPr>
              <a:t>Example  :</a:t>
            </a:r>
            <a:endParaRPr lang="en-US" sz="2400" b="0" i="0" dirty="0">
              <a:solidFill>
                <a:srgbClr val="343434"/>
              </a:solidFill>
              <a:effectLst/>
              <a:highlight>
                <a:srgbClr val="FFFFFF"/>
              </a:highlight>
            </a:endParaRPr>
          </a:p>
          <a:p>
            <a:pPr marL="0" indent="0" algn="just">
              <a:spcBef>
                <a:spcPts val="0"/>
              </a:spcBef>
              <a:buNone/>
            </a:pPr>
            <a:r>
              <a:rPr lang="en-US" sz="2400" b="0" i="0" dirty="0">
                <a:solidFill>
                  <a:srgbClr val="343434"/>
                </a:solidFill>
                <a:effectLst/>
                <a:highlight>
                  <a:srgbClr val="FFFFFF"/>
                </a:highlight>
              </a:rPr>
              <a:t>n=5</a:t>
            </a:r>
          </a:p>
          <a:p>
            <a:pPr marL="0" indent="0" algn="just">
              <a:spcBef>
                <a:spcPts val="0"/>
              </a:spcBef>
              <a:buNone/>
            </a:pPr>
            <a:r>
              <a:rPr lang="en-US" sz="2400" b="0" i="0" dirty="0" err="1">
                <a:solidFill>
                  <a:srgbClr val="343434"/>
                </a:solidFill>
                <a:effectLst/>
                <a:highlight>
                  <a:srgbClr val="FFFFFF"/>
                </a:highlight>
              </a:rPr>
              <a:t>foldername</a:t>
            </a:r>
            <a:r>
              <a:rPr lang="en-US" sz="2400" b="0" i="0" dirty="0">
                <a:solidFill>
                  <a:srgbClr val="343434"/>
                </a:solidFill>
                <a:effectLst/>
                <a:highlight>
                  <a:srgbClr val="FFFFFF"/>
                </a:highlight>
              </a:rPr>
              <a:t>= [‘home’ , ‘</a:t>
            </a:r>
            <a:r>
              <a:rPr lang="en-US" sz="2400" b="0" i="0" dirty="0" err="1">
                <a:solidFill>
                  <a:srgbClr val="343434"/>
                </a:solidFill>
                <a:effectLst/>
                <a:highlight>
                  <a:srgbClr val="FFFFFF"/>
                </a:highlight>
              </a:rPr>
              <a:t>myfirst</a:t>
            </a:r>
            <a:r>
              <a:rPr lang="en-US" sz="2400" b="0" i="0" dirty="0">
                <a:solidFill>
                  <a:srgbClr val="343434"/>
                </a:solidFill>
                <a:effectLst/>
                <a:highlight>
                  <a:srgbClr val="FFFFFF"/>
                </a:highlight>
              </a:rPr>
              <a:t>’ ,’downloads’, ‘</a:t>
            </a:r>
            <a:r>
              <a:rPr lang="en-US" sz="2400" b="0" i="0" dirty="0" err="1">
                <a:solidFill>
                  <a:srgbClr val="343434"/>
                </a:solidFill>
                <a:effectLst/>
                <a:highlight>
                  <a:srgbClr val="FFFFFF"/>
                </a:highlight>
              </a:rPr>
              <a:t>myfirst</a:t>
            </a:r>
            <a:r>
              <a:rPr lang="en-US" sz="2400" b="0" i="0" dirty="0">
                <a:solidFill>
                  <a:srgbClr val="343434"/>
                </a:solidFill>
                <a:effectLst/>
                <a:highlight>
                  <a:srgbClr val="FFFFFF"/>
                </a:highlight>
              </a:rPr>
              <a:t>’, ‘</a:t>
            </a:r>
            <a:r>
              <a:rPr lang="en-US" sz="2400" b="0" i="0" dirty="0" err="1">
                <a:solidFill>
                  <a:srgbClr val="343434"/>
                </a:solidFill>
                <a:effectLst/>
                <a:highlight>
                  <a:srgbClr val="FFFFFF"/>
                </a:highlight>
              </a:rPr>
              <a:t>myfirst</a:t>
            </a:r>
            <a:r>
              <a:rPr lang="en-US" sz="2400" b="0" i="0" dirty="0">
                <a:solidFill>
                  <a:srgbClr val="343434"/>
                </a:solidFill>
                <a:effectLst/>
                <a:highlight>
                  <a:srgbClr val="FFFFFF"/>
                </a:highlight>
              </a:rPr>
              <a:t>’]</a:t>
            </a:r>
          </a:p>
          <a:p>
            <a:pPr marL="0" indent="0" algn="just">
              <a:spcBef>
                <a:spcPts val="0"/>
              </a:spcBef>
              <a:buNone/>
            </a:pPr>
            <a:r>
              <a:rPr lang="en-US" sz="2400" b="0" i="0" dirty="0" err="1">
                <a:solidFill>
                  <a:srgbClr val="343434"/>
                </a:solidFill>
                <a:effectLst/>
                <a:highlight>
                  <a:srgbClr val="FFFFFF"/>
                </a:highlight>
              </a:rPr>
              <a:t>foldername</a:t>
            </a:r>
            <a:r>
              <a:rPr lang="en-US" sz="2400" b="0" i="0" dirty="0">
                <a:solidFill>
                  <a:srgbClr val="343434"/>
                </a:solidFill>
                <a:effectLst/>
                <a:highlight>
                  <a:srgbClr val="FFFFFF"/>
                </a:highlight>
              </a:rPr>
              <a:t>[0]= ‘home’ is unique.</a:t>
            </a:r>
          </a:p>
          <a:p>
            <a:pPr marL="0" indent="0" algn="just">
              <a:spcBef>
                <a:spcPts val="0"/>
              </a:spcBef>
              <a:buNone/>
            </a:pPr>
            <a:r>
              <a:rPr lang="en-US" sz="2400" b="0" i="0" dirty="0" err="1">
                <a:solidFill>
                  <a:srgbClr val="343434"/>
                </a:solidFill>
                <a:effectLst/>
                <a:highlight>
                  <a:srgbClr val="FFFFFF"/>
                </a:highlight>
              </a:rPr>
              <a:t>foldername</a:t>
            </a:r>
            <a:r>
              <a:rPr lang="en-US" sz="2400" b="0" i="0" dirty="0">
                <a:solidFill>
                  <a:srgbClr val="343434"/>
                </a:solidFill>
                <a:effectLst/>
                <a:highlight>
                  <a:srgbClr val="FFFFFF"/>
                </a:highlight>
              </a:rPr>
              <a:t>[1]= ‘</a:t>
            </a:r>
            <a:r>
              <a:rPr lang="en-US" sz="2400" b="0" i="0" dirty="0" err="1">
                <a:solidFill>
                  <a:srgbClr val="343434"/>
                </a:solidFill>
                <a:effectLst/>
                <a:highlight>
                  <a:srgbClr val="FFFFFF"/>
                </a:highlight>
              </a:rPr>
              <a:t>myfirst</a:t>
            </a:r>
            <a:r>
              <a:rPr lang="en-US" sz="2400" b="0" i="0" dirty="0">
                <a:solidFill>
                  <a:srgbClr val="343434"/>
                </a:solidFill>
                <a:effectLst/>
                <a:highlight>
                  <a:srgbClr val="FFFFFF"/>
                </a:highlight>
              </a:rPr>
              <a:t>’ is unique.</a:t>
            </a:r>
          </a:p>
          <a:p>
            <a:pPr marL="0" indent="0" algn="just">
              <a:spcBef>
                <a:spcPts val="0"/>
              </a:spcBef>
              <a:buNone/>
            </a:pPr>
            <a:r>
              <a:rPr lang="en-US" sz="2400" b="0" i="0" dirty="0" err="1">
                <a:solidFill>
                  <a:srgbClr val="343434"/>
                </a:solidFill>
                <a:effectLst/>
                <a:highlight>
                  <a:srgbClr val="FFFFFF"/>
                </a:highlight>
              </a:rPr>
              <a:t>foldername</a:t>
            </a:r>
            <a:r>
              <a:rPr lang="en-US" sz="2400" b="0" i="0" dirty="0">
                <a:solidFill>
                  <a:srgbClr val="343434"/>
                </a:solidFill>
                <a:effectLst/>
                <a:highlight>
                  <a:srgbClr val="FFFFFF"/>
                </a:highlight>
              </a:rPr>
              <a:t> [2]=’downloads’ is unique.</a:t>
            </a:r>
          </a:p>
          <a:p>
            <a:pPr marL="0" indent="0" algn="just">
              <a:spcBef>
                <a:spcPts val="0"/>
              </a:spcBef>
              <a:buNone/>
            </a:pPr>
            <a:r>
              <a:rPr lang="en-US" sz="2400" b="0" i="0" dirty="0" err="1">
                <a:solidFill>
                  <a:srgbClr val="343434"/>
                </a:solidFill>
                <a:effectLst/>
                <a:highlight>
                  <a:srgbClr val="FFFFFF"/>
                </a:highlight>
              </a:rPr>
              <a:t>foldername</a:t>
            </a:r>
            <a:r>
              <a:rPr lang="en-US" sz="2400" b="0" i="0" dirty="0">
                <a:solidFill>
                  <a:srgbClr val="343434"/>
                </a:solidFill>
                <a:effectLst/>
                <a:highlight>
                  <a:srgbClr val="FFFFFF"/>
                </a:highlight>
              </a:rPr>
              <a:t>[3]=’</a:t>
            </a:r>
            <a:r>
              <a:rPr lang="en-US" sz="2400" b="0" i="0" dirty="0" err="1">
                <a:solidFill>
                  <a:srgbClr val="343434"/>
                </a:solidFill>
                <a:effectLst/>
                <a:highlight>
                  <a:srgbClr val="FFFFFF"/>
                </a:highlight>
              </a:rPr>
              <a:t>myfirst</a:t>
            </a:r>
            <a:r>
              <a:rPr lang="en-US" sz="2400" b="0" i="0" dirty="0">
                <a:solidFill>
                  <a:srgbClr val="343434"/>
                </a:solidFill>
                <a:effectLst/>
                <a:highlight>
                  <a:srgbClr val="FFFFFF"/>
                </a:highlight>
              </a:rPr>
              <a:t>’ already exists in our system. So Add1 at the end of the folder name </a:t>
            </a:r>
            <a:r>
              <a:rPr lang="en-US" sz="2400" b="0" i="0" dirty="0" err="1">
                <a:solidFill>
                  <a:srgbClr val="343434"/>
                </a:solidFill>
                <a:effectLst/>
                <a:highlight>
                  <a:srgbClr val="FFFFFF"/>
                </a:highlight>
              </a:rPr>
              <a:t>i.e</a:t>
            </a:r>
            <a:r>
              <a:rPr lang="en-US" sz="2400" b="0" i="0" dirty="0">
                <a:solidFill>
                  <a:srgbClr val="343434"/>
                </a:solidFill>
                <a:effectLst/>
                <a:highlight>
                  <a:srgbClr val="FFFFFF"/>
                </a:highlight>
              </a:rPr>
              <a:t> </a:t>
            </a:r>
            <a:r>
              <a:rPr lang="en-US" sz="2400" b="0" i="0" dirty="0" err="1">
                <a:solidFill>
                  <a:srgbClr val="343434"/>
                </a:solidFill>
                <a:effectLst/>
                <a:highlight>
                  <a:srgbClr val="FFFFFF"/>
                </a:highlight>
              </a:rPr>
              <a:t>foldername</a:t>
            </a:r>
            <a:r>
              <a:rPr lang="en-US" sz="2400" b="0" i="0" dirty="0">
                <a:solidFill>
                  <a:srgbClr val="343434"/>
                </a:solidFill>
                <a:effectLst/>
                <a:highlight>
                  <a:srgbClr val="FFFFFF"/>
                </a:highlight>
              </a:rPr>
              <a:t>[3]=”myfirst1″</a:t>
            </a:r>
          </a:p>
          <a:p>
            <a:pPr marL="0" indent="0" algn="just">
              <a:spcBef>
                <a:spcPts val="0"/>
              </a:spcBef>
              <a:buNone/>
            </a:pPr>
            <a:r>
              <a:rPr lang="en-US" sz="2400" b="0" i="0" dirty="0" err="1">
                <a:solidFill>
                  <a:srgbClr val="343434"/>
                </a:solidFill>
                <a:effectLst/>
                <a:highlight>
                  <a:srgbClr val="FFFFFF"/>
                </a:highlight>
              </a:rPr>
              <a:t>foldername</a:t>
            </a:r>
            <a:r>
              <a:rPr lang="en-US" sz="2400" b="0" i="0" dirty="0">
                <a:solidFill>
                  <a:srgbClr val="343434"/>
                </a:solidFill>
                <a:effectLst/>
                <a:highlight>
                  <a:srgbClr val="FFFFFF"/>
                </a:highlight>
              </a:rPr>
              <a:t>[4]=’</a:t>
            </a:r>
            <a:r>
              <a:rPr lang="en-US" sz="2400" b="0" i="0" dirty="0" err="1">
                <a:solidFill>
                  <a:srgbClr val="343434"/>
                </a:solidFill>
                <a:effectLst/>
                <a:highlight>
                  <a:srgbClr val="FFFFFF"/>
                </a:highlight>
              </a:rPr>
              <a:t>myfirst</a:t>
            </a:r>
            <a:r>
              <a:rPr lang="en-US" sz="2400" b="0" i="0" dirty="0">
                <a:solidFill>
                  <a:srgbClr val="343434"/>
                </a:solidFill>
                <a:effectLst/>
                <a:highlight>
                  <a:srgbClr val="FFFFFF"/>
                </a:highlight>
              </a:rPr>
              <a:t>’ also already exists in our </a:t>
            </a:r>
            <a:r>
              <a:rPr lang="en-US" sz="2400" b="0" i="0" dirty="0" err="1">
                <a:solidFill>
                  <a:srgbClr val="343434"/>
                </a:solidFill>
                <a:effectLst/>
                <a:highlight>
                  <a:srgbClr val="FFFFFF"/>
                </a:highlight>
              </a:rPr>
              <a:t>system.So</a:t>
            </a:r>
            <a:r>
              <a:rPr lang="en-US" sz="2400" b="0" i="0" dirty="0">
                <a:solidFill>
                  <a:srgbClr val="343434"/>
                </a:solidFill>
                <a:effectLst/>
                <a:highlight>
                  <a:srgbClr val="FFFFFF"/>
                </a:highlight>
              </a:rPr>
              <a:t> add 2 at the end of the folder name i.e. </a:t>
            </a:r>
            <a:r>
              <a:rPr lang="en-US" sz="2400" b="0" i="0" dirty="0" err="1">
                <a:solidFill>
                  <a:srgbClr val="343434"/>
                </a:solidFill>
                <a:effectLst/>
                <a:highlight>
                  <a:srgbClr val="FFFFFF"/>
                </a:highlight>
              </a:rPr>
              <a:t>foldername</a:t>
            </a:r>
            <a:r>
              <a:rPr lang="en-US" sz="2400" b="0" i="0" dirty="0">
                <a:solidFill>
                  <a:srgbClr val="343434"/>
                </a:solidFill>
                <a:effectLst/>
                <a:highlight>
                  <a:srgbClr val="FFFFFF"/>
                </a:highlight>
              </a:rPr>
              <a:t>[4]=”myfirst2″.</a:t>
            </a:r>
          </a:p>
        </p:txBody>
      </p:sp>
    </p:spTree>
    <p:extLst>
      <p:ext uri="{BB962C8B-B14F-4D97-AF65-F5344CB8AC3E}">
        <p14:creationId xmlns:p14="http://schemas.microsoft.com/office/powerpoint/2010/main" val="7467808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D0E10-6882-DAFC-1DC0-1CF6ABC91FD1}"/>
              </a:ext>
            </a:extLst>
          </p:cNvPr>
          <p:cNvSpPr>
            <a:spLocks noGrp="1"/>
          </p:cNvSpPr>
          <p:nvPr>
            <p:ph idx="1"/>
          </p:nvPr>
        </p:nvSpPr>
        <p:spPr>
          <a:xfrm>
            <a:off x="641555" y="586760"/>
            <a:ext cx="10515600" cy="5814040"/>
          </a:xfrm>
        </p:spPr>
        <p:txBody>
          <a:bodyPr>
            <a:noAutofit/>
          </a:bodyPr>
          <a:lstStyle/>
          <a:p>
            <a:pPr marL="0" indent="0" algn="l">
              <a:buNone/>
            </a:pPr>
            <a:r>
              <a:rPr lang="en-US" sz="2500" b="1" i="0" dirty="0" err="1">
                <a:solidFill>
                  <a:srgbClr val="343434"/>
                </a:solidFill>
                <a:effectLst/>
                <a:highlight>
                  <a:srgbClr val="FFFFFF"/>
                </a:highlight>
              </a:rPr>
              <a:t>olderNameSystem</a:t>
            </a:r>
            <a:r>
              <a:rPr lang="en-US" sz="2500" b="1" i="0" dirty="0">
                <a:solidFill>
                  <a:srgbClr val="343434"/>
                </a:solidFill>
                <a:effectLst/>
                <a:highlight>
                  <a:srgbClr val="FFFFFF"/>
                </a:highlight>
              </a:rPr>
              <a:t> function has the following parameters</a:t>
            </a:r>
            <a:endParaRPr lang="en-US" sz="2500" b="0" i="0" dirty="0">
              <a:solidFill>
                <a:srgbClr val="343434"/>
              </a:solidFill>
              <a:effectLst/>
              <a:highlight>
                <a:srgbClr val="FFFFFF"/>
              </a:highlight>
            </a:endParaRPr>
          </a:p>
          <a:p>
            <a:pPr marL="0" indent="0" algn="l">
              <a:buNone/>
            </a:pPr>
            <a:r>
              <a:rPr lang="en-US" sz="2500" b="0" i="0" dirty="0">
                <a:solidFill>
                  <a:srgbClr val="343434"/>
                </a:solidFill>
                <a:effectLst/>
                <a:highlight>
                  <a:srgbClr val="FFFFFF"/>
                </a:highlight>
              </a:rPr>
              <a:t>   string </a:t>
            </a:r>
            <a:r>
              <a:rPr lang="en-US" sz="2500" b="0" i="0" dirty="0" err="1">
                <a:solidFill>
                  <a:srgbClr val="343434"/>
                </a:solidFill>
                <a:effectLst/>
                <a:highlight>
                  <a:srgbClr val="FFFFFF"/>
                </a:highlight>
              </a:rPr>
              <a:t>foldername</a:t>
            </a:r>
            <a:r>
              <a:rPr lang="en-US" sz="2500" b="0" i="0" dirty="0">
                <a:solidFill>
                  <a:srgbClr val="343434"/>
                </a:solidFill>
                <a:effectLst/>
                <a:highlight>
                  <a:srgbClr val="FFFFFF"/>
                </a:highlight>
              </a:rPr>
              <a:t>[n]: an array of folder name string in the order requested</a:t>
            </a:r>
          </a:p>
          <a:p>
            <a:pPr marL="0" indent="0" algn="l">
              <a:buNone/>
            </a:pPr>
            <a:r>
              <a:rPr lang="en-US" sz="2500" b="1" i="0" dirty="0">
                <a:solidFill>
                  <a:srgbClr val="343434"/>
                </a:solidFill>
                <a:effectLst/>
                <a:highlight>
                  <a:srgbClr val="FFFFFF"/>
                </a:highlight>
              </a:rPr>
              <a:t>Returns:</a:t>
            </a:r>
            <a:endParaRPr lang="en-US" sz="2500" b="0" i="0" dirty="0">
              <a:solidFill>
                <a:srgbClr val="343434"/>
              </a:solidFill>
              <a:effectLst/>
              <a:highlight>
                <a:srgbClr val="FFFFFF"/>
              </a:highlight>
            </a:endParaRPr>
          </a:p>
          <a:p>
            <a:pPr marL="0" indent="0" algn="l">
              <a:buNone/>
            </a:pPr>
            <a:r>
              <a:rPr lang="en-US" sz="2500" b="0" i="0" dirty="0">
                <a:solidFill>
                  <a:srgbClr val="343434"/>
                </a:solidFill>
                <a:effectLst/>
                <a:highlight>
                  <a:srgbClr val="FFFFFF"/>
                </a:highlight>
              </a:rPr>
              <a:t>String[n]:  an array of strings usernames in the order assigned</a:t>
            </a:r>
          </a:p>
          <a:p>
            <a:pPr marL="0" indent="0" algn="l">
              <a:buNone/>
            </a:pPr>
            <a:r>
              <a:rPr lang="en-US" sz="2500" b="1" i="0" dirty="0">
                <a:solidFill>
                  <a:srgbClr val="343434"/>
                </a:solidFill>
                <a:effectLst/>
                <a:highlight>
                  <a:srgbClr val="FFFFFF"/>
                </a:highlight>
              </a:rPr>
              <a:t>Constraints :</a:t>
            </a:r>
            <a:endParaRPr lang="en-US" sz="2500" b="0" i="0" dirty="0">
              <a:solidFill>
                <a:srgbClr val="343434"/>
              </a:solidFill>
              <a:effectLst/>
              <a:highlight>
                <a:srgbClr val="FFFFFF"/>
              </a:highlight>
            </a:endParaRPr>
          </a:p>
          <a:p>
            <a:pPr marL="0" indent="0" algn="l">
              <a:buNone/>
            </a:pPr>
            <a:r>
              <a:rPr lang="en-US" sz="2500" b="0" i="0" dirty="0">
                <a:solidFill>
                  <a:srgbClr val="343434"/>
                </a:solidFill>
                <a:effectLst/>
                <a:highlight>
                  <a:srgbClr val="FFFFFF"/>
                </a:highlight>
              </a:rPr>
              <a:t>    1&lt;=n&lt;=10^4</a:t>
            </a:r>
          </a:p>
          <a:p>
            <a:pPr marL="0" indent="0" algn="l">
              <a:buNone/>
            </a:pPr>
            <a:r>
              <a:rPr lang="en-US" sz="2500" b="0" i="0" dirty="0">
                <a:solidFill>
                  <a:srgbClr val="343434"/>
                </a:solidFill>
                <a:effectLst/>
                <a:highlight>
                  <a:srgbClr val="FFFFFF"/>
                </a:highlight>
              </a:rPr>
              <a:t>    1&lt;=length of </a:t>
            </a:r>
            <a:r>
              <a:rPr lang="en-US" sz="2500" b="0" i="0" dirty="0" err="1">
                <a:solidFill>
                  <a:srgbClr val="343434"/>
                </a:solidFill>
                <a:effectLst/>
                <a:highlight>
                  <a:srgbClr val="FFFFFF"/>
                </a:highlight>
              </a:rPr>
              <a:t>foldername</a:t>
            </a:r>
            <a:r>
              <a:rPr lang="en-US" sz="2500" b="0" i="0" dirty="0">
                <a:solidFill>
                  <a:srgbClr val="343434"/>
                </a:solidFill>
                <a:effectLst/>
                <a:highlight>
                  <a:srgbClr val="FFFFFF"/>
                </a:highlight>
              </a:rPr>
              <a:t>[</a:t>
            </a:r>
            <a:r>
              <a:rPr lang="en-US" sz="2500" b="0" i="0" dirty="0" err="1">
                <a:solidFill>
                  <a:srgbClr val="343434"/>
                </a:solidFill>
                <a:effectLst/>
                <a:highlight>
                  <a:srgbClr val="FFFFFF"/>
                </a:highlight>
              </a:rPr>
              <a:t>i</a:t>
            </a:r>
            <a:r>
              <a:rPr lang="en-US" sz="2500" b="0" i="0" dirty="0">
                <a:solidFill>
                  <a:srgbClr val="343434"/>
                </a:solidFill>
                <a:effectLst/>
                <a:highlight>
                  <a:srgbClr val="FFFFFF"/>
                </a:highlight>
              </a:rPr>
              <a:t>]&lt;20</a:t>
            </a:r>
          </a:p>
          <a:p>
            <a:pPr marL="0" indent="0" algn="l">
              <a:buNone/>
            </a:pPr>
            <a:r>
              <a:rPr lang="en-US" sz="2500" b="0" i="0" dirty="0">
                <a:solidFill>
                  <a:srgbClr val="343434"/>
                </a:solidFill>
                <a:effectLst/>
                <a:highlight>
                  <a:srgbClr val="FFFFFF"/>
                </a:highlight>
              </a:rPr>
              <a:t>    </a:t>
            </a:r>
            <a:r>
              <a:rPr lang="en-US" sz="2500" b="0" i="0" dirty="0" err="1">
                <a:solidFill>
                  <a:srgbClr val="343434"/>
                </a:solidFill>
                <a:effectLst/>
                <a:highlight>
                  <a:srgbClr val="FFFFFF"/>
                </a:highlight>
              </a:rPr>
              <a:t>foldername</a:t>
            </a:r>
            <a:r>
              <a:rPr lang="en-US" sz="2500" b="0" i="0" dirty="0">
                <a:solidFill>
                  <a:srgbClr val="343434"/>
                </a:solidFill>
                <a:effectLst/>
                <a:highlight>
                  <a:srgbClr val="FFFFFF"/>
                </a:highlight>
              </a:rPr>
              <a:t>[</a:t>
            </a:r>
            <a:r>
              <a:rPr lang="en-US" sz="2500" b="0" i="0" dirty="0" err="1">
                <a:solidFill>
                  <a:srgbClr val="343434"/>
                </a:solidFill>
                <a:effectLst/>
                <a:highlight>
                  <a:srgbClr val="FFFFFF"/>
                </a:highlight>
              </a:rPr>
              <a:t>i</a:t>
            </a:r>
            <a:r>
              <a:rPr lang="en-US" sz="2500" b="0" i="0" dirty="0">
                <a:solidFill>
                  <a:srgbClr val="343434"/>
                </a:solidFill>
                <a:effectLst/>
                <a:highlight>
                  <a:srgbClr val="FFFFFF"/>
                </a:highlight>
              </a:rPr>
              <a:t>] contains only lowercase </a:t>
            </a:r>
            <a:r>
              <a:rPr lang="en-US" sz="2500" b="0" i="0" dirty="0" err="1">
                <a:solidFill>
                  <a:srgbClr val="343434"/>
                </a:solidFill>
                <a:effectLst/>
                <a:highlight>
                  <a:srgbClr val="FFFFFF"/>
                </a:highlight>
              </a:rPr>
              <a:t>english</a:t>
            </a:r>
            <a:r>
              <a:rPr lang="en-US" sz="2500" b="0" i="0" dirty="0">
                <a:solidFill>
                  <a:srgbClr val="343434"/>
                </a:solidFill>
                <a:effectLst/>
                <a:highlight>
                  <a:srgbClr val="FFFFFF"/>
                </a:highlight>
              </a:rPr>
              <a:t> letter in the range ascii[a-z]</a:t>
            </a:r>
          </a:p>
          <a:p>
            <a:pPr marL="0" indent="0" algn="l">
              <a:buNone/>
            </a:pPr>
            <a:r>
              <a:rPr lang="en-US" sz="2500" b="1" i="0" dirty="0">
                <a:solidFill>
                  <a:srgbClr val="343434"/>
                </a:solidFill>
                <a:effectLst/>
                <a:highlight>
                  <a:srgbClr val="FFFFFF"/>
                </a:highlight>
              </a:rPr>
              <a:t>Input Format:</a:t>
            </a:r>
            <a:endParaRPr lang="en-US" sz="2500" b="0" i="0" dirty="0">
              <a:solidFill>
                <a:srgbClr val="343434"/>
              </a:solidFill>
              <a:effectLst/>
              <a:highlight>
                <a:srgbClr val="FFFFFF"/>
              </a:highlight>
            </a:endParaRPr>
          </a:p>
          <a:p>
            <a:pPr marL="0" indent="0" algn="l">
              <a:buNone/>
            </a:pPr>
            <a:r>
              <a:rPr lang="en-US" sz="2500" b="0" i="0" dirty="0">
                <a:solidFill>
                  <a:srgbClr val="343434"/>
                </a:solidFill>
                <a:effectLst/>
                <a:highlight>
                  <a:srgbClr val="FFFFFF"/>
                </a:highlight>
              </a:rPr>
              <a:t>The first line contains an integer n , denoting the size of the array usernames</a:t>
            </a:r>
          </a:p>
          <a:p>
            <a:pPr marL="0" indent="0" algn="l">
              <a:buNone/>
            </a:pPr>
            <a:r>
              <a:rPr lang="en-US" sz="2500" b="0" i="0" dirty="0">
                <a:solidFill>
                  <a:srgbClr val="343434"/>
                </a:solidFill>
                <a:effectLst/>
                <a:highlight>
                  <a:srgbClr val="FFFFFF"/>
                </a:highlight>
              </a:rPr>
              <a:t>Each line </a:t>
            </a:r>
            <a:r>
              <a:rPr lang="en-US" sz="2500" b="0" i="0" dirty="0" err="1">
                <a:solidFill>
                  <a:srgbClr val="343434"/>
                </a:solidFill>
                <a:effectLst/>
                <a:highlight>
                  <a:srgbClr val="FFFFFF"/>
                </a:highlight>
              </a:rPr>
              <a:t>i</a:t>
            </a:r>
            <a:r>
              <a:rPr lang="en-US" sz="2500" b="0" i="0" dirty="0">
                <a:solidFill>
                  <a:srgbClr val="343434"/>
                </a:solidFill>
                <a:effectLst/>
                <a:highlight>
                  <a:srgbClr val="FFFFFF"/>
                </a:highlight>
              </a:rPr>
              <a:t> of the n subsequent lines (where </a:t>
            </a:r>
            <a:r>
              <a:rPr lang="en-US" sz="2500" b="0" i="0" dirty="0" err="1">
                <a:solidFill>
                  <a:srgbClr val="343434"/>
                </a:solidFill>
                <a:effectLst/>
                <a:highlight>
                  <a:srgbClr val="FFFFFF"/>
                </a:highlight>
              </a:rPr>
              <a:t>i</a:t>
            </a:r>
            <a:r>
              <a:rPr lang="en-US" sz="2500" b="0" i="0" dirty="0">
                <a:solidFill>
                  <a:srgbClr val="343434"/>
                </a:solidFill>
                <a:effectLst/>
                <a:highlight>
                  <a:srgbClr val="FFFFFF"/>
                </a:highlight>
              </a:rPr>
              <a:t>&lt;=0&lt;=n) contains a string usernames[</a:t>
            </a:r>
            <a:r>
              <a:rPr lang="en-US" sz="2500" b="0" i="0" dirty="0" err="1">
                <a:solidFill>
                  <a:srgbClr val="343434"/>
                </a:solidFill>
                <a:effectLst/>
                <a:highlight>
                  <a:srgbClr val="FFFFFF"/>
                </a:highlight>
              </a:rPr>
              <a:t>i</a:t>
            </a:r>
            <a:r>
              <a:rPr lang="en-US" sz="2500" b="0" i="0" dirty="0">
                <a:solidFill>
                  <a:srgbClr val="343434"/>
                </a:solidFill>
                <a:effectLst/>
                <a:highlight>
                  <a:srgbClr val="FFFFFF"/>
                </a:highlight>
              </a:rPr>
              <a:t>] representing a username request in the order received.</a:t>
            </a:r>
          </a:p>
          <a:p>
            <a:pPr marL="0" indent="0">
              <a:buNone/>
            </a:pPr>
            <a:endParaRPr lang="en-IN" sz="2500" dirty="0"/>
          </a:p>
        </p:txBody>
      </p:sp>
    </p:spTree>
    <p:extLst>
      <p:ext uri="{BB962C8B-B14F-4D97-AF65-F5344CB8AC3E}">
        <p14:creationId xmlns:p14="http://schemas.microsoft.com/office/powerpoint/2010/main" val="1281188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85188F-588C-2F30-D8B5-D16E66B8C6A8}"/>
              </a:ext>
            </a:extLst>
          </p:cNvPr>
          <p:cNvSpPr>
            <a:spLocks noGrp="1"/>
          </p:cNvSpPr>
          <p:nvPr>
            <p:ph idx="1"/>
          </p:nvPr>
        </p:nvSpPr>
        <p:spPr>
          <a:xfrm>
            <a:off x="838200" y="717754"/>
            <a:ext cx="10515600" cy="5909187"/>
          </a:xfrm>
        </p:spPr>
        <p:txBody>
          <a:bodyPr>
            <a:noAutofit/>
          </a:bodyPr>
          <a:lstStyle/>
          <a:p>
            <a:pPr marL="0" indent="0" algn="l">
              <a:spcBef>
                <a:spcPts val="0"/>
              </a:spcBef>
              <a:buNone/>
            </a:pPr>
            <a:r>
              <a:rPr lang="en-US" sz="2400" b="1" i="0" dirty="0">
                <a:solidFill>
                  <a:srgbClr val="343434"/>
                </a:solidFill>
                <a:effectLst/>
                <a:highlight>
                  <a:srgbClr val="FFFFFF"/>
                </a:highlight>
              </a:rPr>
              <a:t>Sample case :</a:t>
            </a:r>
            <a:endParaRPr lang="en-US" sz="2400" b="0" i="0" dirty="0">
              <a:solidFill>
                <a:srgbClr val="343434"/>
              </a:solidFill>
              <a:effectLst/>
              <a:highlight>
                <a:srgbClr val="FFFFFF"/>
              </a:highlight>
            </a:endParaRPr>
          </a:p>
          <a:p>
            <a:pPr marL="0" indent="0" algn="l">
              <a:spcBef>
                <a:spcPts val="0"/>
              </a:spcBef>
              <a:buNone/>
            </a:pPr>
            <a:r>
              <a:rPr lang="en-US" sz="2400" b="0" i="0" dirty="0">
                <a:solidFill>
                  <a:srgbClr val="343434"/>
                </a:solidFill>
                <a:effectLst/>
                <a:highlight>
                  <a:srgbClr val="FFFFFF"/>
                </a:highlight>
              </a:rPr>
              <a:t>4</a:t>
            </a:r>
          </a:p>
          <a:p>
            <a:pPr marL="0" indent="0" algn="l">
              <a:spcBef>
                <a:spcPts val="0"/>
              </a:spcBef>
              <a:buNone/>
            </a:pPr>
            <a:r>
              <a:rPr lang="en-US" sz="2400" b="0" i="0" dirty="0">
                <a:solidFill>
                  <a:srgbClr val="343434"/>
                </a:solidFill>
                <a:effectLst/>
                <a:highlight>
                  <a:srgbClr val="FFFFFF"/>
                </a:highlight>
              </a:rPr>
              <a:t>home </a:t>
            </a:r>
          </a:p>
          <a:p>
            <a:pPr marL="0" indent="0" algn="l">
              <a:spcBef>
                <a:spcPts val="0"/>
              </a:spcBef>
              <a:buNone/>
            </a:pPr>
            <a:r>
              <a:rPr lang="en-US" sz="2400" b="0" i="0" dirty="0">
                <a:solidFill>
                  <a:srgbClr val="343434"/>
                </a:solidFill>
                <a:effectLst/>
                <a:highlight>
                  <a:srgbClr val="FFFFFF"/>
                </a:highlight>
              </a:rPr>
              <a:t>download</a:t>
            </a:r>
          </a:p>
          <a:p>
            <a:pPr marL="0" indent="0" algn="l">
              <a:spcBef>
                <a:spcPts val="0"/>
              </a:spcBef>
              <a:buNone/>
            </a:pPr>
            <a:r>
              <a:rPr lang="en-US" sz="2400" b="0" i="0" dirty="0">
                <a:solidFill>
                  <a:srgbClr val="343434"/>
                </a:solidFill>
                <a:effectLst/>
                <a:highlight>
                  <a:srgbClr val="FFFFFF"/>
                </a:highlight>
              </a:rPr>
              <a:t>first</a:t>
            </a:r>
          </a:p>
          <a:p>
            <a:pPr marL="0" indent="0" algn="l">
              <a:spcBef>
                <a:spcPts val="0"/>
              </a:spcBef>
              <a:buNone/>
            </a:pPr>
            <a:r>
              <a:rPr lang="en-US" sz="2400" b="0" i="0" dirty="0">
                <a:solidFill>
                  <a:srgbClr val="343434"/>
                </a:solidFill>
                <a:effectLst/>
                <a:highlight>
                  <a:srgbClr val="FFFFFF"/>
                </a:highlight>
              </a:rPr>
              <a:t>first</a:t>
            </a:r>
          </a:p>
          <a:p>
            <a:pPr marL="0" indent="0" algn="l">
              <a:spcBef>
                <a:spcPts val="0"/>
              </a:spcBef>
              <a:buNone/>
            </a:pPr>
            <a:r>
              <a:rPr lang="en-US" sz="2400" b="1" i="0" dirty="0">
                <a:solidFill>
                  <a:srgbClr val="343434"/>
                </a:solidFill>
                <a:effectLst/>
                <a:highlight>
                  <a:srgbClr val="FFFFFF"/>
                </a:highlight>
              </a:rPr>
              <a:t>Sample Output :</a:t>
            </a:r>
            <a:endParaRPr lang="en-US" sz="2400" b="0" i="0" dirty="0">
              <a:solidFill>
                <a:srgbClr val="343434"/>
              </a:solidFill>
              <a:effectLst/>
              <a:highlight>
                <a:srgbClr val="FFFFFF"/>
              </a:highlight>
            </a:endParaRPr>
          </a:p>
          <a:p>
            <a:pPr marL="0" indent="0" algn="l">
              <a:spcBef>
                <a:spcPts val="0"/>
              </a:spcBef>
              <a:buNone/>
            </a:pPr>
            <a:r>
              <a:rPr lang="en-US" sz="2400" b="0" i="0" dirty="0">
                <a:solidFill>
                  <a:srgbClr val="343434"/>
                </a:solidFill>
                <a:effectLst/>
                <a:highlight>
                  <a:srgbClr val="FFFFFF"/>
                </a:highlight>
              </a:rPr>
              <a:t>home</a:t>
            </a:r>
          </a:p>
          <a:p>
            <a:pPr marL="0" indent="0" algn="l">
              <a:spcBef>
                <a:spcPts val="0"/>
              </a:spcBef>
              <a:buNone/>
            </a:pPr>
            <a:r>
              <a:rPr lang="en-US" sz="2400" b="0" i="0" dirty="0">
                <a:solidFill>
                  <a:srgbClr val="343434"/>
                </a:solidFill>
                <a:effectLst/>
                <a:highlight>
                  <a:srgbClr val="FFFFFF"/>
                </a:highlight>
              </a:rPr>
              <a:t>download</a:t>
            </a:r>
          </a:p>
          <a:p>
            <a:pPr marL="0" indent="0" algn="l">
              <a:spcBef>
                <a:spcPts val="0"/>
              </a:spcBef>
              <a:buNone/>
            </a:pPr>
            <a:r>
              <a:rPr lang="en-US" sz="2400" b="0" i="0" dirty="0">
                <a:solidFill>
                  <a:srgbClr val="343434"/>
                </a:solidFill>
                <a:effectLst/>
                <a:highlight>
                  <a:srgbClr val="FFFFFF"/>
                </a:highlight>
              </a:rPr>
              <a:t>first</a:t>
            </a:r>
          </a:p>
          <a:p>
            <a:pPr marL="0" indent="0" algn="l">
              <a:spcBef>
                <a:spcPts val="0"/>
              </a:spcBef>
              <a:buNone/>
            </a:pPr>
            <a:r>
              <a:rPr lang="en-US" sz="2400" b="0" i="0" dirty="0">
                <a:solidFill>
                  <a:srgbClr val="343434"/>
                </a:solidFill>
                <a:effectLst/>
                <a:highlight>
                  <a:srgbClr val="FFFFFF"/>
                </a:highlight>
              </a:rPr>
              <a:t>first1</a:t>
            </a:r>
          </a:p>
          <a:p>
            <a:pPr marL="0" indent="0" algn="l">
              <a:spcBef>
                <a:spcPts val="0"/>
              </a:spcBef>
              <a:buNone/>
            </a:pPr>
            <a:r>
              <a:rPr lang="en-US" sz="2400" b="1" i="0" dirty="0">
                <a:solidFill>
                  <a:srgbClr val="343434"/>
                </a:solidFill>
                <a:effectLst/>
                <a:highlight>
                  <a:srgbClr val="FFFFFF"/>
                </a:highlight>
              </a:rPr>
              <a:t>Explanation :</a:t>
            </a:r>
            <a:endParaRPr lang="en-US" sz="2400" b="0" i="0" dirty="0">
              <a:solidFill>
                <a:srgbClr val="343434"/>
              </a:solidFill>
              <a:effectLst/>
              <a:highlight>
                <a:srgbClr val="FFFFFF"/>
              </a:highlight>
            </a:endParaRPr>
          </a:p>
          <a:p>
            <a:pPr marL="0" indent="0" algn="l">
              <a:spcBef>
                <a:spcPts val="0"/>
              </a:spcBef>
              <a:buNone/>
            </a:pPr>
            <a:r>
              <a:rPr lang="en-US" sz="2400" b="0" i="0" dirty="0">
                <a:solidFill>
                  <a:srgbClr val="343434"/>
                </a:solidFill>
                <a:effectLst/>
                <a:highlight>
                  <a:srgbClr val="FFFFFF"/>
                </a:highlight>
              </a:rPr>
              <a:t>   </a:t>
            </a:r>
            <a:r>
              <a:rPr lang="en-US" sz="2400" b="0" i="0" dirty="0" err="1">
                <a:solidFill>
                  <a:srgbClr val="343434"/>
                </a:solidFill>
                <a:effectLst/>
                <a:highlight>
                  <a:srgbClr val="FFFFFF"/>
                </a:highlight>
              </a:rPr>
              <a:t>foldername</a:t>
            </a:r>
            <a:r>
              <a:rPr lang="en-US" sz="2400" b="0" i="0" dirty="0">
                <a:solidFill>
                  <a:srgbClr val="343434"/>
                </a:solidFill>
                <a:effectLst/>
                <a:highlight>
                  <a:srgbClr val="FFFFFF"/>
                </a:highlight>
              </a:rPr>
              <a:t>[0] = ‘home’ is unique</a:t>
            </a:r>
          </a:p>
          <a:p>
            <a:pPr marL="0" indent="0" algn="l">
              <a:spcBef>
                <a:spcPts val="0"/>
              </a:spcBef>
              <a:buNone/>
            </a:pPr>
            <a:r>
              <a:rPr lang="en-US" sz="2400" b="0" i="0" dirty="0">
                <a:solidFill>
                  <a:srgbClr val="343434"/>
                </a:solidFill>
                <a:effectLst/>
                <a:highlight>
                  <a:srgbClr val="FFFFFF"/>
                </a:highlight>
              </a:rPr>
              <a:t>   </a:t>
            </a:r>
            <a:r>
              <a:rPr lang="en-US" sz="2400" b="0" i="0" dirty="0" err="1">
                <a:solidFill>
                  <a:srgbClr val="343434"/>
                </a:solidFill>
                <a:effectLst/>
                <a:highlight>
                  <a:srgbClr val="FFFFFF"/>
                </a:highlight>
              </a:rPr>
              <a:t>foldername</a:t>
            </a:r>
            <a:r>
              <a:rPr lang="en-US" sz="2400" b="0" i="0" dirty="0">
                <a:solidFill>
                  <a:srgbClr val="343434"/>
                </a:solidFill>
                <a:effectLst/>
                <a:highlight>
                  <a:srgbClr val="FFFFFF"/>
                </a:highlight>
              </a:rPr>
              <a:t>[1]=’download’ is unique</a:t>
            </a:r>
          </a:p>
          <a:p>
            <a:pPr marL="0" indent="0" algn="l">
              <a:spcBef>
                <a:spcPts val="0"/>
              </a:spcBef>
              <a:buNone/>
            </a:pPr>
            <a:r>
              <a:rPr lang="en-US" sz="2400" b="0" i="0" dirty="0">
                <a:solidFill>
                  <a:srgbClr val="343434"/>
                </a:solidFill>
                <a:effectLst/>
                <a:highlight>
                  <a:srgbClr val="FFFFFF"/>
                </a:highlight>
              </a:rPr>
              <a:t>   </a:t>
            </a:r>
            <a:r>
              <a:rPr lang="en-US" sz="2400" b="0" i="0" dirty="0" err="1">
                <a:solidFill>
                  <a:srgbClr val="343434"/>
                </a:solidFill>
                <a:effectLst/>
                <a:highlight>
                  <a:srgbClr val="FFFFFF"/>
                </a:highlight>
              </a:rPr>
              <a:t>foldername</a:t>
            </a:r>
            <a:r>
              <a:rPr lang="en-US" sz="2400" b="0" i="0" dirty="0">
                <a:solidFill>
                  <a:srgbClr val="343434"/>
                </a:solidFill>
                <a:effectLst/>
                <a:highlight>
                  <a:srgbClr val="FFFFFF"/>
                </a:highlight>
              </a:rPr>
              <a:t>[2]= ‘first’ is unique</a:t>
            </a:r>
          </a:p>
          <a:p>
            <a:pPr marL="0" indent="0" algn="l">
              <a:spcBef>
                <a:spcPts val="0"/>
              </a:spcBef>
              <a:buNone/>
            </a:pPr>
            <a:r>
              <a:rPr lang="en-US" sz="2400" b="0" i="0" dirty="0">
                <a:solidFill>
                  <a:srgbClr val="343434"/>
                </a:solidFill>
                <a:effectLst/>
                <a:highlight>
                  <a:srgbClr val="FFFFFF"/>
                </a:highlight>
              </a:rPr>
              <a:t>   </a:t>
            </a:r>
            <a:r>
              <a:rPr lang="en-US" sz="2400" b="0" i="0" dirty="0" err="1">
                <a:solidFill>
                  <a:srgbClr val="343434"/>
                </a:solidFill>
                <a:effectLst/>
                <a:highlight>
                  <a:srgbClr val="FFFFFF"/>
                </a:highlight>
              </a:rPr>
              <a:t>foldername</a:t>
            </a:r>
            <a:r>
              <a:rPr lang="en-US" sz="2400" b="0" i="0" dirty="0">
                <a:solidFill>
                  <a:srgbClr val="343434"/>
                </a:solidFill>
                <a:effectLst/>
                <a:highlight>
                  <a:srgbClr val="FFFFFF"/>
                </a:highlight>
              </a:rPr>
              <a:t>[3]=’first’ is already existing . so add 1 to it and it become first1</a:t>
            </a:r>
          </a:p>
          <a:p>
            <a:pPr marL="0" indent="0">
              <a:spcBef>
                <a:spcPts val="0"/>
              </a:spcBef>
              <a:buNone/>
            </a:pPr>
            <a:endParaRPr lang="en-IN" sz="2400" dirty="0"/>
          </a:p>
        </p:txBody>
      </p:sp>
    </p:spTree>
    <p:extLst>
      <p:ext uri="{BB962C8B-B14F-4D97-AF65-F5344CB8AC3E}">
        <p14:creationId xmlns:p14="http://schemas.microsoft.com/office/powerpoint/2010/main" val="2283185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ECF919-CFD0-0BE4-1840-884295EA9FF0}"/>
              </a:ext>
            </a:extLst>
          </p:cNvPr>
          <p:cNvSpPr>
            <a:spLocks noGrp="1"/>
          </p:cNvSpPr>
          <p:nvPr>
            <p:ph idx="1"/>
          </p:nvPr>
        </p:nvSpPr>
        <p:spPr>
          <a:xfrm>
            <a:off x="838200" y="658761"/>
            <a:ext cx="10515600" cy="5518202"/>
          </a:xfrm>
        </p:spPr>
        <p:txBody>
          <a:bodyPr>
            <a:normAutofit/>
          </a:bodyPr>
          <a:lstStyle/>
          <a:p>
            <a:pPr marL="0" indent="0">
              <a:buNone/>
            </a:pPr>
            <a:r>
              <a:rPr lang="en-IN" sz="2400" b="1" dirty="0"/>
              <a:t>n=int(input())</a:t>
            </a:r>
          </a:p>
          <a:p>
            <a:pPr marL="0" indent="0">
              <a:buNone/>
            </a:pPr>
            <a:r>
              <a:rPr lang="en-IN" sz="2400" b="1" dirty="0" err="1"/>
              <a:t>arr</a:t>
            </a:r>
            <a:r>
              <a:rPr lang="en-IN" sz="2400" b="1" dirty="0"/>
              <a:t>=[]</a:t>
            </a:r>
          </a:p>
          <a:p>
            <a:pPr marL="0" indent="0">
              <a:buNone/>
            </a:pPr>
            <a:r>
              <a:rPr lang="en-IN" sz="2400" b="1" dirty="0" err="1"/>
              <a:t>ans</a:t>
            </a:r>
            <a:r>
              <a:rPr lang="en-IN" sz="2400" b="1" dirty="0"/>
              <a:t>=""</a:t>
            </a:r>
          </a:p>
          <a:p>
            <a:pPr marL="0" indent="0">
              <a:buNone/>
            </a:pPr>
            <a:r>
              <a:rPr lang="en-IN" sz="2400" b="1" dirty="0"/>
              <a:t>for </a:t>
            </a:r>
            <a:r>
              <a:rPr lang="en-IN" sz="2400" b="1" dirty="0" err="1"/>
              <a:t>i</a:t>
            </a:r>
            <a:r>
              <a:rPr lang="en-IN" sz="2400" b="1" dirty="0"/>
              <a:t> in range(n):</a:t>
            </a:r>
          </a:p>
          <a:p>
            <a:pPr marL="0" indent="0">
              <a:buNone/>
            </a:pPr>
            <a:r>
              <a:rPr lang="en-IN" sz="2400" b="1" dirty="0"/>
              <a:t>    </a:t>
            </a:r>
            <a:r>
              <a:rPr lang="en-IN" sz="2400" b="1" dirty="0" err="1"/>
              <a:t>arr.append</a:t>
            </a:r>
            <a:r>
              <a:rPr lang="en-IN" sz="2400" b="1" dirty="0"/>
              <a:t>(input())</a:t>
            </a:r>
          </a:p>
          <a:p>
            <a:pPr marL="0" indent="0">
              <a:buNone/>
            </a:pPr>
            <a:r>
              <a:rPr lang="en-IN" sz="2400" b="1" dirty="0"/>
              <a:t>print()</a:t>
            </a:r>
          </a:p>
          <a:p>
            <a:pPr marL="0" indent="0">
              <a:buNone/>
            </a:pPr>
            <a:r>
              <a:rPr lang="en-IN" sz="2400" b="1" dirty="0"/>
              <a:t>for </a:t>
            </a:r>
            <a:r>
              <a:rPr lang="en-IN" sz="2400" b="1" dirty="0" err="1"/>
              <a:t>i</a:t>
            </a:r>
            <a:r>
              <a:rPr lang="en-IN" sz="2400" b="1" dirty="0"/>
              <a:t> in range(n):</a:t>
            </a:r>
          </a:p>
          <a:p>
            <a:pPr marL="0" indent="0">
              <a:buNone/>
            </a:pPr>
            <a:r>
              <a:rPr lang="en-IN" sz="2400" b="1" dirty="0"/>
              <a:t>    if </a:t>
            </a:r>
            <a:r>
              <a:rPr lang="en-IN" sz="2400" b="1" dirty="0" err="1"/>
              <a:t>arr</a:t>
            </a:r>
            <a:r>
              <a:rPr lang="en-IN" sz="2400" b="1" dirty="0"/>
              <a:t>[:i+1].count(</a:t>
            </a:r>
            <a:r>
              <a:rPr lang="en-IN" sz="2400" b="1" dirty="0" err="1"/>
              <a:t>arr</a:t>
            </a:r>
            <a:r>
              <a:rPr lang="en-IN" sz="2400" b="1" dirty="0"/>
              <a:t>[</a:t>
            </a:r>
            <a:r>
              <a:rPr lang="en-IN" sz="2400" b="1" dirty="0" err="1"/>
              <a:t>i</a:t>
            </a:r>
            <a:r>
              <a:rPr lang="en-IN" sz="2400" b="1" dirty="0"/>
              <a:t>])&gt;1:</a:t>
            </a:r>
          </a:p>
          <a:p>
            <a:pPr marL="0" indent="0">
              <a:buNone/>
            </a:pPr>
            <a:r>
              <a:rPr lang="en-IN" sz="2400" b="1" dirty="0"/>
              <a:t>        </a:t>
            </a:r>
            <a:r>
              <a:rPr lang="en-IN" sz="2400" b="1" dirty="0" err="1"/>
              <a:t>ans</a:t>
            </a:r>
            <a:r>
              <a:rPr lang="en-IN" sz="2400" b="1" dirty="0"/>
              <a:t>=</a:t>
            </a:r>
            <a:r>
              <a:rPr lang="en-IN" sz="2400" b="1" dirty="0" err="1"/>
              <a:t>arr</a:t>
            </a:r>
            <a:r>
              <a:rPr lang="en-IN" sz="2400" b="1" dirty="0"/>
              <a:t>[</a:t>
            </a:r>
            <a:r>
              <a:rPr lang="en-IN" sz="2400" b="1" dirty="0" err="1"/>
              <a:t>i</a:t>
            </a:r>
            <a:r>
              <a:rPr lang="en-IN" sz="2400" b="1" dirty="0"/>
              <a:t>]+str(</a:t>
            </a:r>
            <a:r>
              <a:rPr lang="en-IN" sz="2400" b="1" dirty="0" err="1"/>
              <a:t>arr</a:t>
            </a:r>
            <a:r>
              <a:rPr lang="en-IN" sz="2400" b="1" dirty="0"/>
              <a:t>[:i+1].count(</a:t>
            </a:r>
            <a:r>
              <a:rPr lang="en-IN" sz="2400" b="1" dirty="0" err="1"/>
              <a:t>arr</a:t>
            </a:r>
            <a:r>
              <a:rPr lang="en-IN" sz="2400" b="1" dirty="0"/>
              <a:t>[</a:t>
            </a:r>
            <a:r>
              <a:rPr lang="en-IN" sz="2400" b="1" dirty="0" err="1"/>
              <a:t>i</a:t>
            </a:r>
            <a:r>
              <a:rPr lang="en-IN" sz="2400" b="1" dirty="0"/>
              <a:t>])-1)</a:t>
            </a:r>
          </a:p>
          <a:p>
            <a:pPr marL="0" indent="0">
              <a:buNone/>
            </a:pPr>
            <a:r>
              <a:rPr lang="en-IN" sz="2400" b="1" dirty="0"/>
              <a:t>    else:</a:t>
            </a:r>
          </a:p>
          <a:p>
            <a:pPr marL="0" indent="0">
              <a:buNone/>
            </a:pPr>
            <a:r>
              <a:rPr lang="en-IN" sz="2400" b="1" dirty="0"/>
              <a:t>        </a:t>
            </a:r>
            <a:r>
              <a:rPr lang="en-IN" sz="2400" b="1" dirty="0" err="1"/>
              <a:t>ans</a:t>
            </a:r>
            <a:r>
              <a:rPr lang="en-IN" sz="2400" b="1" dirty="0"/>
              <a:t>=</a:t>
            </a:r>
            <a:r>
              <a:rPr lang="en-IN" sz="2400" b="1" dirty="0" err="1"/>
              <a:t>arr</a:t>
            </a:r>
            <a:r>
              <a:rPr lang="en-IN" sz="2400" b="1" dirty="0"/>
              <a:t>[</a:t>
            </a:r>
            <a:r>
              <a:rPr lang="en-IN" sz="2400" b="1" dirty="0" err="1"/>
              <a:t>i</a:t>
            </a:r>
            <a:r>
              <a:rPr lang="en-IN" sz="2400" b="1" dirty="0"/>
              <a:t>]</a:t>
            </a:r>
          </a:p>
          <a:p>
            <a:pPr marL="0" indent="0">
              <a:buNone/>
            </a:pPr>
            <a:r>
              <a:rPr lang="en-IN" sz="2400" b="1" dirty="0"/>
              <a:t>    print(</a:t>
            </a:r>
            <a:r>
              <a:rPr lang="en-IN" sz="2400" b="1" dirty="0" err="1"/>
              <a:t>ans</a:t>
            </a:r>
            <a:r>
              <a:rPr lang="en-IN" sz="2400" b="1" dirty="0"/>
              <a:t>)</a:t>
            </a:r>
          </a:p>
        </p:txBody>
      </p:sp>
    </p:spTree>
    <p:extLst>
      <p:ext uri="{BB962C8B-B14F-4D97-AF65-F5344CB8AC3E}">
        <p14:creationId xmlns:p14="http://schemas.microsoft.com/office/powerpoint/2010/main" val="18288502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7D3A4-A612-87E7-8BD3-9C7311E4181F}"/>
              </a:ext>
            </a:extLst>
          </p:cNvPr>
          <p:cNvSpPr>
            <a:spLocks noGrp="1"/>
          </p:cNvSpPr>
          <p:nvPr>
            <p:ph type="title"/>
          </p:nvPr>
        </p:nvSpPr>
        <p:spPr>
          <a:xfrm>
            <a:off x="838200" y="196646"/>
            <a:ext cx="10515600" cy="629264"/>
          </a:xfrm>
        </p:spPr>
        <p:txBody>
          <a:bodyPr>
            <a:normAutofit/>
          </a:bodyPr>
          <a:lstStyle/>
          <a:p>
            <a:r>
              <a:rPr lang="en-US" sz="3000" b="1" dirty="0">
                <a:solidFill>
                  <a:srgbClr val="FF0000"/>
                </a:solidFill>
                <a:latin typeface="+mn-lt"/>
              </a:rPr>
              <a:t>Problem Statement 8: </a:t>
            </a:r>
            <a:r>
              <a:rPr lang="en-US" sz="3000" b="1" i="0" dirty="0">
                <a:solidFill>
                  <a:srgbClr val="FF0000"/>
                </a:solidFill>
                <a:effectLst/>
                <a:highlight>
                  <a:srgbClr val="FFFFFF"/>
                </a:highlight>
                <a:latin typeface="+mn-lt"/>
              </a:rPr>
              <a:t>Maximum Attendance</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D07D0E10-6882-DAFC-1DC0-1CF6ABC91FD1}"/>
              </a:ext>
            </a:extLst>
          </p:cNvPr>
          <p:cNvSpPr>
            <a:spLocks noGrp="1"/>
          </p:cNvSpPr>
          <p:nvPr>
            <p:ph idx="1"/>
          </p:nvPr>
        </p:nvSpPr>
        <p:spPr>
          <a:xfrm>
            <a:off x="838200" y="825910"/>
            <a:ext cx="10515600" cy="5835444"/>
          </a:xfrm>
        </p:spPr>
        <p:txBody>
          <a:bodyPr>
            <a:noAutofit/>
          </a:bodyPr>
          <a:lstStyle/>
          <a:p>
            <a:pPr marL="0" indent="0" algn="l">
              <a:buNone/>
            </a:pPr>
            <a:r>
              <a:rPr lang="en-US" sz="2400" b="0" i="0" dirty="0">
                <a:solidFill>
                  <a:srgbClr val="343434"/>
                </a:solidFill>
                <a:effectLst/>
                <a:highlight>
                  <a:srgbClr val="FFFFFF"/>
                </a:highlight>
              </a:rPr>
              <a:t>A teacher wants to look at students’ attendance data. Given that there is a class , and the teacher has the record of the students present on n days of the month, find the maximum number of consecutive days on which all students were present in the class.</a:t>
            </a:r>
          </a:p>
          <a:p>
            <a:pPr marL="0" indent="0" algn="l">
              <a:buNone/>
            </a:pPr>
            <a:r>
              <a:rPr lang="en-US" sz="2400" b="1" i="0" dirty="0">
                <a:solidFill>
                  <a:srgbClr val="343434"/>
                </a:solidFill>
                <a:effectLst/>
                <a:highlight>
                  <a:srgbClr val="FFFFFF"/>
                </a:highlight>
              </a:rPr>
              <a:t>Example</a:t>
            </a:r>
            <a:endParaRPr lang="en-US" sz="2400" b="0" i="0" dirty="0">
              <a:solidFill>
                <a:srgbClr val="343434"/>
              </a:solidFill>
              <a:effectLst/>
              <a:highlight>
                <a:srgbClr val="FFFFFF"/>
              </a:highlight>
            </a:endParaRPr>
          </a:p>
          <a:p>
            <a:pPr marL="0" indent="0" algn="l">
              <a:buNone/>
            </a:pPr>
            <a:r>
              <a:rPr lang="en-US" sz="2400" b="0" i="0" dirty="0">
                <a:solidFill>
                  <a:srgbClr val="343434"/>
                </a:solidFill>
                <a:effectLst/>
                <a:highlight>
                  <a:srgbClr val="FFFFFF"/>
                </a:highlight>
              </a:rPr>
              <a:t>m=4</a:t>
            </a:r>
          </a:p>
          <a:p>
            <a:pPr marL="0" indent="0" algn="l">
              <a:buNone/>
            </a:pPr>
            <a:r>
              <a:rPr lang="en-US" sz="2400" b="0" i="0" dirty="0">
                <a:solidFill>
                  <a:srgbClr val="343434"/>
                </a:solidFill>
                <a:effectLst/>
                <a:highlight>
                  <a:srgbClr val="FFFFFF"/>
                </a:highlight>
              </a:rPr>
              <a:t>n=7</a:t>
            </a:r>
          </a:p>
          <a:p>
            <a:pPr marL="0" indent="0" algn="l">
              <a:buNone/>
            </a:pPr>
            <a:r>
              <a:rPr lang="en-US" sz="2400" b="0" i="0" dirty="0">
                <a:solidFill>
                  <a:srgbClr val="343434"/>
                </a:solidFill>
                <a:effectLst/>
                <a:highlight>
                  <a:srgbClr val="FFFFFF"/>
                </a:highlight>
              </a:rPr>
              <a:t>data=[PPPP, PPPP ,PPPP ,PPAP ,AAPP ,PAPA ,AAAA]</a:t>
            </a:r>
          </a:p>
          <a:p>
            <a:pPr marL="0" indent="0" algn="l">
              <a:buNone/>
            </a:pPr>
            <a:r>
              <a:rPr lang="en-US" sz="2400" b="0" i="0" dirty="0">
                <a:solidFill>
                  <a:srgbClr val="343434"/>
                </a:solidFill>
                <a:effectLst/>
                <a:highlight>
                  <a:srgbClr val="FFFFFF"/>
                </a:highlight>
              </a:rPr>
              <a:t>There are 4 students and 7 days attendance data . There are only three days, at the beginning where all students are present. Student 3 is absent on the fourth day , and students 1 and 2 are absent on the fifth day , and students 2 and 4 are absent on the sixth day and all are absent on the last day.</a:t>
            </a:r>
          </a:p>
          <a:p>
            <a:pPr marL="0" indent="0" algn="l">
              <a:buNone/>
            </a:pPr>
            <a:r>
              <a:rPr lang="en-US" sz="2400" b="0" i="0" dirty="0">
                <a:solidFill>
                  <a:srgbClr val="343434"/>
                </a:solidFill>
                <a:effectLst/>
                <a:highlight>
                  <a:srgbClr val="FFFFFF"/>
                </a:highlight>
              </a:rPr>
              <a:t>The maximum number of consecutive days on which all the students were present in the class is 3 days long.</a:t>
            </a:r>
          </a:p>
          <a:p>
            <a:pPr marL="0" indent="0">
              <a:buNone/>
            </a:pPr>
            <a:endParaRPr lang="en-IN" sz="2400" dirty="0"/>
          </a:p>
        </p:txBody>
      </p:sp>
    </p:spTree>
    <p:extLst>
      <p:ext uri="{BB962C8B-B14F-4D97-AF65-F5344CB8AC3E}">
        <p14:creationId xmlns:p14="http://schemas.microsoft.com/office/powerpoint/2010/main" val="454362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85188F-588C-2F30-D8B5-D16E66B8C6A8}"/>
              </a:ext>
            </a:extLst>
          </p:cNvPr>
          <p:cNvSpPr>
            <a:spLocks noGrp="1"/>
          </p:cNvSpPr>
          <p:nvPr>
            <p:ph idx="1"/>
          </p:nvPr>
        </p:nvSpPr>
        <p:spPr>
          <a:xfrm>
            <a:off x="513735" y="304800"/>
            <a:ext cx="10515600" cy="6223819"/>
          </a:xfrm>
        </p:spPr>
        <p:txBody>
          <a:bodyPr>
            <a:noAutofit/>
          </a:bodyPr>
          <a:lstStyle/>
          <a:p>
            <a:pPr marL="0" indent="0" algn="l">
              <a:spcBef>
                <a:spcPts val="0"/>
              </a:spcBef>
              <a:buNone/>
            </a:pPr>
            <a:r>
              <a:rPr lang="en-US" sz="2400" b="1" i="0" dirty="0">
                <a:solidFill>
                  <a:srgbClr val="343434"/>
                </a:solidFill>
                <a:effectLst/>
                <a:highlight>
                  <a:srgbClr val="FFFFFF"/>
                </a:highlight>
              </a:rPr>
              <a:t>Function Description :</a:t>
            </a:r>
            <a:endParaRPr lang="en-US" sz="2400" b="0" i="0" dirty="0">
              <a:solidFill>
                <a:srgbClr val="343434"/>
              </a:solidFill>
              <a:effectLst/>
              <a:highlight>
                <a:srgbClr val="FFFFFF"/>
              </a:highlight>
            </a:endParaRPr>
          </a:p>
          <a:p>
            <a:pPr marL="0" indent="0" algn="l">
              <a:spcBef>
                <a:spcPts val="0"/>
              </a:spcBef>
              <a:buNone/>
            </a:pPr>
            <a:r>
              <a:rPr lang="en-US" sz="2400" b="0" i="0" dirty="0">
                <a:solidFill>
                  <a:srgbClr val="343434"/>
                </a:solidFill>
                <a:effectLst/>
                <a:highlight>
                  <a:srgbClr val="FFFFFF"/>
                </a:highlight>
              </a:rPr>
              <a:t>Complete the </a:t>
            </a:r>
            <a:r>
              <a:rPr lang="en-US" sz="2400" b="0" i="0" dirty="0" err="1">
                <a:solidFill>
                  <a:srgbClr val="343434"/>
                </a:solidFill>
                <a:effectLst/>
                <a:highlight>
                  <a:srgbClr val="FFFFFF"/>
                </a:highlight>
              </a:rPr>
              <a:t>maxConsecutive</a:t>
            </a:r>
            <a:r>
              <a:rPr lang="en-US" sz="2400" b="0" i="0" dirty="0">
                <a:solidFill>
                  <a:srgbClr val="343434"/>
                </a:solidFill>
                <a:effectLst/>
                <a:highlight>
                  <a:srgbClr val="FFFFFF"/>
                </a:highlight>
              </a:rPr>
              <a:t> function in the editor below. The function must return an integer denoting the maximum number of consecutive days where all the students are present in the class.</a:t>
            </a:r>
          </a:p>
          <a:p>
            <a:pPr marL="0" indent="0" algn="l">
              <a:spcBef>
                <a:spcPts val="0"/>
              </a:spcBef>
              <a:buNone/>
            </a:pPr>
            <a:r>
              <a:rPr lang="en-US" sz="2400" b="0" i="0" dirty="0">
                <a:solidFill>
                  <a:srgbClr val="343434"/>
                </a:solidFill>
                <a:effectLst/>
                <a:highlight>
                  <a:srgbClr val="FFFFFF"/>
                </a:highlight>
              </a:rPr>
              <a:t>int m : the number of students in the class.</a:t>
            </a:r>
          </a:p>
          <a:p>
            <a:pPr marL="0" indent="0" algn="l">
              <a:spcBef>
                <a:spcPts val="0"/>
              </a:spcBef>
              <a:buNone/>
            </a:pPr>
            <a:r>
              <a:rPr lang="en-US" sz="2400" b="0" i="0" dirty="0">
                <a:solidFill>
                  <a:srgbClr val="343434"/>
                </a:solidFill>
                <a:effectLst/>
                <a:highlight>
                  <a:srgbClr val="FFFFFF"/>
                </a:highlight>
              </a:rPr>
              <a:t>string data[n] : the value of each element data[</a:t>
            </a:r>
            <a:r>
              <a:rPr lang="en-US" sz="2400" b="0" i="0" dirty="0" err="1">
                <a:solidFill>
                  <a:srgbClr val="343434"/>
                </a:solidFill>
                <a:effectLst/>
                <a:highlight>
                  <a:srgbClr val="FFFFFF"/>
                </a:highlight>
              </a:rPr>
              <a:t>i</a:t>
            </a:r>
            <a:r>
              <a:rPr lang="en-US" sz="2400" b="0" i="0" dirty="0">
                <a:solidFill>
                  <a:srgbClr val="343434"/>
                </a:solidFill>
                <a:effectLst/>
                <a:highlight>
                  <a:srgbClr val="FFFFFF"/>
                </a:highlight>
              </a:rPr>
              <a:t>] is a</a:t>
            </a:r>
          </a:p>
          <a:p>
            <a:pPr marL="0" indent="0" algn="l">
              <a:spcBef>
                <a:spcPts val="0"/>
              </a:spcBef>
              <a:buNone/>
            </a:pPr>
            <a:r>
              <a:rPr lang="en-US" sz="2400" b="0" i="0" dirty="0">
                <a:solidFill>
                  <a:srgbClr val="343434"/>
                </a:solidFill>
                <a:effectLst/>
                <a:highlight>
                  <a:srgbClr val="FFFFFF"/>
                </a:highlight>
              </a:rPr>
              <a:t>string where data[</a:t>
            </a:r>
            <a:r>
              <a:rPr lang="en-US" sz="2400" b="0" i="0" dirty="0" err="1">
                <a:solidFill>
                  <a:srgbClr val="343434"/>
                </a:solidFill>
                <a:effectLst/>
                <a:highlight>
                  <a:srgbClr val="FFFFFF"/>
                </a:highlight>
              </a:rPr>
              <a:t>i</a:t>
            </a:r>
            <a:r>
              <a:rPr lang="en-US" sz="2400" b="0" i="0" dirty="0">
                <a:solidFill>
                  <a:srgbClr val="343434"/>
                </a:solidFill>
                <a:effectLst/>
                <a:highlight>
                  <a:srgbClr val="FFFFFF"/>
                </a:highlight>
              </a:rPr>
              <a:t>] denotes </a:t>
            </a:r>
            <a:r>
              <a:rPr lang="en-US" sz="2400" b="0" i="0" dirty="0" err="1">
                <a:solidFill>
                  <a:srgbClr val="343434"/>
                </a:solidFill>
                <a:effectLst/>
                <a:highlight>
                  <a:srgbClr val="FFFFFF"/>
                </a:highlight>
              </a:rPr>
              <a:t>ith</a:t>
            </a:r>
            <a:r>
              <a:rPr lang="en-US" sz="2400" b="0" i="0" dirty="0">
                <a:solidFill>
                  <a:srgbClr val="343434"/>
                </a:solidFill>
                <a:effectLst/>
                <a:highlight>
                  <a:srgbClr val="FFFFFF"/>
                </a:highlight>
              </a:rPr>
              <a:t> student is present on the </a:t>
            </a:r>
            <a:r>
              <a:rPr lang="en-US" sz="2400" b="0" i="0" dirty="0" err="1">
                <a:solidFill>
                  <a:srgbClr val="343434"/>
                </a:solidFill>
                <a:effectLst/>
                <a:highlight>
                  <a:srgbClr val="FFFFFF"/>
                </a:highlight>
              </a:rPr>
              <a:t>ith</a:t>
            </a:r>
            <a:r>
              <a:rPr lang="en-US" sz="2400" b="0" i="0" dirty="0">
                <a:solidFill>
                  <a:srgbClr val="343434"/>
                </a:solidFill>
                <a:effectLst/>
                <a:highlight>
                  <a:srgbClr val="FFFFFF"/>
                </a:highlight>
              </a:rPr>
              <a:t> day.</a:t>
            </a:r>
          </a:p>
          <a:p>
            <a:pPr marL="0" indent="0" algn="l">
              <a:spcBef>
                <a:spcPts val="0"/>
              </a:spcBef>
              <a:buNone/>
            </a:pPr>
            <a:r>
              <a:rPr lang="en-US" sz="2400" b="1" i="0" dirty="0">
                <a:solidFill>
                  <a:srgbClr val="343434"/>
                </a:solidFill>
                <a:effectLst/>
                <a:highlight>
                  <a:srgbClr val="FFFFFF"/>
                </a:highlight>
              </a:rPr>
              <a:t>Input Format :</a:t>
            </a:r>
            <a:endParaRPr lang="en-US" sz="2400" b="0" i="0" dirty="0">
              <a:solidFill>
                <a:srgbClr val="343434"/>
              </a:solidFill>
              <a:effectLst/>
              <a:highlight>
                <a:srgbClr val="FFFFFF"/>
              </a:highlight>
            </a:endParaRPr>
          </a:p>
          <a:p>
            <a:pPr marL="0" indent="0" algn="l">
              <a:spcBef>
                <a:spcPts val="0"/>
              </a:spcBef>
              <a:buNone/>
            </a:pPr>
            <a:r>
              <a:rPr lang="en-US" sz="2400" b="0" i="0" dirty="0">
                <a:solidFill>
                  <a:srgbClr val="343434"/>
                </a:solidFill>
                <a:effectLst/>
                <a:highlight>
                  <a:srgbClr val="FFFFFF"/>
                </a:highlight>
              </a:rPr>
              <a:t>3</a:t>
            </a:r>
          </a:p>
          <a:p>
            <a:pPr marL="0" indent="0" algn="l">
              <a:spcBef>
                <a:spcPts val="0"/>
              </a:spcBef>
              <a:buNone/>
            </a:pPr>
            <a:r>
              <a:rPr lang="en-US" sz="2400" b="0" i="0" dirty="0">
                <a:solidFill>
                  <a:srgbClr val="343434"/>
                </a:solidFill>
                <a:effectLst/>
                <a:highlight>
                  <a:srgbClr val="FFFFFF"/>
                </a:highlight>
              </a:rPr>
              <a:t>4</a:t>
            </a:r>
          </a:p>
          <a:p>
            <a:pPr marL="0" indent="0" algn="l">
              <a:spcBef>
                <a:spcPts val="0"/>
              </a:spcBef>
              <a:buNone/>
            </a:pPr>
            <a:r>
              <a:rPr lang="en-US" sz="2400" b="0" i="0" dirty="0">
                <a:solidFill>
                  <a:srgbClr val="343434"/>
                </a:solidFill>
                <a:effectLst/>
                <a:highlight>
                  <a:srgbClr val="FFFFFF"/>
                </a:highlight>
              </a:rPr>
              <a:t>PPP </a:t>
            </a:r>
          </a:p>
          <a:p>
            <a:pPr marL="0" indent="0" algn="l">
              <a:spcBef>
                <a:spcPts val="0"/>
              </a:spcBef>
              <a:buNone/>
            </a:pPr>
            <a:r>
              <a:rPr lang="en-US" sz="2400" b="0" i="0" dirty="0">
                <a:solidFill>
                  <a:srgbClr val="343434"/>
                </a:solidFill>
                <a:effectLst/>
                <a:highlight>
                  <a:srgbClr val="FFFFFF"/>
                </a:highlight>
              </a:rPr>
              <a:t>PPA</a:t>
            </a:r>
          </a:p>
          <a:p>
            <a:pPr marL="0" indent="0" algn="l">
              <a:spcBef>
                <a:spcPts val="0"/>
              </a:spcBef>
              <a:buNone/>
            </a:pPr>
            <a:r>
              <a:rPr lang="en-US" sz="2400" b="0" i="0" dirty="0">
                <a:solidFill>
                  <a:srgbClr val="343434"/>
                </a:solidFill>
                <a:effectLst/>
                <a:highlight>
                  <a:srgbClr val="FFFFFF"/>
                </a:highlight>
              </a:rPr>
              <a:t>AAP</a:t>
            </a:r>
          </a:p>
          <a:p>
            <a:pPr marL="0" indent="0" algn="l">
              <a:spcBef>
                <a:spcPts val="0"/>
              </a:spcBef>
              <a:buNone/>
            </a:pPr>
            <a:r>
              <a:rPr lang="en-US" sz="2400" b="1" i="0" dirty="0">
                <a:solidFill>
                  <a:srgbClr val="343434"/>
                </a:solidFill>
                <a:effectLst/>
                <a:highlight>
                  <a:srgbClr val="FFFFFF"/>
                </a:highlight>
              </a:rPr>
              <a:t>Sample Output:</a:t>
            </a:r>
            <a:br>
              <a:rPr lang="en-US" sz="2400" b="0" i="0" dirty="0">
                <a:solidFill>
                  <a:srgbClr val="343434"/>
                </a:solidFill>
                <a:effectLst/>
                <a:highlight>
                  <a:srgbClr val="FFFFFF"/>
                </a:highlight>
              </a:rPr>
            </a:br>
            <a:r>
              <a:rPr lang="en-US" sz="2400" b="0" i="0" dirty="0">
                <a:solidFill>
                  <a:srgbClr val="343434"/>
                </a:solidFill>
                <a:effectLst/>
                <a:highlight>
                  <a:srgbClr val="FFFFFF"/>
                </a:highlight>
              </a:rPr>
              <a:t>1</a:t>
            </a:r>
          </a:p>
          <a:p>
            <a:pPr marL="0" indent="0" algn="l">
              <a:spcBef>
                <a:spcPts val="0"/>
              </a:spcBef>
              <a:buNone/>
            </a:pPr>
            <a:r>
              <a:rPr lang="en-US" sz="2400" b="1" i="0" dirty="0">
                <a:solidFill>
                  <a:srgbClr val="343434"/>
                </a:solidFill>
                <a:effectLst/>
                <a:highlight>
                  <a:srgbClr val="FFFFFF"/>
                </a:highlight>
              </a:rPr>
              <a:t>Explanation :</a:t>
            </a:r>
            <a:br>
              <a:rPr lang="en-US" sz="2400" b="0" i="0" dirty="0">
                <a:solidFill>
                  <a:srgbClr val="343434"/>
                </a:solidFill>
                <a:effectLst/>
                <a:highlight>
                  <a:srgbClr val="FFFFFF"/>
                </a:highlight>
              </a:rPr>
            </a:br>
            <a:r>
              <a:rPr lang="en-US" sz="2400" b="0" i="0" dirty="0">
                <a:solidFill>
                  <a:srgbClr val="343434"/>
                </a:solidFill>
                <a:effectLst/>
                <a:highlight>
                  <a:srgbClr val="FFFFFF"/>
                </a:highlight>
              </a:rPr>
              <a:t>There is only one day in which all the students are present.</a:t>
            </a:r>
          </a:p>
          <a:p>
            <a:pPr marL="0" indent="0">
              <a:spcBef>
                <a:spcPts val="0"/>
              </a:spcBef>
              <a:buNone/>
            </a:pPr>
            <a:endParaRPr lang="en-IN" sz="2400" dirty="0"/>
          </a:p>
        </p:txBody>
      </p:sp>
    </p:spTree>
    <p:extLst>
      <p:ext uri="{BB962C8B-B14F-4D97-AF65-F5344CB8AC3E}">
        <p14:creationId xmlns:p14="http://schemas.microsoft.com/office/powerpoint/2010/main" val="26113228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ECF919-CFD0-0BE4-1840-884295EA9FF0}"/>
              </a:ext>
            </a:extLst>
          </p:cNvPr>
          <p:cNvSpPr>
            <a:spLocks noGrp="1"/>
          </p:cNvSpPr>
          <p:nvPr>
            <p:ph idx="1"/>
          </p:nvPr>
        </p:nvSpPr>
        <p:spPr>
          <a:xfrm>
            <a:off x="710381" y="285135"/>
            <a:ext cx="10515600" cy="6066504"/>
          </a:xfrm>
        </p:spPr>
        <p:txBody>
          <a:bodyPr>
            <a:noAutofit/>
          </a:bodyPr>
          <a:lstStyle/>
          <a:p>
            <a:pPr marL="0" indent="0">
              <a:spcBef>
                <a:spcPts val="0"/>
              </a:spcBef>
              <a:buNone/>
            </a:pPr>
            <a:r>
              <a:rPr lang="en-IN" sz="2400" b="1" dirty="0"/>
              <a:t>import re</a:t>
            </a:r>
          </a:p>
          <a:p>
            <a:pPr marL="0" indent="0">
              <a:spcBef>
                <a:spcPts val="0"/>
              </a:spcBef>
              <a:buNone/>
            </a:pPr>
            <a:endParaRPr lang="en-IN" sz="2400" b="1" dirty="0"/>
          </a:p>
          <a:p>
            <a:pPr marL="0" indent="0">
              <a:spcBef>
                <a:spcPts val="0"/>
              </a:spcBef>
              <a:buNone/>
            </a:pPr>
            <a:r>
              <a:rPr lang="en-IN" sz="2400" b="1" dirty="0"/>
              <a:t>m, n = map(int, input().split())</a:t>
            </a:r>
          </a:p>
          <a:p>
            <a:pPr marL="0" indent="0">
              <a:spcBef>
                <a:spcPts val="0"/>
              </a:spcBef>
              <a:buNone/>
            </a:pPr>
            <a:r>
              <a:rPr lang="en-IN" sz="2400" b="1" dirty="0" err="1"/>
              <a:t>attendance_records</a:t>
            </a:r>
            <a:r>
              <a:rPr lang="en-IN" sz="2400" b="1" dirty="0"/>
              <a:t> = [input() for _ in range(n)]</a:t>
            </a:r>
          </a:p>
          <a:p>
            <a:pPr marL="0" indent="0">
              <a:spcBef>
                <a:spcPts val="0"/>
              </a:spcBef>
              <a:buNone/>
            </a:pPr>
            <a:endParaRPr lang="en-IN" sz="2400" b="1" dirty="0"/>
          </a:p>
          <a:p>
            <a:pPr marL="0" indent="0">
              <a:spcBef>
                <a:spcPts val="0"/>
              </a:spcBef>
              <a:buNone/>
            </a:pPr>
            <a:r>
              <a:rPr lang="en-IN" sz="2400" b="1" dirty="0" err="1"/>
              <a:t>max_consecutive_present</a:t>
            </a:r>
            <a:r>
              <a:rPr lang="en-IN" sz="2400" b="1" dirty="0"/>
              <a:t> = 0</a:t>
            </a:r>
          </a:p>
          <a:p>
            <a:pPr marL="0" indent="0">
              <a:spcBef>
                <a:spcPts val="0"/>
              </a:spcBef>
              <a:buNone/>
            </a:pPr>
            <a:r>
              <a:rPr lang="en-IN" sz="2400" b="1" dirty="0" err="1"/>
              <a:t>current_consecutive_present</a:t>
            </a:r>
            <a:r>
              <a:rPr lang="en-IN" sz="2400" b="1" dirty="0"/>
              <a:t> = 0</a:t>
            </a:r>
          </a:p>
          <a:p>
            <a:pPr marL="0" indent="0">
              <a:spcBef>
                <a:spcPts val="0"/>
              </a:spcBef>
              <a:buNone/>
            </a:pPr>
            <a:endParaRPr lang="en-IN" sz="2400" b="1" dirty="0"/>
          </a:p>
          <a:p>
            <a:pPr marL="0" indent="0">
              <a:spcBef>
                <a:spcPts val="0"/>
              </a:spcBef>
              <a:buNone/>
            </a:pPr>
            <a:r>
              <a:rPr lang="en-IN" sz="2400" b="1" dirty="0"/>
              <a:t>for record in </a:t>
            </a:r>
            <a:r>
              <a:rPr lang="en-IN" sz="2400" b="1" dirty="0" err="1"/>
              <a:t>attendance_records</a:t>
            </a:r>
            <a:r>
              <a:rPr lang="en-IN" sz="2400" b="1" dirty="0"/>
              <a:t>:</a:t>
            </a:r>
          </a:p>
          <a:p>
            <a:pPr marL="0" indent="0">
              <a:spcBef>
                <a:spcPts val="0"/>
              </a:spcBef>
              <a:buNone/>
            </a:pPr>
            <a:r>
              <a:rPr lang="en-IN" sz="2400" b="1" dirty="0"/>
              <a:t>    if record == 'P' * m:</a:t>
            </a:r>
          </a:p>
          <a:p>
            <a:pPr marL="0" indent="0">
              <a:spcBef>
                <a:spcPts val="0"/>
              </a:spcBef>
              <a:buNone/>
            </a:pPr>
            <a:r>
              <a:rPr lang="en-IN" sz="2400" b="1" dirty="0"/>
              <a:t>        </a:t>
            </a:r>
            <a:r>
              <a:rPr lang="en-IN" sz="2400" b="1" dirty="0" err="1"/>
              <a:t>current_consecutive_present</a:t>
            </a:r>
            <a:r>
              <a:rPr lang="en-IN" sz="2400" b="1" dirty="0"/>
              <a:t> += 1</a:t>
            </a:r>
          </a:p>
          <a:p>
            <a:pPr marL="0" indent="0">
              <a:spcBef>
                <a:spcPts val="0"/>
              </a:spcBef>
              <a:buNone/>
            </a:pPr>
            <a:r>
              <a:rPr lang="en-IN" sz="2400" b="1" dirty="0"/>
              <a:t>    else:</a:t>
            </a:r>
          </a:p>
          <a:p>
            <a:pPr marL="0" indent="0">
              <a:spcBef>
                <a:spcPts val="0"/>
              </a:spcBef>
              <a:buNone/>
            </a:pPr>
            <a:r>
              <a:rPr lang="en-IN" sz="2400" b="1" dirty="0"/>
              <a:t>        </a:t>
            </a:r>
            <a:r>
              <a:rPr lang="en-IN" sz="2400" b="1" dirty="0" err="1"/>
              <a:t>max_consecutive_present</a:t>
            </a:r>
            <a:r>
              <a:rPr lang="en-IN" sz="2400" b="1" dirty="0"/>
              <a:t> = max(</a:t>
            </a:r>
            <a:r>
              <a:rPr lang="en-IN" sz="2400" b="1" dirty="0" err="1"/>
              <a:t>max_consecutive_present</a:t>
            </a:r>
            <a:r>
              <a:rPr lang="en-IN" sz="2400" b="1" dirty="0"/>
              <a:t>, </a:t>
            </a:r>
            <a:r>
              <a:rPr lang="en-IN" sz="2400" b="1" dirty="0" err="1"/>
              <a:t>current_consecutive_present</a:t>
            </a:r>
            <a:r>
              <a:rPr lang="en-IN" sz="2400" b="1" dirty="0"/>
              <a:t>)</a:t>
            </a:r>
          </a:p>
          <a:p>
            <a:pPr marL="0" indent="0">
              <a:spcBef>
                <a:spcPts val="0"/>
              </a:spcBef>
              <a:buNone/>
            </a:pPr>
            <a:r>
              <a:rPr lang="en-IN" sz="2400" b="1" dirty="0"/>
              <a:t>        </a:t>
            </a:r>
            <a:r>
              <a:rPr lang="en-IN" sz="2400" b="1" dirty="0" err="1"/>
              <a:t>current_consecutive_present</a:t>
            </a:r>
            <a:r>
              <a:rPr lang="en-IN" sz="2400" b="1" dirty="0"/>
              <a:t> = 0</a:t>
            </a:r>
          </a:p>
          <a:p>
            <a:pPr marL="0" indent="0">
              <a:spcBef>
                <a:spcPts val="0"/>
              </a:spcBef>
              <a:buNone/>
            </a:pPr>
            <a:endParaRPr lang="en-IN" sz="2400" b="1" dirty="0"/>
          </a:p>
          <a:p>
            <a:pPr marL="0" indent="0">
              <a:spcBef>
                <a:spcPts val="0"/>
              </a:spcBef>
              <a:buNone/>
            </a:pPr>
            <a:r>
              <a:rPr lang="en-IN" sz="2400" b="1" dirty="0"/>
              <a:t>print(</a:t>
            </a:r>
            <a:r>
              <a:rPr lang="en-IN" sz="2400" b="1" dirty="0" err="1"/>
              <a:t>max_consecutive_present</a:t>
            </a:r>
            <a:r>
              <a:rPr lang="en-IN" sz="2400" b="1" dirty="0"/>
              <a:t>)</a:t>
            </a:r>
          </a:p>
          <a:p>
            <a:pPr marL="0" indent="0">
              <a:spcBef>
                <a:spcPts val="0"/>
              </a:spcBef>
              <a:buNone/>
            </a:pPr>
            <a:endParaRPr lang="en-IN" sz="2400" b="1" dirty="0"/>
          </a:p>
          <a:p>
            <a:pPr marL="0" indent="0">
              <a:spcBef>
                <a:spcPts val="0"/>
              </a:spcBef>
              <a:buNone/>
            </a:pPr>
            <a:endParaRPr lang="en-IN" sz="2400" b="1" dirty="0"/>
          </a:p>
        </p:txBody>
      </p:sp>
    </p:spTree>
    <p:extLst>
      <p:ext uri="{BB962C8B-B14F-4D97-AF65-F5344CB8AC3E}">
        <p14:creationId xmlns:p14="http://schemas.microsoft.com/office/powerpoint/2010/main" val="16151242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7D3A4-A612-87E7-8BD3-9C7311E4181F}"/>
              </a:ext>
            </a:extLst>
          </p:cNvPr>
          <p:cNvSpPr>
            <a:spLocks noGrp="1"/>
          </p:cNvSpPr>
          <p:nvPr>
            <p:ph type="title"/>
          </p:nvPr>
        </p:nvSpPr>
        <p:spPr>
          <a:xfrm>
            <a:off x="838200" y="285135"/>
            <a:ext cx="10515600" cy="530942"/>
          </a:xfrm>
        </p:spPr>
        <p:txBody>
          <a:bodyPr>
            <a:normAutofit/>
          </a:bodyPr>
          <a:lstStyle/>
          <a:p>
            <a:r>
              <a:rPr lang="en-US" sz="3000" b="1" dirty="0">
                <a:solidFill>
                  <a:srgbClr val="FF0000"/>
                </a:solidFill>
                <a:latin typeface="+mn-lt"/>
              </a:rPr>
              <a:t>Problem Statement 9: </a:t>
            </a:r>
            <a:r>
              <a:rPr lang="en-US" sz="3000" b="1" i="0" dirty="0">
                <a:solidFill>
                  <a:srgbClr val="FF0000"/>
                </a:solidFill>
                <a:effectLst/>
                <a:highlight>
                  <a:srgbClr val="FFFFFF"/>
                </a:highlight>
                <a:latin typeface="+mn-lt"/>
              </a:rPr>
              <a:t>jumble the words</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D07D0E10-6882-DAFC-1DC0-1CF6ABC91FD1}"/>
              </a:ext>
            </a:extLst>
          </p:cNvPr>
          <p:cNvSpPr>
            <a:spLocks noGrp="1"/>
          </p:cNvSpPr>
          <p:nvPr>
            <p:ph idx="1"/>
          </p:nvPr>
        </p:nvSpPr>
        <p:spPr>
          <a:xfrm>
            <a:off x="838200" y="1061601"/>
            <a:ext cx="10515600" cy="4734797"/>
          </a:xfrm>
        </p:spPr>
        <p:txBody>
          <a:bodyPr>
            <a:normAutofit/>
          </a:bodyPr>
          <a:lstStyle/>
          <a:p>
            <a:pPr marL="0" indent="0" algn="l">
              <a:buNone/>
            </a:pPr>
            <a:r>
              <a:rPr lang="en-US" sz="2400" b="1" i="0" dirty="0">
                <a:solidFill>
                  <a:srgbClr val="343434"/>
                </a:solidFill>
                <a:effectLst/>
                <a:highlight>
                  <a:srgbClr val="FFFFFF"/>
                </a:highlight>
              </a:rPr>
              <a:t>Confuse your friends by jumbling the two words given to you. To don’t get yourself into confusion follow a pattern to jumble the letters.</a:t>
            </a:r>
            <a:br>
              <a:rPr lang="en-US" sz="2400" b="1" i="0" dirty="0">
                <a:solidFill>
                  <a:srgbClr val="343434"/>
                </a:solidFill>
                <a:effectLst/>
                <a:highlight>
                  <a:srgbClr val="FFFFFF"/>
                </a:highlight>
              </a:rPr>
            </a:br>
            <a:r>
              <a:rPr lang="en-US" sz="2400" b="1" i="0" dirty="0">
                <a:solidFill>
                  <a:srgbClr val="343434"/>
                </a:solidFill>
                <a:effectLst/>
                <a:highlight>
                  <a:srgbClr val="FFFFFF"/>
                </a:highlight>
              </a:rPr>
              <a:t>Pattern to be followed is , pick a character from the first word and pick another character from the second word.</a:t>
            </a:r>
            <a:br>
              <a:rPr lang="en-US" sz="2400" b="1" i="0" dirty="0">
                <a:solidFill>
                  <a:srgbClr val="343434"/>
                </a:solidFill>
                <a:effectLst/>
                <a:highlight>
                  <a:srgbClr val="FFFFFF"/>
                </a:highlight>
              </a:rPr>
            </a:br>
            <a:r>
              <a:rPr lang="en-US" sz="2400" b="1" i="0" dirty="0">
                <a:solidFill>
                  <a:srgbClr val="343434"/>
                </a:solidFill>
                <a:effectLst/>
                <a:highlight>
                  <a:srgbClr val="FFFFFF"/>
                </a:highlight>
              </a:rPr>
              <a:t>Continue this process</a:t>
            </a:r>
          </a:p>
          <a:p>
            <a:pPr marL="0" indent="0" algn="l">
              <a:buNone/>
            </a:pPr>
            <a:r>
              <a:rPr lang="en-US" sz="2400" b="1" i="0" dirty="0">
                <a:solidFill>
                  <a:srgbClr val="343434"/>
                </a:solidFill>
                <a:effectLst/>
                <a:highlight>
                  <a:srgbClr val="FFFFFF"/>
                </a:highlight>
              </a:rPr>
              <a:t>Take two strings as input , create a new string by picking a letter from string1 and then from string2, repeat this until both strings are finished and maintain the subsequence. If one of the strings is exhausted before the other, append the remaining letters from the other string all at once.</a:t>
            </a:r>
          </a:p>
        </p:txBody>
      </p:sp>
    </p:spTree>
    <p:extLst>
      <p:ext uri="{BB962C8B-B14F-4D97-AF65-F5344CB8AC3E}">
        <p14:creationId xmlns:p14="http://schemas.microsoft.com/office/powerpoint/2010/main" val="39629601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85188F-588C-2F30-D8B5-D16E66B8C6A8}"/>
              </a:ext>
            </a:extLst>
          </p:cNvPr>
          <p:cNvSpPr>
            <a:spLocks noGrp="1"/>
          </p:cNvSpPr>
          <p:nvPr>
            <p:ph idx="1"/>
          </p:nvPr>
        </p:nvSpPr>
        <p:spPr>
          <a:xfrm>
            <a:off x="838200" y="540774"/>
            <a:ext cx="10515600" cy="6017342"/>
          </a:xfrm>
        </p:spPr>
        <p:txBody>
          <a:bodyPr>
            <a:noAutofit/>
          </a:bodyPr>
          <a:lstStyle/>
          <a:p>
            <a:pPr marL="0" indent="0">
              <a:spcBef>
                <a:spcPts val="0"/>
              </a:spcBef>
              <a:buNone/>
            </a:pPr>
            <a:r>
              <a:rPr lang="en-IN" sz="2400" b="1" dirty="0"/>
              <a:t>def </a:t>
            </a:r>
            <a:r>
              <a:rPr lang="en-IN" sz="2400" b="1" dirty="0" err="1"/>
              <a:t>newPassword</a:t>
            </a:r>
            <a:r>
              <a:rPr lang="en-IN" sz="2400" b="1" dirty="0"/>
              <a:t>(</a:t>
            </a:r>
            <a:r>
              <a:rPr lang="en-IN" sz="2400" b="1" dirty="0" err="1"/>
              <a:t>a,b</a:t>
            </a:r>
            <a:r>
              <a:rPr lang="en-IN" sz="2400" b="1" dirty="0"/>
              <a:t>):</a:t>
            </a:r>
          </a:p>
          <a:p>
            <a:pPr marL="0" indent="0">
              <a:spcBef>
                <a:spcPts val="0"/>
              </a:spcBef>
              <a:buNone/>
            </a:pPr>
            <a:r>
              <a:rPr lang="en-IN" sz="2400" b="1" dirty="0"/>
              <a:t>    </a:t>
            </a:r>
            <a:r>
              <a:rPr lang="en-IN" sz="2400" b="1" dirty="0" err="1"/>
              <a:t>ans</a:t>
            </a:r>
            <a:r>
              <a:rPr lang="en-IN" sz="2400" b="1" dirty="0"/>
              <a:t>=""</a:t>
            </a:r>
          </a:p>
          <a:p>
            <a:pPr marL="0" indent="0">
              <a:spcBef>
                <a:spcPts val="0"/>
              </a:spcBef>
              <a:buNone/>
            </a:pPr>
            <a:r>
              <a:rPr lang="en-IN" sz="2400" b="1" dirty="0"/>
              <a:t>    if(</a:t>
            </a:r>
            <a:r>
              <a:rPr lang="en-IN" sz="2400" b="1" dirty="0" err="1"/>
              <a:t>len</a:t>
            </a:r>
            <a:r>
              <a:rPr lang="en-IN" sz="2400" b="1" dirty="0"/>
              <a:t>(a)&gt;</a:t>
            </a:r>
            <a:r>
              <a:rPr lang="en-IN" sz="2400" b="1" dirty="0" err="1"/>
              <a:t>len</a:t>
            </a:r>
            <a:r>
              <a:rPr lang="en-IN" sz="2400" b="1" dirty="0"/>
              <a:t>(b)):</a:t>
            </a:r>
          </a:p>
          <a:p>
            <a:pPr marL="0" indent="0">
              <a:spcBef>
                <a:spcPts val="0"/>
              </a:spcBef>
              <a:buNone/>
            </a:pPr>
            <a:r>
              <a:rPr lang="en-IN" sz="2400" b="1" dirty="0"/>
              <a:t>        m=</a:t>
            </a:r>
            <a:r>
              <a:rPr lang="en-IN" sz="2400" b="1" dirty="0" err="1"/>
              <a:t>len</a:t>
            </a:r>
            <a:r>
              <a:rPr lang="en-IN" sz="2400" b="1" dirty="0"/>
              <a:t>(b)</a:t>
            </a:r>
          </a:p>
          <a:p>
            <a:pPr marL="0" indent="0">
              <a:spcBef>
                <a:spcPts val="0"/>
              </a:spcBef>
              <a:buNone/>
            </a:pPr>
            <a:r>
              <a:rPr lang="en-IN" sz="2400" b="1" dirty="0"/>
              <a:t>        x=a[m:]</a:t>
            </a:r>
          </a:p>
          <a:p>
            <a:pPr marL="0" indent="0">
              <a:spcBef>
                <a:spcPts val="0"/>
              </a:spcBef>
              <a:buNone/>
            </a:pPr>
            <a:r>
              <a:rPr lang="en-IN" sz="2400" b="1" dirty="0"/>
              <a:t>    if(</a:t>
            </a:r>
            <a:r>
              <a:rPr lang="en-IN" sz="2400" b="1" dirty="0" err="1"/>
              <a:t>len</a:t>
            </a:r>
            <a:r>
              <a:rPr lang="en-IN" sz="2400" b="1" dirty="0"/>
              <a:t>(a)&lt;=</a:t>
            </a:r>
            <a:r>
              <a:rPr lang="en-IN" sz="2400" b="1" dirty="0" err="1"/>
              <a:t>len</a:t>
            </a:r>
            <a:r>
              <a:rPr lang="en-IN" sz="2400" b="1" dirty="0"/>
              <a:t>(b)):</a:t>
            </a:r>
          </a:p>
          <a:p>
            <a:pPr marL="0" indent="0">
              <a:spcBef>
                <a:spcPts val="0"/>
              </a:spcBef>
              <a:buNone/>
            </a:pPr>
            <a:r>
              <a:rPr lang="en-IN" sz="2400" b="1" dirty="0"/>
              <a:t>        m=</a:t>
            </a:r>
            <a:r>
              <a:rPr lang="en-IN" sz="2400" b="1" dirty="0" err="1"/>
              <a:t>len</a:t>
            </a:r>
            <a:r>
              <a:rPr lang="en-IN" sz="2400" b="1" dirty="0"/>
              <a:t>(a)</a:t>
            </a:r>
          </a:p>
          <a:p>
            <a:pPr marL="0" indent="0">
              <a:spcBef>
                <a:spcPts val="0"/>
              </a:spcBef>
              <a:buNone/>
            </a:pPr>
            <a:r>
              <a:rPr lang="en-IN" sz="2400" b="1" dirty="0"/>
              <a:t>        x=b[m:]</a:t>
            </a:r>
          </a:p>
          <a:p>
            <a:pPr marL="0" indent="0">
              <a:spcBef>
                <a:spcPts val="0"/>
              </a:spcBef>
              <a:buNone/>
            </a:pPr>
            <a:r>
              <a:rPr lang="en-IN" sz="2400" b="1" dirty="0"/>
              <a:t>    for </a:t>
            </a:r>
            <a:r>
              <a:rPr lang="en-IN" sz="2400" b="1" dirty="0" err="1"/>
              <a:t>i</a:t>
            </a:r>
            <a:r>
              <a:rPr lang="en-IN" sz="2400" b="1" dirty="0"/>
              <a:t> in range(m):</a:t>
            </a:r>
          </a:p>
          <a:p>
            <a:pPr marL="0" indent="0">
              <a:spcBef>
                <a:spcPts val="0"/>
              </a:spcBef>
              <a:buNone/>
            </a:pPr>
            <a:r>
              <a:rPr lang="en-IN" sz="2400" b="1" dirty="0"/>
              <a:t>        </a:t>
            </a:r>
            <a:r>
              <a:rPr lang="en-IN" sz="2400" b="1" dirty="0" err="1"/>
              <a:t>ans</a:t>
            </a:r>
            <a:r>
              <a:rPr lang="en-IN" sz="2400" b="1" dirty="0"/>
              <a:t>+=a[</a:t>
            </a:r>
            <a:r>
              <a:rPr lang="en-IN" sz="2400" b="1" dirty="0" err="1"/>
              <a:t>i</a:t>
            </a:r>
            <a:r>
              <a:rPr lang="en-IN" sz="2400" b="1" dirty="0"/>
              <a:t>]</a:t>
            </a:r>
          </a:p>
          <a:p>
            <a:pPr marL="0" indent="0">
              <a:spcBef>
                <a:spcPts val="0"/>
              </a:spcBef>
              <a:buNone/>
            </a:pPr>
            <a:r>
              <a:rPr lang="en-IN" sz="2400" b="1" dirty="0"/>
              <a:t>        </a:t>
            </a:r>
            <a:r>
              <a:rPr lang="en-IN" sz="2400" b="1" dirty="0" err="1"/>
              <a:t>ans</a:t>
            </a:r>
            <a:r>
              <a:rPr lang="en-IN" sz="2400" b="1" dirty="0"/>
              <a:t>+=b[</a:t>
            </a:r>
            <a:r>
              <a:rPr lang="en-IN" sz="2400" b="1" dirty="0" err="1"/>
              <a:t>i</a:t>
            </a:r>
            <a:r>
              <a:rPr lang="en-IN" sz="2400" b="1" dirty="0"/>
              <a:t>]</a:t>
            </a:r>
          </a:p>
          <a:p>
            <a:pPr marL="0" indent="0">
              <a:spcBef>
                <a:spcPts val="0"/>
              </a:spcBef>
              <a:buNone/>
            </a:pPr>
            <a:r>
              <a:rPr lang="en-IN" sz="2400" b="1" dirty="0"/>
              <a:t>    </a:t>
            </a:r>
          </a:p>
          <a:p>
            <a:pPr marL="0" indent="0">
              <a:spcBef>
                <a:spcPts val="0"/>
              </a:spcBef>
              <a:buNone/>
            </a:pPr>
            <a:r>
              <a:rPr lang="en-IN" sz="2400" b="1" dirty="0"/>
              <a:t>    return </a:t>
            </a:r>
            <a:r>
              <a:rPr lang="en-IN" sz="2400" b="1" dirty="0" err="1"/>
              <a:t>ans+x</a:t>
            </a:r>
            <a:r>
              <a:rPr lang="en-IN" sz="2400" b="1" dirty="0"/>
              <a:t> </a:t>
            </a:r>
          </a:p>
          <a:p>
            <a:pPr marL="0" indent="0">
              <a:spcBef>
                <a:spcPts val="0"/>
              </a:spcBef>
              <a:buNone/>
            </a:pPr>
            <a:r>
              <a:rPr lang="en-IN" sz="2400" b="1" dirty="0"/>
              <a:t>    </a:t>
            </a:r>
          </a:p>
          <a:p>
            <a:pPr marL="0" indent="0">
              <a:spcBef>
                <a:spcPts val="0"/>
              </a:spcBef>
              <a:buNone/>
            </a:pPr>
            <a:r>
              <a:rPr lang="en-IN" sz="2400" b="1" dirty="0"/>
              <a:t>a=input()</a:t>
            </a:r>
          </a:p>
          <a:p>
            <a:pPr marL="0" indent="0">
              <a:spcBef>
                <a:spcPts val="0"/>
              </a:spcBef>
              <a:buNone/>
            </a:pPr>
            <a:r>
              <a:rPr lang="en-IN" sz="2400" b="1" dirty="0"/>
              <a:t>b=input()</a:t>
            </a:r>
          </a:p>
          <a:p>
            <a:pPr marL="0" indent="0">
              <a:spcBef>
                <a:spcPts val="0"/>
              </a:spcBef>
              <a:buNone/>
            </a:pPr>
            <a:r>
              <a:rPr lang="en-IN" sz="2400" b="1" dirty="0"/>
              <a:t>print(</a:t>
            </a:r>
            <a:r>
              <a:rPr lang="en-IN" sz="2400" b="1" dirty="0" err="1"/>
              <a:t>newPassword</a:t>
            </a:r>
            <a:r>
              <a:rPr lang="en-IN" sz="2400" b="1" dirty="0"/>
              <a:t>(</a:t>
            </a:r>
            <a:r>
              <a:rPr lang="en-IN" sz="2400" b="1" dirty="0" err="1"/>
              <a:t>a,b</a:t>
            </a:r>
            <a:r>
              <a:rPr lang="en-IN" sz="2400" b="1" dirty="0"/>
              <a:t>))</a:t>
            </a:r>
          </a:p>
        </p:txBody>
      </p:sp>
    </p:spTree>
    <p:extLst>
      <p:ext uri="{BB962C8B-B14F-4D97-AF65-F5344CB8AC3E}">
        <p14:creationId xmlns:p14="http://schemas.microsoft.com/office/powerpoint/2010/main" val="36779556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95889-AC83-9D2E-0347-E604FE2295DE}"/>
              </a:ext>
            </a:extLst>
          </p:cNvPr>
          <p:cNvSpPr>
            <a:spLocks noGrp="1"/>
          </p:cNvSpPr>
          <p:nvPr>
            <p:ph type="title"/>
          </p:nvPr>
        </p:nvSpPr>
        <p:spPr>
          <a:xfrm>
            <a:off x="838200" y="265471"/>
            <a:ext cx="10515600" cy="629264"/>
          </a:xfrm>
        </p:spPr>
        <p:txBody>
          <a:bodyPr>
            <a:normAutofit/>
          </a:bodyPr>
          <a:lstStyle/>
          <a:p>
            <a:r>
              <a:rPr lang="en-US" sz="3000" b="1" dirty="0">
                <a:solidFill>
                  <a:srgbClr val="FF0000"/>
                </a:solidFill>
                <a:latin typeface="+mn-lt"/>
              </a:rPr>
              <a:t>Problem Statement 10</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D9ECF919-CFD0-0BE4-1840-884295EA9FF0}"/>
              </a:ext>
            </a:extLst>
          </p:cNvPr>
          <p:cNvSpPr>
            <a:spLocks noGrp="1"/>
          </p:cNvSpPr>
          <p:nvPr>
            <p:ph idx="1"/>
          </p:nvPr>
        </p:nvSpPr>
        <p:spPr>
          <a:xfrm>
            <a:off x="838200" y="894734"/>
            <a:ext cx="10515600" cy="5889523"/>
          </a:xfrm>
        </p:spPr>
        <p:txBody>
          <a:bodyPr>
            <a:noAutofit/>
          </a:bodyPr>
          <a:lstStyle/>
          <a:p>
            <a:pPr marL="0" indent="0">
              <a:spcBef>
                <a:spcPts val="600"/>
              </a:spcBef>
              <a:buNone/>
            </a:pPr>
            <a:r>
              <a:rPr lang="en-US" sz="2400" dirty="0"/>
              <a:t>You are given a string. Split the string on a " " (space) delimiter and join using a - hyphen.</a:t>
            </a:r>
          </a:p>
          <a:p>
            <a:pPr marL="0" indent="0">
              <a:spcBef>
                <a:spcPts val="600"/>
              </a:spcBef>
              <a:buNone/>
            </a:pPr>
            <a:r>
              <a:rPr lang="en-US" sz="2400" b="1" dirty="0"/>
              <a:t>Function Description</a:t>
            </a:r>
          </a:p>
          <a:p>
            <a:pPr marL="0" indent="0">
              <a:spcBef>
                <a:spcPts val="600"/>
              </a:spcBef>
              <a:buNone/>
            </a:pPr>
            <a:r>
              <a:rPr lang="en-US" sz="2400" dirty="0"/>
              <a:t>Complete the </a:t>
            </a:r>
            <a:r>
              <a:rPr lang="en-US" sz="2400" dirty="0" err="1"/>
              <a:t>split_and_join</a:t>
            </a:r>
            <a:r>
              <a:rPr lang="en-US" sz="2400" dirty="0"/>
              <a:t> function in the editor below.</a:t>
            </a:r>
          </a:p>
          <a:p>
            <a:pPr marL="0" indent="0">
              <a:spcBef>
                <a:spcPts val="600"/>
              </a:spcBef>
              <a:buNone/>
            </a:pPr>
            <a:r>
              <a:rPr lang="en-US" sz="2400" dirty="0" err="1"/>
              <a:t>split_and_join</a:t>
            </a:r>
            <a:r>
              <a:rPr lang="en-US" sz="2400" dirty="0"/>
              <a:t> has the following parameters:</a:t>
            </a:r>
          </a:p>
          <a:p>
            <a:pPr marL="0" indent="0">
              <a:spcBef>
                <a:spcPts val="600"/>
              </a:spcBef>
              <a:buNone/>
            </a:pPr>
            <a:r>
              <a:rPr lang="en-US" sz="2400" dirty="0"/>
              <a:t>string line: a string of space-separated words</a:t>
            </a:r>
          </a:p>
          <a:p>
            <a:pPr marL="0" indent="0">
              <a:spcBef>
                <a:spcPts val="600"/>
              </a:spcBef>
              <a:buNone/>
            </a:pPr>
            <a:r>
              <a:rPr lang="en-US" sz="2400" dirty="0"/>
              <a:t>Returns</a:t>
            </a:r>
          </a:p>
          <a:p>
            <a:pPr marL="0" indent="0">
              <a:spcBef>
                <a:spcPts val="600"/>
              </a:spcBef>
              <a:buNone/>
            </a:pPr>
            <a:r>
              <a:rPr lang="en-US" sz="2400" dirty="0"/>
              <a:t>string: the resulting string</a:t>
            </a:r>
          </a:p>
          <a:p>
            <a:pPr marL="0" indent="0">
              <a:spcBef>
                <a:spcPts val="600"/>
              </a:spcBef>
              <a:buNone/>
            </a:pPr>
            <a:r>
              <a:rPr lang="en-US" sz="2400" b="1" dirty="0"/>
              <a:t>Input Format</a:t>
            </a:r>
          </a:p>
          <a:p>
            <a:pPr marL="0" indent="0">
              <a:spcBef>
                <a:spcPts val="600"/>
              </a:spcBef>
              <a:buNone/>
            </a:pPr>
            <a:r>
              <a:rPr lang="en-US" sz="2400" dirty="0"/>
              <a:t>The one line contains a string consisting of space-separated words.</a:t>
            </a:r>
          </a:p>
          <a:p>
            <a:pPr marL="0" indent="0">
              <a:spcBef>
                <a:spcPts val="600"/>
              </a:spcBef>
              <a:buNone/>
            </a:pPr>
            <a:r>
              <a:rPr lang="en-US" sz="2400" dirty="0"/>
              <a:t>Sample Input</a:t>
            </a:r>
          </a:p>
          <a:p>
            <a:pPr marL="0" indent="0">
              <a:spcBef>
                <a:spcPts val="600"/>
              </a:spcBef>
              <a:buNone/>
            </a:pPr>
            <a:r>
              <a:rPr lang="en-US" sz="2400" dirty="0"/>
              <a:t>this is a string</a:t>
            </a:r>
          </a:p>
          <a:p>
            <a:pPr marL="0" indent="0">
              <a:spcBef>
                <a:spcPts val="600"/>
              </a:spcBef>
              <a:buNone/>
            </a:pPr>
            <a:r>
              <a:rPr lang="en-US" sz="2400" dirty="0"/>
              <a:t>Sample Output</a:t>
            </a:r>
          </a:p>
          <a:p>
            <a:pPr marL="0" indent="0">
              <a:spcBef>
                <a:spcPts val="600"/>
              </a:spcBef>
              <a:buNone/>
            </a:pPr>
            <a:r>
              <a:rPr lang="en-US" sz="2400" dirty="0"/>
              <a:t>this-is-a-string</a:t>
            </a:r>
            <a:endParaRPr lang="en-IN" sz="2400" dirty="0"/>
          </a:p>
        </p:txBody>
      </p:sp>
    </p:spTree>
    <p:extLst>
      <p:ext uri="{BB962C8B-B14F-4D97-AF65-F5344CB8AC3E}">
        <p14:creationId xmlns:p14="http://schemas.microsoft.com/office/powerpoint/2010/main" val="2143657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D0E10-6882-DAFC-1DC0-1CF6ABC91FD1}"/>
              </a:ext>
            </a:extLst>
          </p:cNvPr>
          <p:cNvSpPr>
            <a:spLocks noGrp="1"/>
          </p:cNvSpPr>
          <p:nvPr>
            <p:ph idx="1"/>
          </p:nvPr>
        </p:nvSpPr>
        <p:spPr>
          <a:xfrm>
            <a:off x="838200" y="629265"/>
            <a:ext cx="10515600" cy="5547698"/>
          </a:xfrm>
        </p:spPr>
        <p:txBody>
          <a:bodyPr>
            <a:noAutofit/>
          </a:bodyPr>
          <a:lstStyle/>
          <a:p>
            <a:pPr marL="0" indent="0">
              <a:spcBef>
                <a:spcPts val="0"/>
              </a:spcBef>
              <a:buNone/>
            </a:pPr>
            <a:r>
              <a:rPr lang="en-US" sz="2400" b="1" dirty="0"/>
              <a:t>def </a:t>
            </a:r>
            <a:r>
              <a:rPr lang="en-US" sz="2400" b="1" dirty="0" err="1"/>
              <a:t>split_and_join</a:t>
            </a:r>
            <a:r>
              <a:rPr lang="en-US" sz="2400" b="1" dirty="0"/>
              <a:t>(line):</a:t>
            </a:r>
          </a:p>
          <a:p>
            <a:pPr marL="0" indent="0">
              <a:spcBef>
                <a:spcPts val="0"/>
              </a:spcBef>
              <a:buNone/>
            </a:pPr>
            <a:endParaRPr lang="en-US" sz="2400" b="1" dirty="0"/>
          </a:p>
          <a:p>
            <a:pPr marL="0" indent="0">
              <a:spcBef>
                <a:spcPts val="0"/>
              </a:spcBef>
              <a:buNone/>
            </a:pPr>
            <a:r>
              <a:rPr lang="en-US" sz="2400" b="1" dirty="0"/>
              <a:t>    # write your code here</a:t>
            </a:r>
          </a:p>
          <a:p>
            <a:pPr marL="0" indent="0">
              <a:spcBef>
                <a:spcPts val="0"/>
              </a:spcBef>
              <a:buNone/>
            </a:pPr>
            <a:endParaRPr lang="en-US" sz="2400" b="1" dirty="0"/>
          </a:p>
          <a:p>
            <a:pPr marL="0" indent="0">
              <a:spcBef>
                <a:spcPts val="0"/>
              </a:spcBef>
              <a:buNone/>
            </a:pPr>
            <a:r>
              <a:rPr lang="en-US" sz="2400" b="1" dirty="0"/>
              <a:t>    a = </a:t>
            </a:r>
            <a:r>
              <a:rPr lang="en-US" sz="2400" b="1" dirty="0" err="1"/>
              <a:t>line.split</a:t>
            </a:r>
            <a:r>
              <a:rPr lang="en-US" sz="2400" b="1" dirty="0"/>
              <a:t>(" ")</a:t>
            </a:r>
          </a:p>
          <a:p>
            <a:pPr marL="0" indent="0">
              <a:spcBef>
                <a:spcPts val="0"/>
              </a:spcBef>
              <a:buNone/>
            </a:pPr>
            <a:endParaRPr lang="en-US" sz="2400" b="1" dirty="0"/>
          </a:p>
          <a:p>
            <a:pPr marL="0" indent="0">
              <a:spcBef>
                <a:spcPts val="0"/>
              </a:spcBef>
              <a:buNone/>
            </a:pPr>
            <a:r>
              <a:rPr lang="en-US" sz="2400" b="1" dirty="0"/>
              <a:t>    b = "-".join(a)</a:t>
            </a:r>
          </a:p>
          <a:p>
            <a:pPr marL="0" indent="0">
              <a:spcBef>
                <a:spcPts val="0"/>
              </a:spcBef>
              <a:buNone/>
            </a:pPr>
            <a:endParaRPr lang="en-US" sz="2400" b="1" dirty="0"/>
          </a:p>
          <a:p>
            <a:pPr marL="0" indent="0">
              <a:spcBef>
                <a:spcPts val="0"/>
              </a:spcBef>
              <a:buNone/>
            </a:pPr>
            <a:r>
              <a:rPr lang="en-US" sz="2400" b="1" dirty="0"/>
              <a:t>    return(b)</a:t>
            </a:r>
          </a:p>
          <a:p>
            <a:pPr marL="0" indent="0">
              <a:spcBef>
                <a:spcPts val="0"/>
              </a:spcBef>
              <a:buNone/>
            </a:pPr>
            <a:endParaRPr lang="en-US" sz="2400" b="1" dirty="0"/>
          </a:p>
          <a:p>
            <a:pPr marL="0" indent="0">
              <a:spcBef>
                <a:spcPts val="0"/>
              </a:spcBef>
              <a:buNone/>
            </a:pPr>
            <a:r>
              <a:rPr lang="en-US" sz="2400" b="1" dirty="0"/>
              <a:t>if __name__ == '__main__':</a:t>
            </a:r>
          </a:p>
          <a:p>
            <a:pPr marL="0" indent="0">
              <a:spcBef>
                <a:spcPts val="0"/>
              </a:spcBef>
              <a:buNone/>
            </a:pPr>
            <a:endParaRPr lang="en-US" sz="2400" b="1" dirty="0"/>
          </a:p>
          <a:p>
            <a:pPr marL="0" indent="0">
              <a:spcBef>
                <a:spcPts val="0"/>
              </a:spcBef>
              <a:buNone/>
            </a:pPr>
            <a:r>
              <a:rPr lang="en-US" sz="2400" b="1" dirty="0"/>
              <a:t>    line = input()</a:t>
            </a:r>
          </a:p>
          <a:p>
            <a:pPr marL="0" indent="0">
              <a:spcBef>
                <a:spcPts val="0"/>
              </a:spcBef>
              <a:buNone/>
            </a:pPr>
            <a:endParaRPr lang="en-US" sz="2400" b="1" dirty="0"/>
          </a:p>
          <a:p>
            <a:pPr marL="0" indent="0">
              <a:spcBef>
                <a:spcPts val="0"/>
              </a:spcBef>
              <a:buNone/>
            </a:pPr>
            <a:r>
              <a:rPr lang="en-US" sz="2400" b="1" dirty="0"/>
              <a:t>    result = </a:t>
            </a:r>
            <a:r>
              <a:rPr lang="en-US" sz="2400" b="1" dirty="0" err="1"/>
              <a:t>split_and_join</a:t>
            </a:r>
            <a:r>
              <a:rPr lang="en-US" sz="2400" b="1" dirty="0"/>
              <a:t>(line)</a:t>
            </a:r>
          </a:p>
          <a:p>
            <a:pPr marL="0" indent="0">
              <a:spcBef>
                <a:spcPts val="0"/>
              </a:spcBef>
              <a:buNone/>
            </a:pPr>
            <a:endParaRPr lang="en-US" sz="2400" b="1" dirty="0"/>
          </a:p>
          <a:p>
            <a:pPr marL="0" indent="0">
              <a:spcBef>
                <a:spcPts val="0"/>
              </a:spcBef>
              <a:buNone/>
            </a:pPr>
            <a:r>
              <a:rPr lang="en-US" sz="2400" b="1" dirty="0"/>
              <a:t>    print(result)</a:t>
            </a:r>
            <a:endParaRPr lang="en-IN" sz="2400" b="1" dirty="0"/>
          </a:p>
        </p:txBody>
      </p:sp>
    </p:spTree>
    <p:extLst>
      <p:ext uri="{BB962C8B-B14F-4D97-AF65-F5344CB8AC3E}">
        <p14:creationId xmlns:p14="http://schemas.microsoft.com/office/powerpoint/2010/main" val="26541601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95061-E2B3-2D4F-9B7A-72F41B93CD92}"/>
              </a:ext>
            </a:extLst>
          </p:cNvPr>
          <p:cNvSpPr>
            <a:spLocks noGrp="1"/>
          </p:cNvSpPr>
          <p:nvPr>
            <p:ph type="title"/>
          </p:nvPr>
        </p:nvSpPr>
        <p:spPr>
          <a:xfrm>
            <a:off x="838200" y="365125"/>
            <a:ext cx="10515600" cy="480449"/>
          </a:xfrm>
        </p:spPr>
        <p:txBody>
          <a:bodyPr>
            <a:noAutofit/>
          </a:bodyPr>
          <a:lstStyle/>
          <a:p>
            <a:r>
              <a:rPr lang="en-US" sz="3000" b="1" dirty="0">
                <a:solidFill>
                  <a:srgbClr val="FF0000"/>
                </a:solidFill>
                <a:latin typeface="+mn-lt"/>
              </a:rPr>
              <a:t>Problem Statement 11</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BE85188F-588C-2F30-D8B5-D16E66B8C6A8}"/>
              </a:ext>
            </a:extLst>
          </p:cNvPr>
          <p:cNvSpPr>
            <a:spLocks noGrp="1"/>
          </p:cNvSpPr>
          <p:nvPr>
            <p:ph idx="1"/>
          </p:nvPr>
        </p:nvSpPr>
        <p:spPr>
          <a:xfrm>
            <a:off x="838200" y="983226"/>
            <a:ext cx="10515600" cy="5193737"/>
          </a:xfrm>
        </p:spPr>
        <p:txBody>
          <a:bodyPr>
            <a:noAutofit/>
          </a:bodyPr>
          <a:lstStyle/>
          <a:p>
            <a:pPr>
              <a:buFont typeface="Wingdings" panose="05000000000000000000" pitchFamily="2" charset="2"/>
              <a:buChar char="Ø"/>
            </a:pPr>
            <a:r>
              <a:rPr lang="en-US" sz="2400" dirty="0"/>
              <a:t>In this challenge, the user enters a string and a substring. You have to print the number of times that the substring occurs in the given string. String traversal will take place from left to right, not from right to left.</a:t>
            </a:r>
          </a:p>
          <a:p>
            <a:pPr>
              <a:buFont typeface="Wingdings" panose="05000000000000000000" pitchFamily="2" charset="2"/>
              <a:buChar char="Ø"/>
            </a:pPr>
            <a:endParaRPr lang="en-US" sz="2400" dirty="0"/>
          </a:p>
          <a:p>
            <a:pPr>
              <a:buFont typeface="Wingdings" panose="05000000000000000000" pitchFamily="2" charset="2"/>
              <a:buChar char="Ø"/>
            </a:pPr>
            <a:r>
              <a:rPr lang="en-US" sz="2400" dirty="0"/>
              <a:t>NOTE: String letters are case-sensitive.</a:t>
            </a:r>
          </a:p>
          <a:p>
            <a:pPr>
              <a:buFont typeface="Wingdings" panose="05000000000000000000" pitchFamily="2" charset="2"/>
              <a:buChar char="Ø"/>
            </a:pPr>
            <a:endParaRPr lang="en-US" sz="2400" dirty="0"/>
          </a:p>
          <a:p>
            <a:pPr marL="0" indent="0">
              <a:buNone/>
            </a:pPr>
            <a:r>
              <a:rPr lang="en-US" sz="2400" b="1" dirty="0"/>
              <a:t>Input Format</a:t>
            </a:r>
          </a:p>
          <a:p>
            <a:pPr>
              <a:buFont typeface="Wingdings" panose="05000000000000000000" pitchFamily="2" charset="2"/>
              <a:buChar char="Ø"/>
            </a:pPr>
            <a:r>
              <a:rPr lang="en-US" sz="2400" dirty="0"/>
              <a:t>The first line of input contains the original string. The next line contains the substring.</a:t>
            </a:r>
          </a:p>
          <a:p>
            <a:pPr>
              <a:buFont typeface="Wingdings" panose="05000000000000000000" pitchFamily="2" charset="2"/>
              <a:buChar char="Ø"/>
            </a:pPr>
            <a:endParaRPr lang="en-IN" sz="2400" dirty="0"/>
          </a:p>
        </p:txBody>
      </p:sp>
    </p:spTree>
    <p:extLst>
      <p:ext uri="{BB962C8B-B14F-4D97-AF65-F5344CB8AC3E}">
        <p14:creationId xmlns:p14="http://schemas.microsoft.com/office/powerpoint/2010/main" val="26055851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C633ED-B8D3-3B7A-AB8F-CC2408F43B78}"/>
              </a:ext>
            </a:extLst>
          </p:cNvPr>
          <p:cNvSpPr>
            <a:spLocks noGrp="1"/>
          </p:cNvSpPr>
          <p:nvPr>
            <p:ph idx="1"/>
          </p:nvPr>
        </p:nvSpPr>
        <p:spPr>
          <a:xfrm>
            <a:off x="838200" y="639098"/>
            <a:ext cx="10515600" cy="5537866"/>
          </a:xfrm>
        </p:spPr>
        <p:txBody>
          <a:bodyPr>
            <a:normAutofit fontScale="85000" lnSpcReduction="20000"/>
          </a:bodyPr>
          <a:lstStyle/>
          <a:p>
            <a:pPr>
              <a:buFont typeface="Wingdings" panose="05000000000000000000" pitchFamily="2" charset="2"/>
              <a:buChar char="Ø"/>
            </a:pPr>
            <a:endParaRPr lang="en-US" sz="2800" dirty="0"/>
          </a:p>
          <a:p>
            <a:pPr marL="0" indent="0">
              <a:buNone/>
            </a:pPr>
            <a:r>
              <a:rPr lang="en-US" sz="2800" b="1" dirty="0"/>
              <a:t>Constraints</a:t>
            </a:r>
          </a:p>
          <a:p>
            <a:pPr>
              <a:buFont typeface="Wingdings" panose="05000000000000000000" pitchFamily="2" charset="2"/>
              <a:buChar char="Ø"/>
            </a:pPr>
            <a:r>
              <a:rPr lang="en-US" sz="2800" dirty="0"/>
              <a:t>1 &lt;= </a:t>
            </a:r>
            <a:r>
              <a:rPr lang="en-US" sz="2800" dirty="0" err="1"/>
              <a:t>len</a:t>
            </a:r>
            <a:r>
              <a:rPr lang="en-US" sz="2800" dirty="0"/>
              <a:t>(string) &lt;= 200</a:t>
            </a:r>
          </a:p>
          <a:p>
            <a:pPr>
              <a:buFont typeface="Wingdings" panose="05000000000000000000" pitchFamily="2" charset="2"/>
              <a:buChar char="Ø"/>
            </a:pPr>
            <a:r>
              <a:rPr lang="en-US" sz="2800" dirty="0"/>
              <a:t>Each character in the string is an ascii character.</a:t>
            </a:r>
          </a:p>
          <a:p>
            <a:pPr>
              <a:buFont typeface="Wingdings" panose="05000000000000000000" pitchFamily="2" charset="2"/>
              <a:buChar char="Ø"/>
            </a:pPr>
            <a:endParaRPr lang="en-US" sz="2800" dirty="0"/>
          </a:p>
          <a:p>
            <a:pPr marL="0" indent="0">
              <a:buNone/>
            </a:pPr>
            <a:r>
              <a:rPr lang="en-US" sz="2800" b="1" dirty="0"/>
              <a:t>Output Format</a:t>
            </a:r>
          </a:p>
          <a:p>
            <a:pPr>
              <a:buFont typeface="Wingdings" panose="05000000000000000000" pitchFamily="2" charset="2"/>
              <a:buChar char="Ø"/>
            </a:pPr>
            <a:r>
              <a:rPr lang="en-US" sz="2800" dirty="0"/>
              <a:t>Output the integer number indicating the total number of occurrences of the substring in the original string.</a:t>
            </a:r>
          </a:p>
          <a:p>
            <a:pPr>
              <a:buFont typeface="Wingdings" panose="05000000000000000000" pitchFamily="2" charset="2"/>
              <a:buChar char="Ø"/>
            </a:pPr>
            <a:endParaRPr lang="en-US" sz="2800" dirty="0"/>
          </a:p>
          <a:p>
            <a:pPr marL="0" indent="0">
              <a:buNone/>
            </a:pPr>
            <a:r>
              <a:rPr lang="en-US" sz="2800" b="1" dirty="0"/>
              <a:t>Sample Input</a:t>
            </a:r>
          </a:p>
          <a:p>
            <a:pPr>
              <a:buFont typeface="Wingdings" panose="05000000000000000000" pitchFamily="2" charset="2"/>
              <a:buChar char="Ø"/>
            </a:pPr>
            <a:r>
              <a:rPr lang="en-US" sz="2800" dirty="0"/>
              <a:t>ABCDCDC</a:t>
            </a:r>
          </a:p>
          <a:p>
            <a:pPr>
              <a:buFont typeface="Wingdings" panose="05000000000000000000" pitchFamily="2" charset="2"/>
              <a:buChar char="Ø"/>
            </a:pPr>
            <a:r>
              <a:rPr lang="en-US" sz="2800" dirty="0"/>
              <a:t>CDC</a:t>
            </a:r>
          </a:p>
          <a:p>
            <a:pPr marL="0" indent="0">
              <a:buNone/>
            </a:pPr>
            <a:r>
              <a:rPr lang="en-US" sz="2800" b="1" dirty="0"/>
              <a:t>Sample Output</a:t>
            </a:r>
          </a:p>
          <a:p>
            <a:pPr>
              <a:buFont typeface="Wingdings" panose="05000000000000000000" pitchFamily="2" charset="2"/>
              <a:buChar char="Ø"/>
            </a:pPr>
            <a:r>
              <a:rPr lang="en-US" sz="2800" dirty="0"/>
              <a:t>2</a:t>
            </a:r>
            <a:endParaRPr lang="en-IN" dirty="0"/>
          </a:p>
        </p:txBody>
      </p:sp>
    </p:spTree>
    <p:extLst>
      <p:ext uri="{BB962C8B-B14F-4D97-AF65-F5344CB8AC3E}">
        <p14:creationId xmlns:p14="http://schemas.microsoft.com/office/powerpoint/2010/main" val="26225244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ECF919-CFD0-0BE4-1840-884295EA9FF0}"/>
              </a:ext>
            </a:extLst>
          </p:cNvPr>
          <p:cNvSpPr>
            <a:spLocks noGrp="1"/>
          </p:cNvSpPr>
          <p:nvPr>
            <p:ph idx="1"/>
          </p:nvPr>
        </p:nvSpPr>
        <p:spPr>
          <a:xfrm>
            <a:off x="838200" y="619432"/>
            <a:ext cx="10515600" cy="5557531"/>
          </a:xfrm>
        </p:spPr>
        <p:txBody>
          <a:bodyPr>
            <a:normAutofit fontScale="92500" lnSpcReduction="10000"/>
          </a:bodyPr>
          <a:lstStyle/>
          <a:p>
            <a:pPr marL="0" indent="0">
              <a:buNone/>
            </a:pPr>
            <a:r>
              <a:rPr lang="en-IN" b="1" dirty="0"/>
              <a:t>def </a:t>
            </a:r>
            <a:r>
              <a:rPr lang="en-IN" b="1" dirty="0" err="1"/>
              <a:t>count_substring</a:t>
            </a:r>
            <a:r>
              <a:rPr lang="en-IN" b="1" dirty="0"/>
              <a:t>(string, </a:t>
            </a:r>
            <a:r>
              <a:rPr lang="en-IN" b="1" dirty="0" err="1"/>
              <a:t>sub_string</a:t>
            </a:r>
            <a:r>
              <a:rPr lang="en-IN" b="1" dirty="0"/>
              <a:t>):</a:t>
            </a:r>
          </a:p>
          <a:p>
            <a:pPr marL="0" indent="0">
              <a:buNone/>
            </a:pPr>
            <a:r>
              <a:rPr lang="en-IN" b="1" dirty="0"/>
              <a:t>    total = 0</a:t>
            </a:r>
          </a:p>
          <a:p>
            <a:pPr marL="0" indent="0">
              <a:buNone/>
            </a:pPr>
            <a:r>
              <a:rPr lang="en-IN" b="1" dirty="0"/>
              <a:t>    for </a:t>
            </a:r>
            <a:r>
              <a:rPr lang="en-IN" b="1" dirty="0" err="1"/>
              <a:t>i</a:t>
            </a:r>
            <a:r>
              <a:rPr lang="en-IN" b="1" dirty="0"/>
              <a:t> in range(</a:t>
            </a:r>
            <a:r>
              <a:rPr lang="en-IN" b="1" dirty="0" err="1"/>
              <a:t>len</a:t>
            </a:r>
            <a:r>
              <a:rPr lang="en-IN" b="1" dirty="0"/>
              <a:t>(string)):</a:t>
            </a:r>
          </a:p>
          <a:p>
            <a:pPr marL="0" indent="0">
              <a:buNone/>
            </a:pPr>
            <a:r>
              <a:rPr lang="en-IN" b="1" dirty="0"/>
              <a:t>        if string[</a:t>
            </a:r>
            <a:r>
              <a:rPr lang="en-IN" b="1" dirty="0" err="1"/>
              <a:t>i:len</a:t>
            </a:r>
            <a:r>
              <a:rPr lang="en-IN" b="1" dirty="0"/>
              <a:t>(string)].</a:t>
            </a:r>
            <a:r>
              <a:rPr lang="en-IN" b="1" dirty="0" err="1"/>
              <a:t>startswith</a:t>
            </a:r>
            <a:r>
              <a:rPr lang="en-IN" b="1" dirty="0"/>
              <a:t>(</a:t>
            </a:r>
            <a:r>
              <a:rPr lang="en-IN" b="1" dirty="0" err="1"/>
              <a:t>sub_string</a:t>
            </a:r>
            <a:r>
              <a:rPr lang="en-IN" b="1" dirty="0"/>
              <a:t>):</a:t>
            </a:r>
          </a:p>
          <a:p>
            <a:pPr marL="0" indent="0">
              <a:buNone/>
            </a:pPr>
            <a:r>
              <a:rPr lang="en-IN" b="1" dirty="0"/>
              <a:t>            total += 1</a:t>
            </a:r>
          </a:p>
          <a:p>
            <a:pPr marL="0" indent="0">
              <a:buNone/>
            </a:pPr>
            <a:r>
              <a:rPr lang="en-IN" b="1" dirty="0"/>
              <a:t>    return total</a:t>
            </a:r>
          </a:p>
          <a:p>
            <a:pPr marL="0" indent="0">
              <a:buNone/>
            </a:pPr>
            <a:endParaRPr lang="en-IN" b="1" dirty="0"/>
          </a:p>
          <a:p>
            <a:pPr marL="0" indent="0">
              <a:buNone/>
            </a:pPr>
            <a:r>
              <a:rPr lang="en-IN" b="1" dirty="0"/>
              <a:t>if __name__ == '__main__':</a:t>
            </a:r>
          </a:p>
          <a:p>
            <a:pPr marL="0" indent="0">
              <a:buNone/>
            </a:pPr>
            <a:r>
              <a:rPr lang="en-IN" b="1" dirty="0"/>
              <a:t>    string = input().strip()</a:t>
            </a:r>
          </a:p>
          <a:p>
            <a:pPr marL="0" indent="0">
              <a:buNone/>
            </a:pPr>
            <a:r>
              <a:rPr lang="en-IN" b="1" dirty="0"/>
              <a:t>    </a:t>
            </a:r>
            <a:r>
              <a:rPr lang="en-IN" b="1" dirty="0" err="1"/>
              <a:t>sub_string</a:t>
            </a:r>
            <a:r>
              <a:rPr lang="en-IN" b="1" dirty="0"/>
              <a:t> = input().strip()</a:t>
            </a:r>
          </a:p>
          <a:p>
            <a:pPr marL="0" indent="0">
              <a:buNone/>
            </a:pPr>
            <a:r>
              <a:rPr lang="en-IN" b="1" dirty="0"/>
              <a:t>    count = </a:t>
            </a:r>
            <a:r>
              <a:rPr lang="en-IN" b="1" dirty="0" err="1"/>
              <a:t>count_substring</a:t>
            </a:r>
            <a:r>
              <a:rPr lang="en-IN" b="1" dirty="0"/>
              <a:t>(string, </a:t>
            </a:r>
            <a:r>
              <a:rPr lang="en-IN" b="1" dirty="0" err="1"/>
              <a:t>sub_string</a:t>
            </a:r>
            <a:r>
              <a:rPr lang="en-IN" b="1" dirty="0"/>
              <a:t>)</a:t>
            </a:r>
          </a:p>
          <a:p>
            <a:pPr marL="0" indent="0">
              <a:buNone/>
            </a:pPr>
            <a:r>
              <a:rPr lang="en-IN" b="1" dirty="0"/>
              <a:t>    print(count)</a:t>
            </a:r>
          </a:p>
        </p:txBody>
      </p:sp>
    </p:spTree>
    <p:extLst>
      <p:ext uri="{BB962C8B-B14F-4D97-AF65-F5344CB8AC3E}">
        <p14:creationId xmlns:p14="http://schemas.microsoft.com/office/powerpoint/2010/main" val="2194561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TotalTime>
  <Words>3008</Words>
  <Application>Microsoft Office PowerPoint</Application>
  <PresentationFormat>Widescreen</PresentationFormat>
  <Paragraphs>350</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roboto</vt:lpstr>
      <vt:lpstr>Wingdings</vt:lpstr>
      <vt:lpstr>Office Theme</vt:lpstr>
      <vt:lpstr>Problem statement 1: Guess the word</vt:lpstr>
      <vt:lpstr>PowerPoint Presentation</vt:lpstr>
      <vt:lpstr>PowerPoint Presentation</vt:lpstr>
      <vt:lpstr>PowerPoint Presentation</vt:lpstr>
      <vt:lpstr>Problem Statement 2: Minimum Occurrence</vt:lpstr>
      <vt:lpstr>PowerPoint Presentation</vt:lpstr>
      <vt:lpstr>PowerPoint Presentation</vt:lpstr>
      <vt:lpstr>Problem statement 3: Devil Groups</vt:lpstr>
      <vt:lpstr>PowerPoint Presentation</vt:lpstr>
      <vt:lpstr>PowerPoint Presentation</vt:lpstr>
      <vt:lpstr>Problem Statement 4: Copycat in exam</vt:lpstr>
      <vt:lpstr>PowerPoint Presentation</vt:lpstr>
      <vt:lpstr>PowerPoint Presentation</vt:lpstr>
      <vt:lpstr>Problem Statement 5: Mr. Robot’s Password</vt:lpstr>
      <vt:lpstr>PowerPoint Presentation</vt:lpstr>
      <vt:lpstr>PowerPoint Presentation</vt:lpstr>
      <vt:lpstr>PowerPoint Presentation</vt:lpstr>
      <vt:lpstr>PowerPoint Presentation</vt:lpstr>
      <vt:lpstr>Problem Statement 6: Weird Terminal </vt:lpstr>
      <vt:lpstr>PowerPoint Presentation</vt:lpstr>
      <vt:lpstr>PowerPoint Presentation</vt:lpstr>
      <vt:lpstr>PowerPoint Presentation</vt:lpstr>
      <vt:lpstr>Problem Statement 7: Device Name System </vt:lpstr>
      <vt:lpstr>PowerPoint Presentation</vt:lpstr>
      <vt:lpstr>PowerPoint Presentation</vt:lpstr>
      <vt:lpstr>PowerPoint Presentation</vt:lpstr>
      <vt:lpstr>Problem Statement 8: Maximum Attendance</vt:lpstr>
      <vt:lpstr>PowerPoint Presentation</vt:lpstr>
      <vt:lpstr>PowerPoint Presentation</vt:lpstr>
      <vt:lpstr>Problem Statement 9: jumble the words</vt:lpstr>
      <vt:lpstr>PowerPoint Presentation</vt:lpstr>
      <vt:lpstr>Problem Statement 10</vt:lpstr>
      <vt:lpstr>PowerPoint Presentation</vt:lpstr>
      <vt:lpstr>Problem Statement 11</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penchala swamy</dc:creator>
  <cp:lastModifiedBy>penchala swamy</cp:lastModifiedBy>
  <cp:revision>82</cp:revision>
  <dcterms:created xsi:type="dcterms:W3CDTF">2024-04-07T09:44:20Z</dcterms:created>
  <dcterms:modified xsi:type="dcterms:W3CDTF">2024-04-08T09:12:47Z</dcterms:modified>
</cp:coreProperties>
</file>