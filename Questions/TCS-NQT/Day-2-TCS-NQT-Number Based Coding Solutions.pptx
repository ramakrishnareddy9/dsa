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2" r:id="rId24"/>
    <p:sldId id="283" r:id="rId25"/>
    <p:sldId id="284" r:id="rId26"/>
    <p:sldId id="285" r:id="rId27"/>
    <p:sldId id="293" r:id="rId28"/>
    <p:sldId id="286" r:id="rId29"/>
    <p:sldId id="287" r:id="rId30"/>
    <p:sldId id="288" r:id="rId31"/>
    <p:sldId id="289" r:id="rId32"/>
    <p:sldId id="294" r:id="rId33"/>
    <p:sldId id="290" r:id="rId34"/>
    <p:sldId id="291"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0A0C0-936B-4992-E612-47B3A6FCA6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041D37-3C15-6CBF-058C-00854288E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BAD2D1-26EC-0946-6E44-02AC381911BD}"/>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5" name="Footer Placeholder 4">
            <a:extLst>
              <a:ext uri="{FF2B5EF4-FFF2-40B4-BE49-F238E27FC236}">
                <a16:creationId xmlns:a16="http://schemas.microsoft.com/office/drawing/2014/main" id="{AA0B6A11-5B64-E367-CC68-8B1A84F864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14E776-119C-DCB2-BFFF-33278A79C6C9}"/>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607460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CEDD-D38C-A8B2-382B-CEF8B575E2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45B549-112E-A6CE-4C26-717612CE5B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87306D-7FAA-D3A0-4859-272385280467}"/>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5" name="Footer Placeholder 4">
            <a:extLst>
              <a:ext uri="{FF2B5EF4-FFF2-40B4-BE49-F238E27FC236}">
                <a16:creationId xmlns:a16="http://schemas.microsoft.com/office/drawing/2014/main" id="{CE3C9699-E979-78A2-C342-50DA132D68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5FFF9A-5F1B-491B-DBC8-BEFFC19417D9}"/>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525521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1C874-FF3C-DA07-B3DD-037CA95078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CC9E73-87FD-8526-2510-D07CC212E8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63E5A-1454-AC29-8B9C-A4B7375C22A6}"/>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5" name="Footer Placeholder 4">
            <a:extLst>
              <a:ext uri="{FF2B5EF4-FFF2-40B4-BE49-F238E27FC236}">
                <a16:creationId xmlns:a16="http://schemas.microsoft.com/office/drawing/2014/main" id="{AB707A43-C16A-2A9B-BAB6-7F0D3F7BA1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769215-C174-B350-287F-5594ABD2B747}"/>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2442453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87BE-74FC-3AAD-6F0C-02F673D8EB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35B5AA-CFF2-B38D-4805-9FDCB29019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2BBF8B-1C8B-D590-2189-BF5668AD06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615E61-3A7C-2F0F-617D-83569889724B}"/>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6" name="Footer Placeholder 5">
            <a:extLst>
              <a:ext uri="{FF2B5EF4-FFF2-40B4-BE49-F238E27FC236}">
                <a16:creationId xmlns:a16="http://schemas.microsoft.com/office/drawing/2014/main" id="{17650FD2-EFF5-41E8-6691-0A1048B057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D58759-3EAB-FFC0-844A-59EF67A35FC5}"/>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1125047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9EA4-9790-D726-FBC5-481DA1821C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51AF5F-8D3C-059D-4DC2-7DEF6261EA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885CE6-8918-4C2C-A86F-0DAA36E787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F7AC98-3EC4-149C-2F42-8A7786B061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C7752F-28BE-5CE2-F9A3-89E0614F4E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4E170C-F50F-2DB0-62F4-E3C8BE4341A2}"/>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8" name="Footer Placeholder 7">
            <a:extLst>
              <a:ext uri="{FF2B5EF4-FFF2-40B4-BE49-F238E27FC236}">
                <a16:creationId xmlns:a16="http://schemas.microsoft.com/office/drawing/2014/main" id="{F7A03762-DEFA-05B8-30DD-AB5C91F1C2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B03B60-07A5-E303-6226-128BBBC8E829}"/>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1652141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AEA38-0416-88D3-B995-9E94D52E04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5AB65C-5F1F-793F-7C16-25AF7238166D}"/>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4" name="Footer Placeholder 3">
            <a:extLst>
              <a:ext uri="{FF2B5EF4-FFF2-40B4-BE49-F238E27FC236}">
                <a16:creationId xmlns:a16="http://schemas.microsoft.com/office/drawing/2014/main" id="{FEE4FFA7-AD98-7740-3519-0C12546D9B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CA712CD-3762-E828-513C-0F63601969DF}"/>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398762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E9E5ED-AF2C-9F83-9343-93C32806594C}"/>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3" name="Footer Placeholder 2">
            <a:extLst>
              <a:ext uri="{FF2B5EF4-FFF2-40B4-BE49-F238E27FC236}">
                <a16:creationId xmlns:a16="http://schemas.microsoft.com/office/drawing/2014/main" id="{4AC3DBE8-8DA3-0123-3AB6-F6E41BFCD52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34ECD0-DF0C-8B16-19DC-1EFE8E9E2429}"/>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2275111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EBDEA-078B-4ABB-F112-4F52506A4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3CBCC7-83CC-877F-D752-2D8F8504D3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1318FD-EB70-F200-CFC8-F0BD4E9C0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6DBB50-84E1-B465-E9BE-07412B669895}"/>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6" name="Footer Placeholder 5">
            <a:extLst>
              <a:ext uri="{FF2B5EF4-FFF2-40B4-BE49-F238E27FC236}">
                <a16:creationId xmlns:a16="http://schemas.microsoft.com/office/drawing/2014/main" id="{D7B7A0C1-DF47-CEA6-7F16-035818B95D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2066B3-69D2-9E32-FC6E-276D1F746749}"/>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60789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6646-7325-AEA8-7DCD-374F4B5D1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65A6A4-F834-9DF1-2E94-30EDE7E3E4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15E050-DD56-8F5F-6A90-A4567F2102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16FC13-3327-7F8E-0805-D82A325DF508}"/>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6" name="Footer Placeholder 5">
            <a:extLst>
              <a:ext uri="{FF2B5EF4-FFF2-40B4-BE49-F238E27FC236}">
                <a16:creationId xmlns:a16="http://schemas.microsoft.com/office/drawing/2014/main" id="{A7892000-7B3C-14AA-DE81-4BA055608C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B7BE7A-E08B-C620-5BCC-03A24BCD4604}"/>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526387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E43F-F41B-F5F8-49E4-ED74A9D4E0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BBBA34-34F2-8D86-3871-801A2DB0FC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15455-3F57-5787-B986-D77B29231AF1}"/>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5" name="Footer Placeholder 4">
            <a:extLst>
              <a:ext uri="{FF2B5EF4-FFF2-40B4-BE49-F238E27FC236}">
                <a16:creationId xmlns:a16="http://schemas.microsoft.com/office/drawing/2014/main" id="{5621F4E7-B9EA-28F2-28AB-F15E37BA77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C333C7-EEAD-2A87-4395-3C858A968249}"/>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1783908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C68E0D-8CDA-C850-CFC2-3AFB848A7D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F32B1D-C60B-3777-B3C1-EFF1F9C094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9FD1E6-F43E-6D74-2396-16F45EE41D6D}"/>
              </a:ext>
            </a:extLst>
          </p:cNvPr>
          <p:cNvSpPr>
            <a:spLocks noGrp="1"/>
          </p:cNvSpPr>
          <p:nvPr>
            <p:ph type="dt" sz="half" idx="10"/>
          </p:nvPr>
        </p:nvSpPr>
        <p:spPr/>
        <p:txBody>
          <a:bodyPr/>
          <a:lstStyle/>
          <a:p>
            <a:fld id="{1DA0C7EB-7FB9-47DD-9A4D-01BDD3A3070C}" type="datetimeFigureOut">
              <a:rPr lang="en-IN" smtClean="0"/>
              <a:t>06-04-2024</a:t>
            </a:fld>
            <a:endParaRPr lang="en-IN"/>
          </a:p>
        </p:txBody>
      </p:sp>
      <p:sp>
        <p:nvSpPr>
          <p:cNvPr id="5" name="Footer Placeholder 4">
            <a:extLst>
              <a:ext uri="{FF2B5EF4-FFF2-40B4-BE49-F238E27FC236}">
                <a16:creationId xmlns:a16="http://schemas.microsoft.com/office/drawing/2014/main" id="{529CA765-C8B6-5D15-1C58-2E1948C800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F8915E-6BA5-A7E3-A981-AA00A4B52D78}"/>
              </a:ext>
            </a:extLst>
          </p:cNvPr>
          <p:cNvSpPr>
            <a:spLocks noGrp="1"/>
          </p:cNvSpPr>
          <p:nvPr>
            <p:ph type="sldNum" sz="quarter" idx="12"/>
          </p:nvPr>
        </p:nvSpPr>
        <p:spPr/>
        <p:txBody>
          <a:bodyPr/>
          <a:lstStyle/>
          <a:p>
            <a:fld id="{D0FA50CD-3D42-476D-93D8-29E5AC83166E}" type="slidenum">
              <a:rPr lang="en-IN" smtClean="0"/>
              <a:t>‹#›</a:t>
            </a:fld>
            <a:endParaRPr lang="en-IN"/>
          </a:p>
        </p:txBody>
      </p:sp>
    </p:spTree>
    <p:extLst>
      <p:ext uri="{BB962C8B-B14F-4D97-AF65-F5344CB8AC3E}">
        <p14:creationId xmlns:p14="http://schemas.microsoft.com/office/powerpoint/2010/main" val="103180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A4BD69-7446-0873-B498-2DF677AC47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DE7A7D-C802-60B8-AC12-844E75278A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C54902-8350-961F-75E2-260F4C497E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0C7EB-7FB9-47DD-9A4D-01BDD3A3070C}" type="datetimeFigureOut">
              <a:rPr lang="en-IN" smtClean="0"/>
              <a:t>06-04-2024</a:t>
            </a:fld>
            <a:endParaRPr lang="en-IN"/>
          </a:p>
        </p:txBody>
      </p:sp>
      <p:sp>
        <p:nvSpPr>
          <p:cNvPr id="5" name="Footer Placeholder 4">
            <a:extLst>
              <a:ext uri="{FF2B5EF4-FFF2-40B4-BE49-F238E27FC236}">
                <a16:creationId xmlns:a16="http://schemas.microsoft.com/office/drawing/2014/main" id="{EEF194CA-782A-5018-B5EB-069B541513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7B3E09-7B6F-927E-4F20-B33C583CFB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FA50CD-3D42-476D-93D8-29E5AC83166E}" type="slidenum">
              <a:rPr lang="en-IN" smtClean="0"/>
              <a:t>‹#›</a:t>
            </a:fld>
            <a:endParaRPr lang="en-IN"/>
          </a:p>
        </p:txBody>
      </p:sp>
    </p:spTree>
    <p:extLst>
      <p:ext uri="{BB962C8B-B14F-4D97-AF65-F5344CB8AC3E}">
        <p14:creationId xmlns:p14="http://schemas.microsoft.com/office/powerpoint/2010/main" val="769128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8B744-9EA6-2E5F-63F0-3E1846607BAC}"/>
              </a:ext>
            </a:extLst>
          </p:cNvPr>
          <p:cNvSpPr>
            <a:spLocks noGrp="1"/>
          </p:cNvSpPr>
          <p:nvPr>
            <p:ph type="title"/>
          </p:nvPr>
        </p:nvSpPr>
        <p:spPr>
          <a:xfrm>
            <a:off x="838200" y="127819"/>
            <a:ext cx="10515600" cy="553219"/>
          </a:xfrm>
        </p:spPr>
        <p:txBody>
          <a:bodyPr>
            <a:normAutofit/>
          </a:bodyPr>
          <a:lstStyle/>
          <a:p>
            <a:r>
              <a:rPr lang="en-US" sz="3000" b="1" i="0" dirty="0">
                <a:solidFill>
                  <a:srgbClr val="FF0000"/>
                </a:solidFill>
                <a:effectLst/>
                <a:latin typeface="+mn-lt"/>
              </a:rPr>
              <a:t>Problem Statement 1: K-</a:t>
            </a:r>
            <a:r>
              <a:rPr lang="en-US" sz="3000" b="1" i="0" dirty="0" err="1">
                <a:solidFill>
                  <a:srgbClr val="FF0000"/>
                </a:solidFill>
                <a:effectLst/>
                <a:latin typeface="+mn-lt"/>
              </a:rPr>
              <a:t>th</a:t>
            </a:r>
            <a:r>
              <a:rPr lang="en-US" sz="3000" b="1" i="0" dirty="0">
                <a:solidFill>
                  <a:srgbClr val="FF0000"/>
                </a:solidFill>
                <a:effectLst/>
                <a:latin typeface="+mn-lt"/>
              </a:rPr>
              <a:t> largest factor of N</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CF2795FA-99D6-1A1F-880D-B3523E7725BA}"/>
              </a:ext>
            </a:extLst>
          </p:cNvPr>
          <p:cNvSpPr>
            <a:spLocks noGrp="1"/>
          </p:cNvSpPr>
          <p:nvPr>
            <p:ph idx="1"/>
          </p:nvPr>
        </p:nvSpPr>
        <p:spPr>
          <a:xfrm>
            <a:off x="838200" y="894735"/>
            <a:ext cx="10515600" cy="5282228"/>
          </a:xfrm>
        </p:spPr>
        <p:txBody>
          <a:bodyPr>
            <a:normAutofit/>
          </a:bodyPr>
          <a:lstStyle/>
          <a:p>
            <a:pPr algn="just">
              <a:buFont typeface="Wingdings" panose="05000000000000000000" pitchFamily="2" charset="2"/>
              <a:buChar char="Ø"/>
            </a:pPr>
            <a:r>
              <a:rPr lang="en-US" sz="2600" i="0" dirty="0">
                <a:solidFill>
                  <a:srgbClr val="343434"/>
                </a:solidFill>
                <a:effectLst/>
              </a:rPr>
              <a:t>A positive integer d is said to be a factor of another positive integer N if when N is divided by d, the remainder obtained is zero. For example, for number 12, there are 6 factors 1, 2, 3, 4, 6, 12. Every positive integer k has at least two factors, 1 and the number k </a:t>
            </a:r>
            <a:r>
              <a:rPr lang="en-US" sz="2600" i="0" dirty="0" err="1">
                <a:solidFill>
                  <a:srgbClr val="343434"/>
                </a:solidFill>
                <a:effectLst/>
              </a:rPr>
              <a:t>itself.Given</a:t>
            </a:r>
            <a:r>
              <a:rPr lang="en-US" sz="2600" i="0" dirty="0">
                <a:solidFill>
                  <a:srgbClr val="343434"/>
                </a:solidFill>
                <a:effectLst/>
              </a:rPr>
              <a:t> two positive integers N and k, write a program to print the kth largest factor of N.</a:t>
            </a:r>
          </a:p>
          <a:p>
            <a:pPr algn="just">
              <a:buFont typeface="Wingdings" panose="05000000000000000000" pitchFamily="2" charset="2"/>
              <a:buChar char="Ø"/>
            </a:pPr>
            <a:r>
              <a:rPr lang="en-US" sz="2600" b="1" i="0" dirty="0">
                <a:solidFill>
                  <a:srgbClr val="343434"/>
                </a:solidFill>
                <a:effectLst/>
              </a:rPr>
              <a:t>Input Format: </a:t>
            </a:r>
            <a:r>
              <a:rPr lang="en-US" sz="2600" i="0" dirty="0">
                <a:solidFill>
                  <a:srgbClr val="343434"/>
                </a:solidFill>
                <a:effectLst/>
              </a:rPr>
              <a:t>The input is a comma-separated list of positive integer pairs (N, k)</a:t>
            </a:r>
          </a:p>
          <a:p>
            <a:pPr algn="just">
              <a:buFont typeface="Wingdings" panose="05000000000000000000" pitchFamily="2" charset="2"/>
              <a:buChar char="Ø"/>
            </a:pPr>
            <a:r>
              <a:rPr lang="en-US" sz="2600" b="1" i="0" dirty="0">
                <a:solidFill>
                  <a:srgbClr val="343434"/>
                </a:solidFill>
                <a:effectLst/>
              </a:rPr>
              <a:t>Output Format: </a:t>
            </a:r>
            <a:r>
              <a:rPr lang="en-US" sz="2600" i="0" dirty="0">
                <a:solidFill>
                  <a:srgbClr val="343434"/>
                </a:solidFill>
                <a:effectLst/>
              </a:rPr>
              <a:t>The kth highest factor of N. If N does not have k factors, the output should be 1.</a:t>
            </a:r>
          </a:p>
          <a:p>
            <a:pPr marL="0" indent="0" algn="just">
              <a:buNone/>
            </a:pPr>
            <a:endParaRPr lang="en-US" sz="2600" b="1" i="0" dirty="0">
              <a:solidFill>
                <a:srgbClr val="343434"/>
              </a:solidFill>
              <a:effectLst/>
            </a:endParaRPr>
          </a:p>
          <a:p>
            <a:pPr marL="0" indent="0" algn="just">
              <a:buNone/>
            </a:pPr>
            <a:r>
              <a:rPr lang="en-US" sz="2600" b="1" i="0" dirty="0">
                <a:solidFill>
                  <a:srgbClr val="343434"/>
                </a:solidFill>
                <a:effectLst/>
              </a:rPr>
              <a:t>Constraints: </a:t>
            </a:r>
            <a:r>
              <a:rPr lang="en-US" sz="2600" i="0" dirty="0">
                <a:solidFill>
                  <a:srgbClr val="343434"/>
                </a:solidFill>
                <a:effectLst/>
              </a:rPr>
              <a:t>1&lt;N&lt;10000000000. 1&lt;k&lt;600.You can assume that N will have no prime factors which are larger than 13.</a:t>
            </a:r>
          </a:p>
          <a:p>
            <a:pPr algn="just">
              <a:buFont typeface="Wingdings" panose="05000000000000000000" pitchFamily="2" charset="2"/>
              <a:buChar char="Ø"/>
            </a:pPr>
            <a:endParaRPr lang="en-IN" sz="2600" dirty="0"/>
          </a:p>
        </p:txBody>
      </p:sp>
    </p:spTree>
    <p:extLst>
      <p:ext uri="{BB962C8B-B14F-4D97-AF65-F5344CB8AC3E}">
        <p14:creationId xmlns:p14="http://schemas.microsoft.com/office/powerpoint/2010/main" val="1977195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8BCEC-3834-C8C4-A819-FDF17B63F00F}"/>
              </a:ext>
            </a:extLst>
          </p:cNvPr>
          <p:cNvSpPr>
            <a:spLocks noGrp="1"/>
          </p:cNvSpPr>
          <p:nvPr>
            <p:ph idx="1"/>
          </p:nvPr>
        </p:nvSpPr>
        <p:spPr>
          <a:xfrm>
            <a:off x="838200" y="373626"/>
            <a:ext cx="10515600" cy="5803337"/>
          </a:xfrm>
        </p:spPr>
        <p:txBody>
          <a:bodyPr>
            <a:normAutofit/>
          </a:bodyPr>
          <a:lstStyle/>
          <a:p>
            <a:pPr marL="0" indent="0" algn="l">
              <a:buNone/>
            </a:pPr>
            <a:r>
              <a:rPr lang="en-US" sz="2600" b="1" i="0" dirty="0">
                <a:solidFill>
                  <a:srgbClr val="FF0000"/>
                </a:solidFill>
                <a:effectLst/>
              </a:rPr>
              <a:t>Example 1</a:t>
            </a:r>
          </a:p>
          <a:p>
            <a:pPr marL="0" indent="0" algn="l">
              <a:buNone/>
            </a:pPr>
            <a:endParaRPr lang="en-US" sz="2600" b="0" i="0" dirty="0">
              <a:solidFill>
                <a:srgbClr val="FF0000"/>
              </a:solidFill>
              <a:effectLst/>
            </a:endParaRPr>
          </a:p>
          <a:p>
            <a:pPr marL="0" indent="0" algn="l">
              <a:buNone/>
            </a:pPr>
            <a:r>
              <a:rPr lang="en-US" sz="2600" b="1" i="0" dirty="0">
                <a:solidFill>
                  <a:srgbClr val="343434"/>
                </a:solidFill>
                <a:effectLst/>
              </a:rPr>
              <a:t>Input</a:t>
            </a:r>
            <a:r>
              <a:rPr lang="en-US" sz="2600" b="0" i="0" dirty="0">
                <a:solidFill>
                  <a:srgbClr val="343434"/>
                </a:solidFill>
                <a:effectLst/>
              </a:rPr>
              <a:t>: 12,3</a:t>
            </a:r>
          </a:p>
          <a:p>
            <a:pPr marL="0" indent="0" algn="l">
              <a:buNone/>
            </a:pPr>
            <a:r>
              <a:rPr lang="en-US" sz="2600" b="1" i="0" dirty="0">
                <a:solidFill>
                  <a:srgbClr val="343434"/>
                </a:solidFill>
                <a:effectLst/>
              </a:rPr>
              <a:t>Output</a:t>
            </a:r>
            <a:r>
              <a:rPr lang="en-US" sz="2600" b="0" i="0" dirty="0">
                <a:solidFill>
                  <a:srgbClr val="343434"/>
                </a:solidFill>
                <a:effectLst/>
              </a:rPr>
              <a:t>: 4</a:t>
            </a:r>
          </a:p>
          <a:p>
            <a:pPr marL="0" indent="0" algn="l">
              <a:buNone/>
            </a:pPr>
            <a:r>
              <a:rPr lang="en-US" sz="2600" b="1" i="0" dirty="0">
                <a:solidFill>
                  <a:srgbClr val="343434"/>
                </a:solidFill>
                <a:effectLst/>
              </a:rPr>
              <a:t>Explanation: </a:t>
            </a:r>
            <a:r>
              <a:rPr lang="en-US" sz="2600" b="0" i="0" dirty="0">
                <a:solidFill>
                  <a:srgbClr val="343434"/>
                </a:solidFill>
                <a:effectLst/>
              </a:rPr>
              <a:t>N is 12, k is 3. The factors of 12 are (1,2,3,4,6,12). The highest factor is 12 and the third largest factor is 4. The output must be 4</a:t>
            </a:r>
          </a:p>
          <a:p>
            <a:pPr marL="0" indent="0" algn="l">
              <a:buNone/>
            </a:pPr>
            <a:endParaRPr lang="en-US" sz="2600" b="0" i="0" dirty="0">
              <a:solidFill>
                <a:srgbClr val="343434"/>
              </a:solidFill>
              <a:effectLst/>
            </a:endParaRPr>
          </a:p>
          <a:p>
            <a:pPr marL="0" indent="0" algn="l">
              <a:buNone/>
            </a:pPr>
            <a:r>
              <a:rPr lang="en-US" sz="2600" b="1" i="0" dirty="0">
                <a:solidFill>
                  <a:srgbClr val="343434"/>
                </a:solidFill>
                <a:effectLst/>
              </a:rPr>
              <a:t>Example 2</a:t>
            </a:r>
            <a:endParaRPr lang="en-US" sz="2600" b="0" i="0" dirty="0">
              <a:solidFill>
                <a:srgbClr val="343434"/>
              </a:solidFill>
              <a:effectLst/>
            </a:endParaRPr>
          </a:p>
          <a:p>
            <a:pPr marL="0" indent="0" algn="l">
              <a:buNone/>
            </a:pPr>
            <a:r>
              <a:rPr lang="en-US" sz="2600" b="1" i="0" dirty="0">
                <a:solidFill>
                  <a:srgbClr val="343434"/>
                </a:solidFill>
                <a:effectLst/>
              </a:rPr>
              <a:t>Input</a:t>
            </a:r>
            <a:r>
              <a:rPr lang="en-US" sz="2600" b="0" i="0" dirty="0">
                <a:solidFill>
                  <a:srgbClr val="343434"/>
                </a:solidFill>
                <a:effectLst/>
              </a:rPr>
              <a:t>: 30,9</a:t>
            </a:r>
          </a:p>
          <a:p>
            <a:pPr marL="0" indent="0" algn="l">
              <a:buNone/>
            </a:pPr>
            <a:r>
              <a:rPr lang="en-US" sz="2600" b="1" i="0" dirty="0">
                <a:solidFill>
                  <a:srgbClr val="343434"/>
                </a:solidFill>
                <a:effectLst/>
              </a:rPr>
              <a:t>Output</a:t>
            </a:r>
            <a:r>
              <a:rPr lang="en-US" sz="2600" b="0" i="0" dirty="0">
                <a:solidFill>
                  <a:srgbClr val="343434"/>
                </a:solidFill>
                <a:effectLst/>
              </a:rPr>
              <a:t>: 1</a:t>
            </a:r>
          </a:p>
          <a:p>
            <a:pPr marL="0" indent="0" algn="l">
              <a:buNone/>
            </a:pPr>
            <a:r>
              <a:rPr lang="en-US" sz="2600" b="1" i="0" dirty="0">
                <a:solidFill>
                  <a:srgbClr val="343434"/>
                </a:solidFill>
                <a:effectLst/>
              </a:rPr>
              <a:t>Explanation: </a:t>
            </a:r>
            <a:r>
              <a:rPr lang="en-US" sz="2600" b="0" i="0" dirty="0">
                <a:solidFill>
                  <a:srgbClr val="343434"/>
                </a:solidFill>
                <a:effectLst/>
              </a:rPr>
              <a:t>N is 30, k is 9. The factors of 30 are (1,2,3,5,6,10,15,30). There are only 8 factors. As k is more than the number of factors, the output is 1.</a:t>
            </a:r>
          </a:p>
          <a:p>
            <a:pPr marL="0" indent="0">
              <a:buNone/>
            </a:pPr>
            <a:endParaRPr lang="en-IN" sz="2600" dirty="0"/>
          </a:p>
        </p:txBody>
      </p:sp>
    </p:spTree>
    <p:extLst>
      <p:ext uri="{BB962C8B-B14F-4D97-AF65-F5344CB8AC3E}">
        <p14:creationId xmlns:p14="http://schemas.microsoft.com/office/powerpoint/2010/main" val="3665535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04A3C2-D11B-F22F-5E54-F078BF3163F0}"/>
              </a:ext>
            </a:extLst>
          </p:cNvPr>
          <p:cNvSpPr>
            <a:spLocks noGrp="1"/>
          </p:cNvSpPr>
          <p:nvPr>
            <p:ph idx="1"/>
          </p:nvPr>
        </p:nvSpPr>
        <p:spPr>
          <a:xfrm>
            <a:off x="838200" y="0"/>
            <a:ext cx="10515600" cy="6666271"/>
          </a:xfrm>
        </p:spPr>
        <p:txBody>
          <a:bodyPr>
            <a:normAutofit/>
          </a:bodyPr>
          <a:lstStyle/>
          <a:p>
            <a:pPr marL="0" indent="0">
              <a:buNone/>
            </a:pPr>
            <a:r>
              <a:rPr lang="en-US" b="1" dirty="0"/>
              <a:t>n = int(input())</a:t>
            </a:r>
          </a:p>
          <a:p>
            <a:pPr marL="0" indent="0">
              <a:buNone/>
            </a:pPr>
            <a:r>
              <a:rPr lang="en-US" b="1" dirty="0"/>
              <a:t>k = int(input())</a:t>
            </a:r>
          </a:p>
          <a:p>
            <a:pPr marL="0" indent="0">
              <a:buNone/>
            </a:pPr>
            <a:r>
              <a:rPr lang="en-US" b="1" dirty="0"/>
              <a:t>factors = []</a:t>
            </a:r>
          </a:p>
          <a:p>
            <a:pPr marL="0" indent="0">
              <a:buNone/>
            </a:pPr>
            <a:r>
              <a:rPr lang="en-US" b="1" dirty="0"/>
              <a:t>for </a:t>
            </a:r>
            <a:r>
              <a:rPr lang="en-US" b="1" dirty="0" err="1"/>
              <a:t>i</a:t>
            </a:r>
            <a:r>
              <a:rPr lang="en-US" b="1" dirty="0"/>
              <a:t> in range(n):</a:t>
            </a:r>
          </a:p>
          <a:p>
            <a:pPr marL="0" indent="0">
              <a:buNone/>
            </a:pPr>
            <a:r>
              <a:rPr lang="en-US" b="1" dirty="0"/>
              <a:t>	if (n % (i+1)) == 0:</a:t>
            </a:r>
          </a:p>
          <a:p>
            <a:pPr marL="0" indent="0">
              <a:buNone/>
            </a:pPr>
            <a:r>
              <a:rPr lang="en-US" b="1" dirty="0"/>
              <a:t>		</a:t>
            </a:r>
            <a:r>
              <a:rPr lang="en-US" b="1" dirty="0" err="1"/>
              <a:t>factors.append</a:t>
            </a:r>
            <a:r>
              <a:rPr lang="en-US" b="1" dirty="0"/>
              <a:t>(i+1)</a:t>
            </a:r>
          </a:p>
          <a:p>
            <a:pPr marL="0" indent="0">
              <a:buNone/>
            </a:pPr>
            <a:r>
              <a:rPr lang="en-US" b="1" dirty="0"/>
              <a:t>if k &gt; </a:t>
            </a:r>
            <a:r>
              <a:rPr lang="en-US" b="1" dirty="0" err="1"/>
              <a:t>len</a:t>
            </a:r>
            <a:r>
              <a:rPr lang="en-US" b="1" dirty="0"/>
              <a:t>(factors):</a:t>
            </a:r>
          </a:p>
          <a:p>
            <a:pPr marL="0" indent="0">
              <a:buNone/>
            </a:pPr>
            <a:r>
              <a:rPr lang="en-US" b="1" dirty="0"/>
              <a:t>	print(1)</a:t>
            </a:r>
          </a:p>
          <a:p>
            <a:pPr marL="0" indent="0">
              <a:buNone/>
            </a:pPr>
            <a:r>
              <a:rPr lang="en-US" b="1" dirty="0"/>
              <a:t>else:</a:t>
            </a:r>
          </a:p>
          <a:p>
            <a:pPr marL="0" indent="0">
              <a:buNone/>
            </a:pPr>
            <a:r>
              <a:rPr lang="en-US" b="1" dirty="0"/>
              <a:t>	print(factors[-k])</a:t>
            </a:r>
          </a:p>
        </p:txBody>
      </p:sp>
    </p:spTree>
    <p:extLst>
      <p:ext uri="{BB962C8B-B14F-4D97-AF65-F5344CB8AC3E}">
        <p14:creationId xmlns:p14="http://schemas.microsoft.com/office/powerpoint/2010/main" val="2358476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10C4-E645-D6C5-61BF-538E288D6F28}"/>
              </a:ext>
            </a:extLst>
          </p:cNvPr>
          <p:cNvSpPr>
            <a:spLocks noGrp="1"/>
          </p:cNvSpPr>
          <p:nvPr>
            <p:ph type="title"/>
          </p:nvPr>
        </p:nvSpPr>
        <p:spPr>
          <a:xfrm>
            <a:off x="838200" y="365125"/>
            <a:ext cx="10515600" cy="608269"/>
          </a:xfrm>
        </p:spPr>
        <p:txBody>
          <a:bodyPr>
            <a:normAutofit/>
          </a:bodyPr>
          <a:lstStyle/>
          <a:p>
            <a:r>
              <a:rPr lang="en-IN" sz="3000" b="1" i="0" dirty="0">
                <a:solidFill>
                  <a:srgbClr val="FF0000"/>
                </a:solidFill>
                <a:effectLst/>
                <a:latin typeface="+mn-lt"/>
              </a:rPr>
              <a:t>Problem Statement 2: Square Free Numbers</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4208FFC6-9E84-9EE0-C1EE-AAD7314F1DB9}"/>
              </a:ext>
            </a:extLst>
          </p:cNvPr>
          <p:cNvSpPr>
            <a:spLocks noGrp="1"/>
          </p:cNvSpPr>
          <p:nvPr>
            <p:ph idx="1"/>
          </p:nvPr>
        </p:nvSpPr>
        <p:spPr>
          <a:xfrm>
            <a:off x="838200" y="973394"/>
            <a:ext cx="10515600" cy="5653548"/>
          </a:xfrm>
        </p:spPr>
        <p:txBody>
          <a:bodyPr>
            <a:normAutofit fontScale="85000" lnSpcReduction="20000"/>
          </a:bodyPr>
          <a:lstStyle/>
          <a:p>
            <a:pPr algn="just">
              <a:buFont typeface="Wingdings" panose="05000000000000000000" pitchFamily="2" charset="2"/>
              <a:buChar char="Ø"/>
            </a:pPr>
            <a:r>
              <a:rPr lang="en-US" b="1" i="0" dirty="0">
                <a:solidFill>
                  <a:srgbClr val="343434"/>
                </a:solidFill>
                <a:effectLst/>
                <a:latin typeface="roboto" panose="02000000000000000000" pitchFamily="2" charset="0"/>
              </a:rPr>
              <a:t>In the theory of numbers, square free numbers have a special place.  A square free number is one that is not divisible by a perfect square (other than 1).  Thus 72 is divisible by 36 (a perfect square), and is not a square free number, but 70 has factors 1, 2, 5, 7, 10, 14, 35 and 70.  As none of these are perfect squares (other than 1), 70 is a square free number.</a:t>
            </a:r>
          </a:p>
          <a:p>
            <a:pPr algn="just">
              <a:buFont typeface="Wingdings" panose="05000000000000000000" pitchFamily="2" charset="2"/>
              <a:buChar char="Ø"/>
            </a:pPr>
            <a:r>
              <a:rPr lang="en-US" b="1" i="0" dirty="0">
                <a:solidFill>
                  <a:srgbClr val="343434"/>
                </a:solidFill>
                <a:effectLst/>
                <a:latin typeface="roboto" panose="02000000000000000000" pitchFamily="2" charset="0"/>
              </a:rPr>
              <a:t>For some algorithms, it is important to find out the square free numbers that divide a number.  Note that 1 is not considered a square free number. </a:t>
            </a:r>
          </a:p>
          <a:p>
            <a:pPr algn="just">
              <a:buFont typeface="Wingdings" panose="05000000000000000000" pitchFamily="2" charset="2"/>
              <a:buChar char="Ø"/>
            </a:pPr>
            <a:r>
              <a:rPr lang="en-US" b="1" i="0" dirty="0">
                <a:solidFill>
                  <a:srgbClr val="343434"/>
                </a:solidFill>
                <a:effectLst/>
                <a:latin typeface="roboto" panose="02000000000000000000" pitchFamily="2" charset="0"/>
              </a:rPr>
              <a:t>In this problem, you are asked to write a program to find the number of square free numbers that divide a given number.</a:t>
            </a:r>
          </a:p>
          <a:p>
            <a:pPr algn="just">
              <a:buFont typeface="Wingdings" panose="05000000000000000000" pitchFamily="2" charset="2"/>
              <a:buChar char="Ø"/>
            </a:pPr>
            <a:endParaRPr lang="en-US" b="1" i="0" dirty="0">
              <a:solidFill>
                <a:srgbClr val="343434"/>
              </a:solidFill>
              <a:effectLst/>
              <a:latin typeface="roboto" panose="02000000000000000000" pitchFamily="2" charset="0"/>
            </a:endParaRPr>
          </a:p>
          <a:p>
            <a:pPr marL="0" indent="0" algn="just">
              <a:buNone/>
            </a:pPr>
            <a:r>
              <a:rPr lang="en-US" b="1" i="0" dirty="0">
                <a:solidFill>
                  <a:srgbClr val="FF0000"/>
                </a:solidFill>
                <a:effectLst/>
                <a:latin typeface="roboto" panose="02000000000000000000" pitchFamily="2" charset="0"/>
              </a:rPr>
              <a:t>Input</a:t>
            </a:r>
          </a:p>
          <a:p>
            <a:pPr algn="just">
              <a:buFont typeface="Wingdings" panose="05000000000000000000" pitchFamily="2" charset="2"/>
              <a:buChar char="Ø"/>
            </a:pPr>
            <a:r>
              <a:rPr lang="en-US" b="1" i="0" dirty="0">
                <a:solidFill>
                  <a:srgbClr val="343434"/>
                </a:solidFill>
                <a:effectLst/>
                <a:latin typeface="roboto" panose="02000000000000000000" pitchFamily="2" charset="0"/>
              </a:rPr>
              <a:t>The only line of the input is a single integer N which is divisible by no prime number larger than 19</a:t>
            </a:r>
          </a:p>
          <a:p>
            <a:pPr marL="0" indent="0" algn="just">
              <a:buNone/>
            </a:pPr>
            <a:r>
              <a:rPr lang="en-US" b="1" i="0" dirty="0">
                <a:solidFill>
                  <a:srgbClr val="FF0000"/>
                </a:solidFill>
                <a:effectLst/>
                <a:latin typeface="roboto" panose="02000000000000000000" pitchFamily="2" charset="0"/>
              </a:rPr>
              <a:t>Output</a:t>
            </a:r>
          </a:p>
          <a:p>
            <a:pPr algn="just">
              <a:buFont typeface="Wingdings" panose="05000000000000000000" pitchFamily="2" charset="2"/>
              <a:buChar char="Ø"/>
            </a:pPr>
            <a:r>
              <a:rPr lang="en-US" b="1" i="0" dirty="0">
                <a:solidFill>
                  <a:srgbClr val="343434"/>
                </a:solidFill>
                <a:effectLst/>
                <a:latin typeface="roboto" panose="02000000000000000000" pitchFamily="2" charset="0"/>
              </a:rPr>
              <a:t>One line containing an integer that gives the number of square free numbers (not including 1)</a:t>
            </a:r>
          </a:p>
          <a:p>
            <a:pPr algn="just">
              <a:buFont typeface="Wingdings" panose="05000000000000000000" pitchFamily="2" charset="2"/>
              <a:buChar char="Ø"/>
            </a:pPr>
            <a:endParaRPr lang="en-IN" b="1" dirty="0"/>
          </a:p>
        </p:txBody>
      </p:sp>
    </p:spTree>
    <p:extLst>
      <p:ext uri="{BB962C8B-B14F-4D97-AF65-F5344CB8AC3E}">
        <p14:creationId xmlns:p14="http://schemas.microsoft.com/office/powerpoint/2010/main" val="1302927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9FFB1-4BF2-6A27-9DA4-D55D00DB6E88}"/>
              </a:ext>
            </a:extLst>
          </p:cNvPr>
          <p:cNvSpPr>
            <a:spLocks noGrp="1"/>
          </p:cNvSpPr>
          <p:nvPr>
            <p:ph idx="1"/>
          </p:nvPr>
        </p:nvSpPr>
        <p:spPr>
          <a:xfrm>
            <a:off x="838200" y="373626"/>
            <a:ext cx="10515600" cy="5803337"/>
          </a:xfrm>
        </p:spPr>
        <p:txBody>
          <a:bodyPr>
            <a:normAutofit fontScale="92500" lnSpcReduction="10000"/>
          </a:bodyPr>
          <a:lstStyle/>
          <a:p>
            <a:pPr marL="0" indent="0" algn="l">
              <a:buNone/>
            </a:pPr>
            <a:r>
              <a:rPr lang="en-US" b="1" i="0" dirty="0">
                <a:solidFill>
                  <a:srgbClr val="FF0000"/>
                </a:solidFill>
                <a:effectLst/>
              </a:rPr>
              <a:t>Example 1</a:t>
            </a:r>
            <a:endParaRPr lang="en-US" b="0" i="0" dirty="0">
              <a:solidFill>
                <a:srgbClr val="FF0000"/>
              </a:solidFill>
              <a:effectLst/>
            </a:endParaRPr>
          </a:p>
          <a:p>
            <a:pPr marL="0" indent="0" algn="l">
              <a:buNone/>
            </a:pPr>
            <a:r>
              <a:rPr lang="en-US" b="1" i="0" dirty="0">
                <a:solidFill>
                  <a:srgbClr val="343434"/>
                </a:solidFill>
                <a:effectLst/>
              </a:rPr>
              <a:t>Input</a:t>
            </a:r>
            <a:endParaRPr lang="en-US" b="0" i="0" dirty="0">
              <a:solidFill>
                <a:srgbClr val="343434"/>
              </a:solidFill>
              <a:effectLst/>
            </a:endParaRPr>
          </a:p>
          <a:p>
            <a:pPr marL="0" indent="0" algn="l">
              <a:buNone/>
            </a:pPr>
            <a:r>
              <a:rPr lang="en-US" b="0" i="0" dirty="0">
                <a:solidFill>
                  <a:srgbClr val="343434"/>
                </a:solidFill>
                <a:effectLst/>
              </a:rPr>
              <a:t>20</a:t>
            </a:r>
          </a:p>
          <a:p>
            <a:pPr marL="0" indent="0" algn="l">
              <a:buNone/>
            </a:pPr>
            <a:r>
              <a:rPr lang="en-US" b="1" i="0" dirty="0">
                <a:solidFill>
                  <a:srgbClr val="343434"/>
                </a:solidFill>
                <a:effectLst/>
              </a:rPr>
              <a:t>Output</a:t>
            </a:r>
            <a:endParaRPr lang="en-US" b="0" i="0" dirty="0">
              <a:solidFill>
                <a:srgbClr val="343434"/>
              </a:solidFill>
              <a:effectLst/>
            </a:endParaRPr>
          </a:p>
          <a:p>
            <a:pPr marL="0" indent="0" algn="l">
              <a:buNone/>
            </a:pPr>
            <a:r>
              <a:rPr lang="en-US" b="0" i="0" dirty="0">
                <a:solidFill>
                  <a:srgbClr val="343434"/>
                </a:solidFill>
                <a:effectLst/>
              </a:rPr>
              <a:t>3</a:t>
            </a:r>
          </a:p>
          <a:p>
            <a:pPr marL="0" indent="0" algn="l">
              <a:buNone/>
            </a:pPr>
            <a:r>
              <a:rPr lang="en-US" b="1" i="0" dirty="0">
                <a:solidFill>
                  <a:srgbClr val="343434"/>
                </a:solidFill>
                <a:effectLst/>
              </a:rPr>
              <a:t>Explanation</a:t>
            </a:r>
            <a:endParaRPr lang="en-US" b="0" i="0" dirty="0">
              <a:solidFill>
                <a:srgbClr val="343434"/>
              </a:solidFill>
              <a:effectLst/>
            </a:endParaRPr>
          </a:p>
          <a:p>
            <a:pPr marL="0" indent="0" algn="l">
              <a:buNone/>
            </a:pPr>
            <a:r>
              <a:rPr lang="en-US" b="0" i="0" dirty="0">
                <a:solidFill>
                  <a:srgbClr val="343434"/>
                </a:solidFill>
                <a:effectLst/>
              </a:rPr>
              <a:t>N=20</a:t>
            </a:r>
          </a:p>
          <a:p>
            <a:pPr marL="0" indent="0" algn="l">
              <a:buNone/>
            </a:pPr>
            <a:r>
              <a:rPr lang="en-US" b="0" i="0" dirty="0">
                <a:solidFill>
                  <a:srgbClr val="343434"/>
                </a:solidFill>
                <a:effectLst/>
              </a:rPr>
              <a:t>If we list the numbers that divide 20, they are</a:t>
            </a:r>
          </a:p>
          <a:p>
            <a:pPr marL="0" indent="0" algn="l">
              <a:buNone/>
            </a:pPr>
            <a:r>
              <a:rPr lang="en-US" b="0" i="0" dirty="0">
                <a:solidFill>
                  <a:srgbClr val="343434"/>
                </a:solidFill>
                <a:effectLst/>
              </a:rPr>
              <a:t>1, 2, 4, 5, 10, 20</a:t>
            </a:r>
          </a:p>
          <a:p>
            <a:pPr marL="0" indent="0" algn="l">
              <a:buNone/>
            </a:pPr>
            <a:r>
              <a:rPr lang="en-US" b="0" i="0" dirty="0">
                <a:solidFill>
                  <a:srgbClr val="343434"/>
                </a:solidFill>
                <a:effectLst/>
              </a:rPr>
              <a:t>1 is not a square free number, 4 is a perfect square, and 20 is divisible by 4, a perfect square.  2 and 5, being prime, are square free, and 10 is divisible by 1,2,5 and 10, none of which are perfect squares.  Hence the square free numbers that divide 20 are 2, 5, 10.  Hence the result is 3.</a:t>
            </a:r>
          </a:p>
          <a:p>
            <a:pPr marL="0" indent="0">
              <a:buNone/>
            </a:pPr>
            <a:endParaRPr lang="en-IN" dirty="0"/>
          </a:p>
        </p:txBody>
      </p:sp>
    </p:spTree>
    <p:extLst>
      <p:ext uri="{BB962C8B-B14F-4D97-AF65-F5344CB8AC3E}">
        <p14:creationId xmlns:p14="http://schemas.microsoft.com/office/powerpoint/2010/main" val="1770297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FE565-68BD-4A30-E34B-53005C96C0E9}"/>
              </a:ext>
            </a:extLst>
          </p:cNvPr>
          <p:cNvSpPr>
            <a:spLocks noGrp="1"/>
          </p:cNvSpPr>
          <p:nvPr>
            <p:ph idx="1"/>
          </p:nvPr>
        </p:nvSpPr>
        <p:spPr>
          <a:xfrm>
            <a:off x="838200" y="707923"/>
            <a:ext cx="10515600" cy="5469040"/>
          </a:xfrm>
        </p:spPr>
        <p:txBody>
          <a:bodyPr>
            <a:normAutofit/>
          </a:bodyPr>
          <a:lstStyle/>
          <a:p>
            <a:pPr marL="0" indent="0" algn="l">
              <a:buNone/>
            </a:pPr>
            <a:r>
              <a:rPr lang="en-US" sz="2600" b="1" i="0" dirty="0">
                <a:solidFill>
                  <a:srgbClr val="FF0000"/>
                </a:solidFill>
                <a:effectLst/>
              </a:rPr>
              <a:t>Example 2</a:t>
            </a:r>
          </a:p>
          <a:p>
            <a:pPr marL="0" indent="0" algn="l">
              <a:buNone/>
            </a:pPr>
            <a:r>
              <a:rPr lang="en-US" sz="2600" b="1" i="0" dirty="0">
                <a:solidFill>
                  <a:srgbClr val="343434"/>
                </a:solidFill>
                <a:effectLst/>
              </a:rPr>
              <a:t>Input</a:t>
            </a:r>
            <a:endParaRPr lang="en-US" sz="2600" b="0" i="0" dirty="0">
              <a:solidFill>
                <a:srgbClr val="343434"/>
              </a:solidFill>
              <a:effectLst/>
            </a:endParaRPr>
          </a:p>
          <a:p>
            <a:pPr marL="0" indent="0" algn="l">
              <a:buNone/>
            </a:pPr>
            <a:r>
              <a:rPr lang="en-US" sz="2600" b="0" i="0" dirty="0">
                <a:solidFill>
                  <a:srgbClr val="343434"/>
                </a:solidFill>
                <a:effectLst/>
              </a:rPr>
              <a:t>72</a:t>
            </a:r>
          </a:p>
          <a:p>
            <a:pPr marL="0" indent="0" algn="l">
              <a:buNone/>
            </a:pPr>
            <a:r>
              <a:rPr lang="en-US" sz="2600" b="1" i="0" dirty="0">
                <a:solidFill>
                  <a:srgbClr val="343434"/>
                </a:solidFill>
                <a:effectLst/>
              </a:rPr>
              <a:t>Output</a:t>
            </a:r>
            <a:endParaRPr lang="en-US" sz="2600" b="0" i="0" dirty="0">
              <a:solidFill>
                <a:srgbClr val="343434"/>
              </a:solidFill>
              <a:effectLst/>
            </a:endParaRPr>
          </a:p>
          <a:p>
            <a:pPr marL="0" indent="0" algn="l">
              <a:buNone/>
            </a:pPr>
            <a:r>
              <a:rPr lang="en-US" sz="2600" b="0" i="0" dirty="0">
                <a:solidFill>
                  <a:srgbClr val="343434"/>
                </a:solidFill>
                <a:effectLst/>
              </a:rPr>
              <a:t>3</a:t>
            </a:r>
          </a:p>
          <a:p>
            <a:pPr marL="0" indent="0" algn="l">
              <a:buNone/>
            </a:pPr>
            <a:r>
              <a:rPr lang="en-US" sz="2600" b="1" i="0" dirty="0">
                <a:solidFill>
                  <a:srgbClr val="343434"/>
                </a:solidFill>
                <a:effectLst/>
              </a:rPr>
              <a:t>Explanation</a:t>
            </a:r>
            <a:endParaRPr lang="en-US" sz="2600" b="0" i="0" dirty="0">
              <a:solidFill>
                <a:srgbClr val="343434"/>
              </a:solidFill>
              <a:effectLst/>
            </a:endParaRPr>
          </a:p>
          <a:p>
            <a:pPr marL="0" indent="0" algn="l">
              <a:buNone/>
            </a:pPr>
            <a:r>
              <a:rPr lang="en-US" sz="2600" b="0" i="0" dirty="0">
                <a:solidFill>
                  <a:srgbClr val="343434"/>
                </a:solidFill>
                <a:effectLst/>
              </a:rPr>
              <a:t>N=72.  The numbers that divide 72 are</a:t>
            </a:r>
          </a:p>
          <a:p>
            <a:pPr marL="0" indent="0" algn="l">
              <a:buNone/>
            </a:pPr>
            <a:r>
              <a:rPr lang="en-US" sz="2600" b="0" i="0" dirty="0">
                <a:solidFill>
                  <a:srgbClr val="343434"/>
                </a:solidFill>
                <a:effectLst/>
              </a:rPr>
              <a:t>1, 2, 3, 4, 6, 8, 9, 12, 18, 24, 36, 72</a:t>
            </a:r>
          </a:p>
          <a:p>
            <a:pPr marL="0" indent="0" algn="l">
              <a:buNone/>
            </a:pPr>
            <a:r>
              <a:rPr lang="en-US" sz="2600" b="0" i="0" dirty="0">
                <a:solidFill>
                  <a:srgbClr val="343434"/>
                </a:solidFill>
                <a:effectLst/>
              </a:rPr>
              <a:t>1 is not considered square free. 4, 9 and 36 are perfect squares, and 8,12,18,24 and 72 are divisible by one of the.  Hence only 2, 3 and 6 are square free.  (It is easily seen that none of them are divisible by a perfect square).  The result is 3</a:t>
            </a:r>
          </a:p>
          <a:p>
            <a:pPr marL="0" indent="0">
              <a:buNone/>
            </a:pPr>
            <a:endParaRPr lang="en-IN" sz="2600" dirty="0"/>
          </a:p>
        </p:txBody>
      </p:sp>
    </p:spTree>
    <p:extLst>
      <p:ext uri="{BB962C8B-B14F-4D97-AF65-F5344CB8AC3E}">
        <p14:creationId xmlns:p14="http://schemas.microsoft.com/office/powerpoint/2010/main" val="182426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D9CBEF-7E0B-A778-9DBF-7C93C35EB49D}"/>
              </a:ext>
            </a:extLst>
          </p:cNvPr>
          <p:cNvSpPr>
            <a:spLocks noGrp="1"/>
          </p:cNvSpPr>
          <p:nvPr>
            <p:ph idx="1"/>
          </p:nvPr>
        </p:nvSpPr>
        <p:spPr>
          <a:xfrm>
            <a:off x="838200" y="422787"/>
            <a:ext cx="10515600" cy="5754176"/>
          </a:xfrm>
        </p:spPr>
        <p:txBody>
          <a:bodyPr>
            <a:normAutofit/>
          </a:bodyPr>
          <a:lstStyle/>
          <a:p>
            <a:pPr marL="0" indent="0">
              <a:spcBef>
                <a:spcPts val="0"/>
              </a:spcBef>
              <a:buNone/>
            </a:pPr>
            <a:r>
              <a:rPr lang="en-US" b="1" dirty="0"/>
              <a:t>import math</a:t>
            </a:r>
          </a:p>
          <a:p>
            <a:pPr marL="0" indent="0">
              <a:spcBef>
                <a:spcPts val="0"/>
              </a:spcBef>
              <a:buNone/>
            </a:pPr>
            <a:endParaRPr lang="en-US" b="1" dirty="0"/>
          </a:p>
          <a:p>
            <a:pPr marL="0" indent="0">
              <a:spcBef>
                <a:spcPts val="0"/>
              </a:spcBef>
              <a:buNone/>
            </a:pPr>
            <a:r>
              <a:rPr lang="en-US" b="1" dirty="0"/>
              <a:t>N = int(input())</a:t>
            </a:r>
          </a:p>
          <a:p>
            <a:pPr marL="0" indent="0">
              <a:spcBef>
                <a:spcPts val="0"/>
              </a:spcBef>
              <a:buNone/>
            </a:pPr>
            <a:r>
              <a:rPr lang="en-US" b="1" dirty="0"/>
              <a:t>c = 0  # Count of Prime Factors</a:t>
            </a:r>
          </a:p>
          <a:p>
            <a:pPr marL="0" indent="0">
              <a:spcBef>
                <a:spcPts val="0"/>
              </a:spcBef>
              <a:buNone/>
            </a:pPr>
            <a:r>
              <a:rPr lang="en-US" b="1" dirty="0" err="1"/>
              <a:t>prime_list</a:t>
            </a:r>
            <a:r>
              <a:rPr lang="en-US" b="1" dirty="0"/>
              <a:t> = [2, 3, 5, 7, 11, 13, 17, 19]</a:t>
            </a:r>
          </a:p>
          <a:p>
            <a:pPr marL="0" indent="0">
              <a:spcBef>
                <a:spcPts val="0"/>
              </a:spcBef>
              <a:buNone/>
            </a:pPr>
            <a:endParaRPr lang="en-US" b="1" dirty="0"/>
          </a:p>
          <a:p>
            <a:pPr marL="0" indent="0">
              <a:spcBef>
                <a:spcPts val="0"/>
              </a:spcBef>
              <a:buNone/>
            </a:pPr>
            <a:r>
              <a:rPr lang="en-US" b="1" dirty="0"/>
              <a:t>for </a:t>
            </a:r>
            <a:r>
              <a:rPr lang="en-US" b="1" dirty="0" err="1"/>
              <a:t>i</a:t>
            </a:r>
            <a:r>
              <a:rPr lang="en-US" b="1" dirty="0"/>
              <a:t> in </a:t>
            </a:r>
            <a:r>
              <a:rPr lang="en-US" b="1" dirty="0" err="1"/>
              <a:t>prime_list</a:t>
            </a:r>
            <a:r>
              <a:rPr lang="en-US" b="1" dirty="0"/>
              <a:t>:</a:t>
            </a:r>
          </a:p>
          <a:p>
            <a:pPr marL="0" indent="0">
              <a:spcBef>
                <a:spcPts val="0"/>
              </a:spcBef>
              <a:buNone/>
            </a:pPr>
            <a:r>
              <a:rPr lang="en-US" b="1" dirty="0"/>
              <a:t>    if N % </a:t>
            </a:r>
            <a:r>
              <a:rPr lang="en-US" b="1" dirty="0" err="1"/>
              <a:t>i</a:t>
            </a:r>
            <a:r>
              <a:rPr lang="en-US" b="1" dirty="0"/>
              <a:t> == 0:</a:t>
            </a:r>
          </a:p>
          <a:p>
            <a:pPr marL="0" indent="0">
              <a:spcBef>
                <a:spcPts val="0"/>
              </a:spcBef>
              <a:buNone/>
            </a:pPr>
            <a:r>
              <a:rPr lang="en-US" b="1" dirty="0"/>
              <a:t>        c += 1</a:t>
            </a:r>
          </a:p>
          <a:p>
            <a:pPr marL="0" indent="0">
              <a:spcBef>
                <a:spcPts val="0"/>
              </a:spcBef>
              <a:buNone/>
            </a:pPr>
            <a:endParaRPr lang="en-US" b="1" dirty="0"/>
          </a:p>
          <a:p>
            <a:pPr marL="0" indent="0">
              <a:spcBef>
                <a:spcPts val="0"/>
              </a:spcBef>
              <a:buNone/>
            </a:pPr>
            <a:r>
              <a:rPr lang="en-US" b="1" dirty="0"/>
              <a:t>print((2 ** c) - 1)</a:t>
            </a:r>
          </a:p>
          <a:p>
            <a:pPr marL="0" indent="0">
              <a:spcBef>
                <a:spcPts val="0"/>
              </a:spcBef>
              <a:buNone/>
            </a:pPr>
            <a:endParaRPr lang="en-IN" b="1" dirty="0"/>
          </a:p>
        </p:txBody>
      </p:sp>
    </p:spTree>
    <p:extLst>
      <p:ext uri="{BB962C8B-B14F-4D97-AF65-F5344CB8AC3E}">
        <p14:creationId xmlns:p14="http://schemas.microsoft.com/office/powerpoint/2010/main" val="312022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D0D0F-562A-8544-7F00-117D49472FAD}"/>
              </a:ext>
            </a:extLst>
          </p:cNvPr>
          <p:cNvSpPr>
            <a:spLocks noGrp="1"/>
          </p:cNvSpPr>
          <p:nvPr>
            <p:ph type="title"/>
          </p:nvPr>
        </p:nvSpPr>
        <p:spPr>
          <a:xfrm>
            <a:off x="838200" y="365125"/>
            <a:ext cx="10515600" cy="490281"/>
          </a:xfrm>
        </p:spPr>
        <p:txBody>
          <a:bodyPr>
            <a:normAutofit fontScale="90000"/>
          </a:bodyPr>
          <a:lstStyle/>
          <a:p>
            <a:r>
              <a:rPr lang="en-IN" sz="3200" b="1" dirty="0">
                <a:solidFill>
                  <a:srgbClr val="FF0000"/>
                </a:solidFill>
                <a:effectLst/>
                <a:highlight>
                  <a:srgbClr val="FFFFFF"/>
                </a:highlight>
                <a:latin typeface="+mn-lt"/>
                <a:ea typeface="Times New Roman" panose="02020603050405020304" pitchFamily="18" charset="0"/>
              </a:rPr>
              <a:t>Problem Statement 3</a:t>
            </a:r>
            <a:endParaRPr lang="en-IN" sz="3200" dirty="0">
              <a:solidFill>
                <a:srgbClr val="FF0000"/>
              </a:solidFill>
              <a:latin typeface="+mn-lt"/>
            </a:endParaRPr>
          </a:p>
        </p:txBody>
      </p:sp>
      <p:sp>
        <p:nvSpPr>
          <p:cNvPr id="3" name="Content Placeholder 2">
            <a:extLst>
              <a:ext uri="{FF2B5EF4-FFF2-40B4-BE49-F238E27FC236}">
                <a16:creationId xmlns:a16="http://schemas.microsoft.com/office/drawing/2014/main" id="{4808F001-1E61-1938-C1BE-3ADB732C191A}"/>
              </a:ext>
            </a:extLst>
          </p:cNvPr>
          <p:cNvSpPr>
            <a:spLocks noGrp="1"/>
          </p:cNvSpPr>
          <p:nvPr>
            <p:ph idx="1"/>
          </p:nvPr>
        </p:nvSpPr>
        <p:spPr>
          <a:xfrm>
            <a:off x="838200" y="1032387"/>
            <a:ext cx="10515600" cy="5144576"/>
          </a:xfrm>
        </p:spPr>
        <p:txBody>
          <a:bodyPr>
            <a:normAutofit/>
          </a:bodyPr>
          <a:lstStyle/>
          <a:p>
            <a:pPr algn="just">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Joseph is learning digital logic subject which will be for his next semester. He usually tries to solve unit assignment problems before the lecture. Today he got one tricky question. The problem statement is “A positive integer has been given as an input. Convert decimal value to binary representation. Toggle all bits of it after the most significant bit including the most significant bit. Print the positive integer value after toggling all bits”.</a:t>
            </a:r>
          </a:p>
          <a:p>
            <a:pPr algn="just">
              <a:lnSpc>
                <a:spcPts val="2100"/>
              </a:lnSpc>
              <a:buFont typeface="Wingdings" panose="05000000000000000000" pitchFamily="2" charset="2"/>
              <a:buChar char="Ø"/>
            </a:pPr>
            <a:endParaRPr lang="en-IN" sz="2400" b="1" dirty="0">
              <a:effectLst/>
              <a:highlight>
                <a:srgbClr val="FFFFFF"/>
              </a:highlight>
              <a:ea typeface="Times New Roman" panose="02020603050405020304" pitchFamily="18" charset="0"/>
            </a:endParaRPr>
          </a:p>
          <a:p>
            <a:pPr algn="just">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Constrains</a:t>
            </a:r>
            <a:endParaRPr lang="en-IN" sz="2400" b="1" dirty="0">
              <a:effectLst/>
              <a:highlight>
                <a:srgbClr val="FFFFFF"/>
              </a:highlight>
              <a:ea typeface="Times New Roman" panose="02020603050405020304" pitchFamily="18" charset="0"/>
            </a:endParaRPr>
          </a:p>
          <a:p>
            <a:pPr marL="0" indent="0" algn="just">
              <a:lnSpc>
                <a:spcPts val="2100"/>
              </a:lnSpc>
              <a:buNone/>
            </a:pPr>
            <a:endParaRPr lang="en-IN" sz="2400" b="1" dirty="0">
              <a:solidFill>
                <a:srgbClr val="343434"/>
              </a:solidFill>
              <a:effectLst/>
              <a:highlight>
                <a:srgbClr val="FFFFFF"/>
              </a:highlight>
              <a:ea typeface="Times New Roman" panose="02020603050405020304" pitchFamily="18" charset="0"/>
            </a:endParaRPr>
          </a:p>
          <a:p>
            <a:pPr marL="0" indent="0" algn="just">
              <a:lnSpc>
                <a:spcPts val="2100"/>
              </a:lnSpc>
              <a:buNone/>
            </a:pPr>
            <a:r>
              <a:rPr lang="en-IN" sz="2400" b="1" dirty="0">
                <a:solidFill>
                  <a:srgbClr val="343434"/>
                </a:solidFill>
                <a:effectLst/>
                <a:highlight>
                  <a:srgbClr val="FFFFFF"/>
                </a:highlight>
                <a:ea typeface="Times New Roman" panose="02020603050405020304" pitchFamily="18" charset="0"/>
              </a:rPr>
              <a:t>1&lt;=N&lt;=100</a:t>
            </a:r>
            <a:endParaRPr lang="en-IN" sz="2400" b="1" dirty="0">
              <a:effectLst/>
              <a:highlight>
                <a:srgbClr val="FFFFFF"/>
              </a:highlight>
              <a:ea typeface="Times New Roman" panose="02020603050405020304" pitchFamily="18" charset="0"/>
            </a:endParaRPr>
          </a:p>
          <a:p>
            <a:pPr algn="just">
              <a:buFont typeface="Wingdings" panose="05000000000000000000" pitchFamily="2" charset="2"/>
              <a:buChar char="Ø"/>
            </a:pPr>
            <a:endParaRPr lang="en-IN" sz="2400" b="1" dirty="0"/>
          </a:p>
        </p:txBody>
      </p:sp>
    </p:spTree>
    <p:extLst>
      <p:ext uri="{BB962C8B-B14F-4D97-AF65-F5344CB8AC3E}">
        <p14:creationId xmlns:p14="http://schemas.microsoft.com/office/powerpoint/2010/main" val="2110598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D0C9B-1AE9-8ECA-6812-BF651D3A3ED0}"/>
              </a:ext>
            </a:extLst>
          </p:cNvPr>
          <p:cNvSpPr>
            <a:spLocks noGrp="1"/>
          </p:cNvSpPr>
          <p:nvPr>
            <p:ph idx="1"/>
          </p:nvPr>
        </p:nvSpPr>
        <p:spPr>
          <a:xfrm>
            <a:off x="838200" y="1052052"/>
            <a:ext cx="10515600" cy="5124911"/>
          </a:xfrm>
        </p:spPr>
        <p:txBody>
          <a:bodyPr>
            <a:normAutofit/>
          </a:bodyPr>
          <a:lstStyle/>
          <a:p>
            <a:pPr marL="0" indent="0">
              <a:lnSpc>
                <a:spcPts val="2100"/>
              </a:lnSpc>
              <a:buNone/>
            </a:pPr>
            <a:r>
              <a:rPr lang="en-IN" sz="2400" b="1" dirty="0">
                <a:solidFill>
                  <a:srgbClr val="FF0000"/>
                </a:solidFill>
                <a:effectLst/>
                <a:highlight>
                  <a:srgbClr val="FFFFFF"/>
                </a:highlight>
                <a:ea typeface="Times New Roman" panose="02020603050405020304" pitchFamily="18" charset="0"/>
              </a:rPr>
              <a:t>Example 1:</a:t>
            </a:r>
          </a:p>
          <a:p>
            <a:pPr marL="0" indent="0">
              <a:lnSpc>
                <a:spcPts val="2100"/>
              </a:lnSpc>
              <a:buNone/>
            </a:pPr>
            <a:endParaRPr lang="en-IN" sz="2400" dirty="0">
              <a:effectLst/>
              <a:highlight>
                <a:srgbClr val="FFFFFF"/>
              </a:highlight>
              <a:ea typeface="Times New Roman" panose="02020603050405020304" pitchFamily="18" charset="0"/>
            </a:endParaRPr>
          </a:p>
          <a:p>
            <a:pPr marL="0" indent="0">
              <a:lnSpc>
                <a:spcPts val="2100"/>
              </a:lnSpc>
              <a:buNone/>
            </a:pPr>
            <a:r>
              <a:rPr lang="en-IN" sz="2400" b="1" dirty="0">
                <a:solidFill>
                  <a:srgbClr val="343434"/>
                </a:solidFill>
                <a:effectLst/>
                <a:highlight>
                  <a:srgbClr val="FFFFFF"/>
                </a:highlight>
                <a:ea typeface="Times New Roman" panose="02020603050405020304" pitchFamily="18" charset="0"/>
              </a:rPr>
              <a:t>Input :</a:t>
            </a:r>
            <a:endParaRPr lang="en-IN" sz="2400" dirty="0">
              <a:effectLst/>
              <a:highlight>
                <a:srgbClr val="FFFFFF"/>
              </a:highlight>
              <a:ea typeface="Times New Roman" panose="02020603050405020304" pitchFamily="18" charset="0"/>
            </a:endParaRPr>
          </a:p>
          <a:p>
            <a:pPr marL="0" indent="0">
              <a:lnSpc>
                <a:spcPts val="2100"/>
              </a:lnSpc>
              <a:buNone/>
            </a:pPr>
            <a:r>
              <a:rPr lang="en-IN" sz="2400" dirty="0">
                <a:solidFill>
                  <a:srgbClr val="343434"/>
                </a:solidFill>
                <a:effectLst/>
                <a:highlight>
                  <a:srgbClr val="FFFFFF"/>
                </a:highlight>
                <a:ea typeface="Times New Roman" panose="02020603050405020304" pitchFamily="18" charset="0"/>
              </a:rPr>
              <a:t>10  -&gt; Integer</a:t>
            </a:r>
            <a:endParaRPr lang="en-IN" sz="2400" dirty="0">
              <a:effectLst/>
              <a:highlight>
                <a:srgbClr val="FFFFFF"/>
              </a:highlight>
              <a:ea typeface="Times New Roman" panose="02020603050405020304" pitchFamily="18" charset="0"/>
            </a:endParaRPr>
          </a:p>
          <a:p>
            <a:pPr marL="0" indent="0">
              <a:lnSpc>
                <a:spcPts val="2100"/>
              </a:lnSpc>
              <a:buNone/>
            </a:pPr>
            <a:r>
              <a:rPr lang="en-IN" sz="2400" b="1" dirty="0">
                <a:solidFill>
                  <a:srgbClr val="343434"/>
                </a:solidFill>
                <a:effectLst/>
                <a:highlight>
                  <a:srgbClr val="FFFFFF"/>
                </a:highlight>
                <a:ea typeface="Times New Roman" panose="02020603050405020304" pitchFamily="18" charset="0"/>
              </a:rPr>
              <a:t>Output :</a:t>
            </a:r>
            <a:endParaRPr lang="en-IN" sz="2400" dirty="0">
              <a:effectLst/>
              <a:highlight>
                <a:srgbClr val="FFFFFF"/>
              </a:highlight>
              <a:ea typeface="Times New Roman" panose="02020603050405020304" pitchFamily="18" charset="0"/>
            </a:endParaRPr>
          </a:p>
          <a:p>
            <a:pPr marL="0" indent="0">
              <a:lnSpc>
                <a:spcPts val="2100"/>
              </a:lnSpc>
              <a:buNone/>
            </a:pPr>
            <a:r>
              <a:rPr lang="en-IN" sz="2400" dirty="0">
                <a:solidFill>
                  <a:srgbClr val="343434"/>
                </a:solidFill>
                <a:effectLst/>
                <a:highlight>
                  <a:srgbClr val="FFFFFF"/>
                </a:highlight>
                <a:ea typeface="Times New Roman" panose="02020603050405020304" pitchFamily="18" charset="0"/>
              </a:rPr>
              <a:t>5    -&gt; result- Integer</a:t>
            </a:r>
          </a:p>
          <a:p>
            <a:pPr marL="0" indent="0">
              <a:lnSpc>
                <a:spcPts val="2100"/>
              </a:lnSpc>
              <a:buNone/>
            </a:pPr>
            <a:endParaRPr lang="en-IN" sz="2400" dirty="0">
              <a:effectLst/>
              <a:highlight>
                <a:srgbClr val="FFFFFF"/>
              </a:highlight>
              <a:ea typeface="Times New Roman" panose="02020603050405020304" pitchFamily="18" charset="0"/>
            </a:endParaRPr>
          </a:p>
          <a:p>
            <a:pPr marL="0" indent="0">
              <a:lnSpc>
                <a:spcPts val="2100"/>
              </a:lnSpc>
              <a:buNone/>
            </a:pPr>
            <a:r>
              <a:rPr lang="en-IN" sz="2400" b="1" dirty="0">
                <a:solidFill>
                  <a:srgbClr val="343434"/>
                </a:solidFill>
                <a:effectLst/>
                <a:highlight>
                  <a:srgbClr val="FFFFFF"/>
                </a:highlight>
                <a:ea typeface="Times New Roman" panose="02020603050405020304" pitchFamily="18" charset="0"/>
              </a:rPr>
              <a:t>Explanation:</a:t>
            </a:r>
            <a:endParaRPr lang="en-IN" sz="2400" dirty="0">
              <a:effectLst/>
              <a:highlight>
                <a:srgbClr val="FFFFFF"/>
              </a:highlight>
              <a:ea typeface="Times New Roman" panose="02020603050405020304" pitchFamily="18" charset="0"/>
            </a:endParaRPr>
          </a:p>
          <a:p>
            <a:pPr marL="0" indent="0">
              <a:lnSpc>
                <a:spcPts val="2100"/>
              </a:lnSpc>
              <a:buNone/>
            </a:pPr>
            <a:r>
              <a:rPr lang="en-IN" sz="2400" dirty="0">
                <a:solidFill>
                  <a:srgbClr val="343434"/>
                </a:solidFill>
                <a:effectLst/>
                <a:highlight>
                  <a:srgbClr val="FFFFFF"/>
                </a:highlight>
                <a:ea typeface="Times New Roman" panose="02020603050405020304" pitchFamily="18" charset="0"/>
              </a:rPr>
              <a:t>Binary representation of 10 is 1010. After toggling the bits(1010), will get 0101 which represents “5”. Hence output will print “5”.</a:t>
            </a:r>
            <a:endParaRPr lang="en-IN" sz="2400" dirty="0">
              <a:effectLst/>
              <a:highlight>
                <a:srgbClr val="FFFFFF"/>
              </a:highlight>
              <a:ea typeface="Times New Roman" panose="02020603050405020304" pitchFamily="18" charset="0"/>
            </a:endParaRPr>
          </a:p>
          <a:p>
            <a:pPr marL="0" indent="0">
              <a:buNone/>
            </a:pPr>
            <a:endParaRPr lang="en-IN" sz="2400" dirty="0"/>
          </a:p>
        </p:txBody>
      </p:sp>
    </p:spTree>
    <p:extLst>
      <p:ext uri="{BB962C8B-B14F-4D97-AF65-F5344CB8AC3E}">
        <p14:creationId xmlns:p14="http://schemas.microsoft.com/office/powerpoint/2010/main" val="401601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DCE680-1DC8-3036-4071-61C7B37E0682}"/>
              </a:ext>
            </a:extLst>
          </p:cNvPr>
          <p:cNvSpPr>
            <a:spLocks noGrp="1"/>
          </p:cNvSpPr>
          <p:nvPr>
            <p:ph idx="1"/>
          </p:nvPr>
        </p:nvSpPr>
        <p:spPr>
          <a:xfrm>
            <a:off x="838200" y="1504335"/>
            <a:ext cx="10515600" cy="4672628"/>
          </a:xfrm>
        </p:spPr>
        <p:txBody>
          <a:bodyPr>
            <a:normAutofit/>
          </a:bodyPr>
          <a:lstStyle/>
          <a:p>
            <a:pPr marL="0" indent="0">
              <a:lnSpc>
                <a:spcPct val="1070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import math</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n=int(input())</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k=(1&lt;&lt; int(math.log2(n))+1)-1</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print(</a:t>
            </a:r>
            <a:r>
              <a:rPr lang="en-IN" sz="2400" b="1" kern="0" dirty="0" err="1">
                <a:solidFill>
                  <a:srgbClr val="343434"/>
                </a:solidFill>
                <a:effectLst/>
                <a:highlight>
                  <a:srgbClr val="FFFFFF"/>
                </a:highlight>
                <a:ea typeface="Times New Roman" panose="02020603050405020304" pitchFamily="18" charset="0"/>
                <a:cs typeface="Times New Roman" panose="02020603050405020304" pitchFamily="18" charset="0"/>
              </a:rPr>
              <a:t>n^k</a:t>
            </a: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buNone/>
            </a:pPr>
            <a:endParaRPr lang="en-IN" sz="2400" dirty="0"/>
          </a:p>
        </p:txBody>
      </p:sp>
    </p:spTree>
    <p:extLst>
      <p:ext uri="{BB962C8B-B14F-4D97-AF65-F5344CB8AC3E}">
        <p14:creationId xmlns:p14="http://schemas.microsoft.com/office/powerpoint/2010/main" val="3910325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27CD0-6341-EBC1-2C67-A7090AAD247D}"/>
              </a:ext>
            </a:extLst>
          </p:cNvPr>
          <p:cNvSpPr>
            <a:spLocks noGrp="1"/>
          </p:cNvSpPr>
          <p:nvPr>
            <p:ph type="title"/>
          </p:nvPr>
        </p:nvSpPr>
        <p:spPr>
          <a:xfrm>
            <a:off x="838200" y="157317"/>
            <a:ext cx="10515600" cy="523720"/>
          </a:xfrm>
        </p:spPr>
        <p:txBody>
          <a:bodyPr>
            <a:normAutofit/>
          </a:bodyPr>
          <a:lstStyle/>
          <a:p>
            <a:r>
              <a:rPr lang="en-IN" sz="3000" b="1" kern="0" dirty="0">
                <a:solidFill>
                  <a:srgbClr val="FF0000"/>
                </a:solidFill>
                <a:effectLst/>
                <a:highlight>
                  <a:srgbClr val="FFFFFF"/>
                </a:highlight>
                <a:latin typeface="+mn-lt"/>
                <a:ea typeface="Times New Roman" panose="02020603050405020304" pitchFamily="18" charset="0"/>
                <a:cs typeface="Times New Roman" panose="02020603050405020304" pitchFamily="18" charset="0"/>
              </a:rPr>
              <a:t>Problem Statement 4</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4190362E-58B9-DFA2-2AE7-E06C9EAE65A2}"/>
              </a:ext>
            </a:extLst>
          </p:cNvPr>
          <p:cNvSpPr>
            <a:spLocks noGrp="1"/>
          </p:cNvSpPr>
          <p:nvPr>
            <p:ph idx="1"/>
          </p:nvPr>
        </p:nvSpPr>
        <p:spPr>
          <a:xfrm>
            <a:off x="838200" y="943897"/>
            <a:ext cx="10515600" cy="5233066"/>
          </a:xfrm>
        </p:spPr>
        <p:txBody>
          <a:bodyPr>
            <a:normAutofit/>
          </a:bodyPr>
          <a:lstStyle/>
          <a:p>
            <a:pPr>
              <a:lnSpc>
                <a:spcPts val="2100"/>
              </a:lnSpc>
              <a:spcAft>
                <a:spcPts val="800"/>
              </a:spcAft>
              <a:buFont typeface="Wingdings" panose="05000000000000000000" pitchFamily="2" charset="2"/>
              <a:buChar char="Ø"/>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An automobile company manufactures both a two wheeler (TW) and a four wheeler (FW). A company manager wants to make the production of both types of vehicle according to the given data below:</a:t>
            </a:r>
            <a:endParaRPr lang="en-IN" sz="2400" b="1" kern="100" dirty="0">
              <a:effectLst/>
              <a:highlight>
                <a:srgbClr val="FFFFFF"/>
              </a:highlight>
              <a:ea typeface="Calibri" panose="020F0502020204030204" pitchFamily="34" charset="0"/>
              <a:cs typeface="Cordia New" panose="020B0304020202020204" pitchFamily="34" charset="-34"/>
            </a:endParaRPr>
          </a:p>
          <a:p>
            <a:pPr lvl="0">
              <a:lnSpc>
                <a:spcPct val="107000"/>
              </a:lnSpc>
              <a:spcAft>
                <a:spcPts val="800"/>
              </a:spcAft>
              <a:buSzPts val="1000"/>
              <a:buFont typeface="Wingdings" panose="05000000000000000000" pitchFamily="2" charset="2"/>
              <a:buChar char="Ø"/>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1st data, Total number of vehicle (two-wheeler + four-wheeler)=v</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a:p>
            <a:pPr lvl="0">
              <a:lnSpc>
                <a:spcPct val="107000"/>
              </a:lnSpc>
              <a:spcAft>
                <a:spcPts val="800"/>
              </a:spcAft>
              <a:buSzPts val="1000"/>
              <a:buFont typeface="Wingdings" panose="05000000000000000000" pitchFamily="2" charset="2"/>
              <a:buChar char="Ø"/>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2nd data, Total number of wheels = W</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a:p>
            <a:pPr>
              <a:buFont typeface="Wingdings" panose="05000000000000000000" pitchFamily="2" charset="2"/>
              <a:buChar char="Ø"/>
            </a:pPr>
            <a:r>
              <a:rPr lang="en-IN" sz="2400" b="1" kern="0" dirty="0">
                <a:solidFill>
                  <a:srgbClr val="343434"/>
                </a:solidFill>
                <a:effectLst/>
                <a:ea typeface="Times New Roman" panose="02020603050405020304" pitchFamily="18" charset="0"/>
                <a:cs typeface="Times New Roman" panose="02020603050405020304" pitchFamily="18" charset="0"/>
              </a:rPr>
              <a:t>The task is to find how many two-wheelers as well as four-wheelers need to manufacture as per the given data.</a:t>
            </a:r>
            <a:br>
              <a:rPr lang="en-IN" sz="2400" b="1" kern="0" dirty="0">
                <a:solidFill>
                  <a:srgbClr val="343434"/>
                </a:solidFill>
                <a:effectLst/>
                <a:ea typeface="Times New Roman" panose="02020603050405020304" pitchFamily="18" charset="0"/>
                <a:cs typeface="Times New Roman" panose="02020603050405020304" pitchFamily="18" charset="0"/>
              </a:rPr>
            </a:br>
            <a:endParaRPr lang="en-IN" sz="2400" b="1" dirty="0"/>
          </a:p>
        </p:txBody>
      </p:sp>
    </p:spTree>
    <p:extLst>
      <p:ext uri="{BB962C8B-B14F-4D97-AF65-F5344CB8AC3E}">
        <p14:creationId xmlns:p14="http://schemas.microsoft.com/office/powerpoint/2010/main" val="95237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6FCFBF-CC74-6820-5577-EF308D4F9D61}"/>
              </a:ext>
            </a:extLst>
          </p:cNvPr>
          <p:cNvSpPr>
            <a:spLocks noGrp="1"/>
          </p:cNvSpPr>
          <p:nvPr>
            <p:ph idx="1"/>
          </p:nvPr>
        </p:nvSpPr>
        <p:spPr>
          <a:xfrm>
            <a:off x="838200" y="235974"/>
            <a:ext cx="10515600" cy="6135329"/>
          </a:xfrm>
        </p:spPr>
        <p:txBody>
          <a:bodyPr>
            <a:normAutofit/>
          </a:bodyPr>
          <a:lstStyle/>
          <a:p>
            <a:pPr marL="0" indent="0">
              <a:lnSpc>
                <a:spcPts val="2100"/>
              </a:lnSpc>
              <a:spcAft>
                <a:spcPts val="800"/>
              </a:spcAft>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Example :</a:t>
            </a:r>
            <a:endParaRPr lang="en-IN" sz="2400" kern="100" dirty="0">
              <a:solidFill>
                <a:srgbClr val="FF0000"/>
              </a:solidFill>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Input :</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200  -&gt; Value of V</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540   -&gt; Value of W</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Output :</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TW =130 FW=70</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Explanation:</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130+70 = 200 vehicles</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(70*4)+(130*2)= 540 wheels</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Constraints :</a:t>
            </a:r>
            <a:endParaRPr lang="en-IN" sz="2400" kern="100" dirty="0">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2&lt;=W</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W%2=0</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V&lt;W</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Print “INVALID INPUT” , if inputs did not meet the constraints.</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buNone/>
            </a:pPr>
            <a:endParaRPr lang="en-IN" sz="2400" dirty="0"/>
          </a:p>
        </p:txBody>
      </p:sp>
    </p:spTree>
    <p:extLst>
      <p:ext uri="{BB962C8B-B14F-4D97-AF65-F5344CB8AC3E}">
        <p14:creationId xmlns:p14="http://schemas.microsoft.com/office/powerpoint/2010/main" val="4194189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77AE90-6F02-E23A-B393-E6C4C6C98501}"/>
              </a:ext>
            </a:extLst>
          </p:cNvPr>
          <p:cNvSpPr>
            <a:spLocks noGrp="1"/>
          </p:cNvSpPr>
          <p:nvPr>
            <p:ph idx="1"/>
          </p:nvPr>
        </p:nvSpPr>
        <p:spPr>
          <a:xfrm>
            <a:off x="838200" y="648929"/>
            <a:ext cx="10515600" cy="5528034"/>
          </a:xfrm>
        </p:spPr>
        <p:txBody>
          <a:bodyPr>
            <a:normAutofit/>
          </a:bodyPr>
          <a:lstStyle/>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The input format for testing </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The candidate has to write the code to accept two positive numbers separated by a new line.</a:t>
            </a:r>
            <a:endParaRPr lang="en-IN" sz="2400" kern="100" dirty="0">
              <a:effectLst/>
              <a:highlight>
                <a:srgbClr val="FFFFFF"/>
              </a:highlight>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First Input line – Accept value of V.</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Second Input line- Accept value for W.</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The output format for testing </a:t>
            </a:r>
            <a:endParaRPr lang="en-IN" sz="2400" kern="100" dirty="0">
              <a:effectLst/>
              <a:highlight>
                <a:srgbClr val="FFFFFF"/>
              </a:highlight>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Written program code should generate two outputs, each separated by a single space character(see the example)</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Additional messages in the output will result in the failure of test case</a:t>
            </a:r>
            <a:endParaRPr lang="en-IN" sz="2400" kern="100" dirty="0">
              <a:solidFill>
                <a:srgbClr val="343434"/>
              </a:solidFill>
              <a:effectLst/>
              <a:highlight>
                <a:srgbClr val="FFFFFF"/>
              </a:highlight>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2956880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027F31-30C2-355C-E4CB-DB2ABB2E7B7E}"/>
              </a:ext>
            </a:extLst>
          </p:cNvPr>
          <p:cNvSpPr>
            <a:spLocks noGrp="1"/>
          </p:cNvSpPr>
          <p:nvPr>
            <p:ph idx="1"/>
          </p:nvPr>
        </p:nvSpPr>
        <p:spPr>
          <a:xfrm>
            <a:off x="838200" y="570271"/>
            <a:ext cx="10515600" cy="5606692"/>
          </a:xfrm>
        </p:spPr>
        <p:txBody>
          <a:bodyPr>
            <a:normAutofit/>
          </a:bodyPr>
          <a:lstStyle/>
          <a:p>
            <a:pPr marL="0" indent="0">
              <a:lnSpc>
                <a:spcPct val="107000"/>
              </a:lnSpc>
              <a:spcAft>
                <a:spcPts val="800"/>
              </a:spcAft>
              <a:buNone/>
            </a:pPr>
            <a:r>
              <a:rPr lang="en-IN" sz="2400" b="1" kern="100" dirty="0">
                <a:effectLst/>
                <a:ea typeface="Calibri" panose="020F0502020204030204" pitchFamily="34" charset="0"/>
                <a:cs typeface="Cordia New" panose="020B0304020202020204" pitchFamily="34" charset="-34"/>
              </a:rPr>
              <a:t>v=5</a:t>
            </a:r>
            <a:endParaRPr lang="en-IN" sz="2400" kern="100" dirty="0">
              <a:effectLs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100" dirty="0">
                <a:effectLst/>
                <a:ea typeface="Calibri" panose="020F0502020204030204" pitchFamily="34" charset="0"/>
                <a:cs typeface="Cordia New" panose="020B0304020202020204" pitchFamily="34" charset="-34"/>
              </a:rPr>
              <a:t>w=6</a:t>
            </a:r>
            <a:endParaRPr lang="en-IN" sz="2400" kern="100" dirty="0">
              <a:effectLs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100" dirty="0">
                <a:effectLst/>
                <a:ea typeface="Calibri" panose="020F0502020204030204" pitchFamily="34" charset="0"/>
                <a:cs typeface="Cordia New" panose="020B0304020202020204" pitchFamily="34" charset="-34"/>
              </a:rPr>
              <a:t>if (w&amp;1)==1 or w&lt;2 or w&lt;=v:</a:t>
            </a:r>
            <a:endParaRPr lang="en-IN" sz="2400" kern="100" dirty="0">
              <a:effectLs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100" dirty="0">
                <a:effectLst/>
                <a:ea typeface="Calibri" panose="020F0502020204030204" pitchFamily="34" charset="0"/>
                <a:cs typeface="Cordia New" panose="020B0304020202020204" pitchFamily="34" charset="-34"/>
              </a:rPr>
              <a:t>    print("INVALID INPUT")</a:t>
            </a:r>
            <a:endParaRPr lang="en-IN" sz="2400" kern="100" dirty="0">
              <a:effectLs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100" dirty="0">
                <a:effectLst/>
                <a:ea typeface="Calibri" panose="020F0502020204030204" pitchFamily="34" charset="0"/>
                <a:cs typeface="Cordia New" panose="020B0304020202020204" pitchFamily="34" charset="-34"/>
              </a:rPr>
              <a:t>else:</a:t>
            </a:r>
            <a:endParaRPr lang="en-IN" sz="2400" kern="100" dirty="0">
              <a:effectLst/>
              <a:ea typeface="Calibri" panose="020F0502020204030204" pitchFamily="34" charset="0"/>
              <a:cs typeface="Cordia New" panose="020B0304020202020204" pitchFamily="34" charset="-34"/>
            </a:endParaRPr>
          </a:p>
          <a:p>
            <a:pPr marL="0" indent="0">
              <a:lnSpc>
                <a:spcPct val="107000"/>
              </a:lnSpc>
              <a:spcAft>
                <a:spcPts val="800"/>
              </a:spcAft>
              <a:buNone/>
            </a:pPr>
            <a:r>
              <a:rPr lang="en-IN" sz="2400" b="1" kern="100" dirty="0">
                <a:effectLst/>
                <a:ea typeface="Calibri" panose="020F0502020204030204" pitchFamily="34" charset="0"/>
                <a:cs typeface="Cordia New" panose="020B0304020202020204" pitchFamily="34" charset="-34"/>
              </a:rPr>
              <a:t>    x=((4*v) -w)//2</a:t>
            </a:r>
            <a:endParaRPr lang="en-IN" sz="2400" kern="100" dirty="0">
              <a:effectLst/>
              <a:ea typeface="Calibri" panose="020F0502020204030204" pitchFamily="34" charset="0"/>
              <a:cs typeface="Cordia New" panose="020B0304020202020204" pitchFamily="34" charset="-34"/>
            </a:endParaRPr>
          </a:p>
          <a:p>
            <a:pPr marL="0" indent="0">
              <a:buNone/>
            </a:pPr>
            <a:r>
              <a:rPr lang="en-IN" sz="2400" b="1" dirty="0">
                <a:effectLst/>
                <a:ea typeface="Calibri" panose="020F0502020204030204" pitchFamily="34" charset="0"/>
                <a:cs typeface="Cordia New" panose="020B0304020202020204" pitchFamily="34" charset="-34"/>
              </a:rPr>
              <a:t>    print("TW={0} FW={1}".format(</a:t>
            </a:r>
            <a:r>
              <a:rPr lang="en-IN" sz="2400" b="1" dirty="0" err="1">
                <a:effectLst/>
                <a:ea typeface="Calibri" panose="020F0502020204030204" pitchFamily="34" charset="0"/>
                <a:cs typeface="Cordia New" panose="020B0304020202020204" pitchFamily="34" charset="-34"/>
              </a:rPr>
              <a:t>x,v</a:t>
            </a:r>
            <a:r>
              <a:rPr lang="en-IN" sz="2400" b="1" dirty="0">
                <a:effectLst/>
                <a:ea typeface="Calibri" panose="020F0502020204030204" pitchFamily="34" charset="0"/>
                <a:cs typeface="Cordia New" panose="020B0304020202020204" pitchFamily="34" charset="-34"/>
              </a:rPr>
              <a:t>-x))</a:t>
            </a:r>
            <a:endParaRPr lang="en-IN" sz="2400" dirty="0"/>
          </a:p>
        </p:txBody>
      </p:sp>
    </p:spTree>
    <p:extLst>
      <p:ext uri="{BB962C8B-B14F-4D97-AF65-F5344CB8AC3E}">
        <p14:creationId xmlns:p14="http://schemas.microsoft.com/office/powerpoint/2010/main" val="303181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76C94-CDC4-169D-1C33-B7879FC03DB9}"/>
              </a:ext>
            </a:extLst>
          </p:cNvPr>
          <p:cNvSpPr>
            <a:spLocks noGrp="1"/>
          </p:cNvSpPr>
          <p:nvPr>
            <p:ph type="title"/>
          </p:nvPr>
        </p:nvSpPr>
        <p:spPr>
          <a:xfrm>
            <a:off x="838200" y="226142"/>
            <a:ext cx="10515600" cy="570271"/>
          </a:xfrm>
        </p:spPr>
        <p:txBody>
          <a:bodyPr>
            <a:normAutofit/>
          </a:bodyPr>
          <a:lstStyle/>
          <a:p>
            <a:r>
              <a:rPr lang="en-US" sz="3200" b="1" dirty="0">
                <a:solidFill>
                  <a:srgbClr val="FF0000"/>
                </a:solidFill>
                <a:latin typeface="+mn-lt"/>
              </a:rPr>
              <a:t>Problem Statement 5</a:t>
            </a:r>
            <a:endParaRPr lang="en-IN" sz="3200" b="1" dirty="0">
              <a:solidFill>
                <a:srgbClr val="FF0000"/>
              </a:solidFill>
              <a:latin typeface="+mn-lt"/>
            </a:endParaRPr>
          </a:p>
        </p:txBody>
      </p:sp>
      <p:sp>
        <p:nvSpPr>
          <p:cNvPr id="3" name="Content Placeholder 2">
            <a:extLst>
              <a:ext uri="{FF2B5EF4-FFF2-40B4-BE49-F238E27FC236}">
                <a16:creationId xmlns:a16="http://schemas.microsoft.com/office/drawing/2014/main" id="{6659A7D5-C275-FE6C-2C30-0C7466DBEBCB}"/>
              </a:ext>
            </a:extLst>
          </p:cNvPr>
          <p:cNvSpPr>
            <a:spLocks noGrp="1"/>
          </p:cNvSpPr>
          <p:nvPr>
            <p:ph idx="1"/>
          </p:nvPr>
        </p:nvSpPr>
        <p:spPr>
          <a:xfrm>
            <a:off x="838200" y="865239"/>
            <a:ext cx="10515600" cy="5311724"/>
          </a:xfrm>
        </p:spPr>
        <p:txBody>
          <a:bodyPr>
            <a:normAutofit/>
          </a:bodyPr>
          <a:lstStyle/>
          <a:p>
            <a:pPr>
              <a:buFont typeface="Wingdings" panose="05000000000000000000" pitchFamily="2" charset="2"/>
              <a:buChar char="Ø"/>
            </a:pP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A party has been organised on cruise. The party is organised for a limited time(T). The number of guests entering (E[</a:t>
            </a:r>
            <a:r>
              <a:rPr lang="en-IN" sz="1800" kern="0" dirty="0" err="1">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i</a:t>
            </a: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 and leaving (L[</a:t>
            </a:r>
            <a:r>
              <a:rPr lang="en-IN" sz="1800" kern="0" dirty="0" err="1">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i</a:t>
            </a: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 the party at every hour is represented as elements of the array. The task is to find the maximum number of guests present on the cruise at any given instance within T hours.</a:t>
            </a:r>
          </a:p>
          <a:p>
            <a:pPr>
              <a:buFont typeface="Wingdings" panose="05000000000000000000" pitchFamily="2" charset="2"/>
              <a:buChar char="Ø"/>
            </a:pPr>
            <a:endParaRPr lang="en-IN" sz="1800" kern="0" dirty="0">
              <a:solidFill>
                <a:srgbClr val="343434"/>
              </a:solidFill>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0" indent="0">
              <a:lnSpc>
                <a:spcPts val="2100"/>
              </a:lnSpc>
              <a:spcAft>
                <a:spcPts val="800"/>
              </a:spcAft>
              <a:buNone/>
            </a:pPr>
            <a:r>
              <a:rPr lang="en-IN" sz="1800" b="1" kern="0" dirty="0">
                <a:solidFill>
                  <a:srgbClr val="FF0000"/>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Example 1:</a:t>
            </a:r>
            <a:br>
              <a:rPr lang="en-IN" sz="1800" b="1"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br>
            <a:r>
              <a:rPr lang="en-IN" sz="1800" b="1"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Input :</a:t>
            </a:r>
            <a:endParaRPr lang="en-IN" sz="1800" kern="100" dirty="0">
              <a:effectLst/>
              <a:highlight>
                <a:srgbClr val="FFFFFF"/>
              </a:highlight>
              <a:latin typeface="Calibri" panose="020F0502020204030204" pitchFamily="34" charset="0"/>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5    -&gt; Value of T</a:t>
            </a:r>
            <a:endParaRPr lang="en-IN" sz="1800" kern="100" dirty="0">
              <a:solidFill>
                <a:srgbClr val="343434"/>
              </a:solidFill>
              <a:effectLst/>
              <a:highlight>
                <a:srgbClr val="FFFFFF"/>
              </a:highlight>
              <a:latin typeface="Calibri" panose="020F0502020204030204" pitchFamily="34" charset="0"/>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[7,0,5,1,3]  -&gt; E[], Element of E[0] to E[N-1], where input each element is separated by new line </a:t>
            </a:r>
            <a:endParaRPr lang="en-IN" sz="1800" kern="100" dirty="0">
              <a:solidFill>
                <a:srgbClr val="343434"/>
              </a:solidFill>
              <a:effectLst/>
              <a:highlight>
                <a:srgbClr val="FFFFFF"/>
              </a:highlight>
              <a:latin typeface="Calibri" panose="020F0502020204030204" pitchFamily="34" charset="0"/>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[1,2,1,3,4]   -&gt; L[], Element of L[0] to L[N-1], while input each element is separate by new line.</a:t>
            </a:r>
            <a:endParaRPr lang="en-IN" sz="1800" kern="100" dirty="0">
              <a:solidFill>
                <a:srgbClr val="343434"/>
              </a:solidFill>
              <a:effectLst/>
              <a:highlight>
                <a:srgbClr val="FFFFFF"/>
              </a:highlight>
              <a:latin typeface="Calibri" panose="020F0502020204030204" pitchFamily="34" charset="0"/>
              <a:ea typeface="Calibri" panose="020F0502020204030204" pitchFamily="34" charset="0"/>
              <a:cs typeface="Cordia New" panose="020B0304020202020204" pitchFamily="34" charset="-34"/>
            </a:endParaRPr>
          </a:p>
          <a:p>
            <a:pPr marL="0" indent="0">
              <a:lnSpc>
                <a:spcPts val="2100"/>
              </a:lnSpc>
              <a:spcAft>
                <a:spcPts val="800"/>
              </a:spcAft>
              <a:buNone/>
            </a:pPr>
            <a:r>
              <a:rPr lang="en-IN" sz="1800" b="1"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Output :</a:t>
            </a:r>
            <a:br>
              <a:rPr lang="en-IN" sz="1800" b="1"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br>
            <a:r>
              <a:rPr lang="en-IN" sz="1800" kern="0" dirty="0">
                <a:solidFill>
                  <a:srgbClr val="343434"/>
                </a:solidFill>
                <a:effectLst/>
                <a:highlight>
                  <a:srgbClr val="FFFFFF"/>
                </a:highlight>
                <a:latin typeface="Roboto" panose="02000000000000000000" pitchFamily="2" charset="0"/>
                <a:ea typeface="Times New Roman" panose="02020603050405020304" pitchFamily="18" charset="0"/>
                <a:cs typeface="Times New Roman" panose="02020603050405020304" pitchFamily="18" charset="0"/>
              </a:rPr>
              <a:t>8     -&gt; Maximum number of guests on cruise at an instance.</a:t>
            </a:r>
            <a:endParaRPr lang="en-IN" sz="1800" kern="100" dirty="0">
              <a:effectLst/>
              <a:highlight>
                <a:srgbClr val="FFFFFF"/>
              </a:highlight>
              <a:latin typeface="Calibri" panose="020F0502020204030204" pitchFamily="34" charset="0"/>
              <a:ea typeface="Calibri" panose="020F0502020204030204" pitchFamily="34" charset="0"/>
              <a:cs typeface="Cordia New" panose="020B0304020202020204" pitchFamily="34" charset="-34"/>
            </a:endParaRPr>
          </a:p>
          <a:p>
            <a:pPr>
              <a:buFont typeface="Wingdings" panose="05000000000000000000" pitchFamily="2" charset="2"/>
              <a:buChar char="Ø"/>
            </a:pPr>
            <a:endParaRPr lang="en-IN" sz="1800" kern="100" dirty="0">
              <a:effectLst/>
              <a:highlight>
                <a:srgbClr val="FFFFFF"/>
              </a:highlight>
              <a:latin typeface="Calibri" panose="020F0502020204030204" pitchFamily="34" charset="0"/>
              <a:ea typeface="Calibri" panose="020F0502020204030204" pitchFamily="34" charset="0"/>
              <a:cs typeface="Cordia New" panose="020B0304020202020204" pitchFamily="34" charset="-34"/>
            </a:endParaRP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069893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8B8280-1515-B600-103D-FDC3793AB6CB}"/>
              </a:ext>
            </a:extLst>
          </p:cNvPr>
          <p:cNvSpPr>
            <a:spLocks noGrp="1"/>
          </p:cNvSpPr>
          <p:nvPr>
            <p:ph idx="1"/>
          </p:nvPr>
        </p:nvSpPr>
        <p:spPr>
          <a:xfrm>
            <a:off x="838200" y="235974"/>
            <a:ext cx="10515600" cy="6469626"/>
          </a:xfrm>
        </p:spPr>
        <p:txBody>
          <a:bodyPr>
            <a:normAutofit/>
          </a:bodyPr>
          <a:lstStyle/>
          <a:p>
            <a:pPr marL="0" indent="0">
              <a:lnSpc>
                <a:spcPts val="2100"/>
              </a:lnSpc>
              <a:spcAft>
                <a:spcPts val="800"/>
              </a:spcAft>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Explanation:</a:t>
            </a:r>
            <a:endParaRPr lang="en-IN" sz="2400" kern="100" dirty="0">
              <a:solidFill>
                <a:srgbClr val="FF0000"/>
              </a:solidFill>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1st hour:</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 7 Exit: 1</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 6</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2nd hour :</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 0 Exit : 2</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 6-2=4</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Hour 3:</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5 Exit: 1</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 4+5-1=8</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Hour 4:</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 1 Exit : 3</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 8+1-3=6</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Hour 5:</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 3 Exit: 4</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6+3-4=5</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Hence, the maximum number of guests within 5 hours is 8.</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buNone/>
            </a:pPr>
            <a:endParaRPr lang="en-IN" sz="2400" dirty="0"/>
          </a:p>
        </p:txBody>
      </p:sp>
    </p:spTree>
    <p:extLst>
      <p:ext uri="{BB962C8B-B14F-4D97-AF65-F5344CB8AC3E}">
        <p14:creationId xmlns:p14="http://schemas.microsoft.com/office/powerpoint/2010/main" val="2315225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23CB7-8CEC-7DF2-EE58-7E2F2BBC2360}"/>
              </a:ext>
            </a:extLst>
          </p:cNvPr>
          <p:cNvSpPr>
            <a:spLocks noGrp="1"/>
          </p:cNvSpPr>
          <p:nvPr>
            <p:ph idx="1"/>
          </p:nvPr>
        </p:nvSpPr>
        <p:spPr>
          <a:xfrm>
            <a:off x="838200" y="639097"/>
            <a:ext cx="10515600" cy="5537866"/>
          </a:xfrm>
        </p:spPr>
        <p:txBody>
          <a:bodyPr>
            <a:normAutofit/>
          </a:bodyPr>
          <a:lstStyle/>
          <a:p>
            <a:pPr marL="0" indent="0">
              <a:lnSpc>
                <a:spcPts val="2100"/>
              </a:lnSpc>
              <a:spcAft>
                <a:spcPts val="800"/>
              </a:spcAft>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Example 2:</a:t>
            </a:r>
          </a:p>
          <a:p>
            <a:pPr marL="0" indent="0">
              <a:lnSpc>
                <a:spcPts val="2100"/>
              </a:lnSpc>
              <a:spcAft>
                <a:spcPts val="800"/>
              </a:spcAft>
              <a:buNone/>
            </a:pP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Input:</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4  -&gt; Value of T</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[3,5,2,0]   -&gt; E[], Element of E[0] to E[N-1], where input each element is separated by new line.</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[0,2,4,4]    -&gt; L[], Element of L[0] to L[N-1], while input each element in separated by new line</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Output:</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6</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Cruise at an instance</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buNone/>
            </a:pPr>
            <a:endParaRPr lang="en-IN" sz="2400" dirty="0"/>
          </a:p>
        </p:txBody>
      </p:sp>
    </p:spTree>
    <p:extLst>
      <p:ext uri="{BB962C8B-B14F-4D97-AF65-F5344CB8AC3E}">
        <p14:creationId xmlns:p14="http://schemas.microsoft.com/office/powerpoint/2010/main" val="3209177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16F650-7F3E-58A2-DB59-A77158870B01}"/>
              </a:ext>
            </a:extLst>
          </p:cNvPr>
          <p:cNvSpPr>
            <a:spLocks noGrp="1"/>
          </p:cNvSpPr>
          <p:nvPr>
            <p:ph idx="1"/>
          </p:nvPr>
        </p:nvSpPr>
        <p:spPr>
          <a:xfrm>
            <a:off x="838200" y="157316"/>
            <a:ext cx="10515600" cy="6440129"/>
          </a:xfrm>
        </p:spPr>
        <p:txBody>
          <a:bodyPr>
            <a:normAutofit/>
          </a:bodyPr>
          <a:lstStyle/>
          <a:p>
            <a:pPr marL="0" indent="0">
              <a:lnSpc>
                <a:spcPts val="2100"/>
              </a:lnSpc>
              <a:spcAft>
                <a:spcPts val="800"/>
              </a:spcAft>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Explanation:</a:t>
            </a:r>
          </a:p>
          <a:p>
            <a:pPr marL="0" indent="0">
              <a:lnSpc>
                <a:spcPts val="2100"/>
              </a:lnSpc>
              <a:spcAft>
                <a:spcPts val="800"/>
              </a:spcAft>
              <a:buNone/>
            </a:pP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Hour 1:</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3 Exit: 0</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3</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Hour 2:</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 5 Exit : 2</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 on ship: 3+5-2=6</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Hour 3:</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 2 Exit: 4</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6+2-4= 4</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Hour 4:</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Entry: 0  Exit : 4</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No. of guests on ship : 4+0-4=0</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buNone/>
            </a:pPr>
            <a:r>
              <a:rPr lang="en-IN" sz="2400" kern="0" dirty="0">
                <a:solidFill>
                  <a:srgbClr val="343434"/>
                </a:solidFill>
                <a:effectLst/>
                <a:ea typeface="Times New Roman" panose="02020603050405020304" pitchFamily="18" charset="0"/>
                <a:cs typeface="Times New Roman" panose="02020603050405020304" pitchFamily="18" charset="0"/>
              </a:rPr>
              <a:t>Hence, the maximum number of guests within 5 hours is 6.</a:t>
            </a:r>
            <a:br>
              <a:rPr lang="en-IN" sz="2400" kern="0" dirty="0">
                <a:solidFill>
                  <a:srgbClr val="343434"/>
                </a:solidFill>
                <a:effectLst/>
                <a:ea typeface="Times New Roman" panose="02020603050405020304" pitchFamily="18" charset="0"/>
                <a:cs typeface="Times New Roman" panose="02020603050405020304" pitchFamily="18" charset="0"/>
              </a:rPr>
            </a:br>
            <a:endParaRPr lang="en-IN" sz="2400" dirty="0"/>
          </a:p>
        </p:txBody>
      </p:sp>
    </p:spTree>
    <p:extLst>
      <p:ext uri="{BB962C8B-B14F-4D97-AF65-F5344CB8AC3E}">
        <p14:creationId xmlns:p14="http://schemas.microsoft.com/office/powerpoint/2010/main" val="2854418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B586DA-2942-CAE2-E54E-42C5E972FAC3}"/>
              </a:ext>
            </a:extLst>
          </p:cNvPr>
          <p:cNvSpPr>
            <a:spLocks noGrp="1"/>
          </p:cNvSpPr>
          <p:nvPr>
            <p:ph idx="1"/>
          </p:nvPr>
        </p:nvSpPr>
        <p:spPr>
          <a:xfrm>
            <a:off x="838200" y="403123"/>
            <a:ext cx="10515600" cy="5773840"/>
          </a:xfrm>
        </p:spPr>
        <p:txBody>
          <a:bodyPr>
            <a:noAutofit/>
          </a:bodyPr>
          <a:lstStyle/>
          <a:p>
            <a:pPr marL="0" indent="0">
              <a:spcBef>
                <a:spcPts val="0"/>
              </a:spcBef>
              <a:buNone/>
            </a:pPr>
            <a:r>
              <a:rPr lang="en-IN" sz="2400" b="1" dirty="0"/>
              <a:t>import sys</a:t>
            </a:r>
          </a:p>
          <a:p>
            <a:pPr marL="0" indent="0">
              <a:spcBef>
                <a:spcPts val="0"/>
              </a:spcBef>
              <a:buNone/>
            </a:pPr>
            <a:endParaRPr lang="en-IN" sz="2400" b="1" dirty="0"/>
          </a:p>
          <a:p>
            <a:pPr marL="0" indent="0">
              <a:spcBef>
                <a:spcPts val="0"/>
              </a:spcBef>
              <a:buNone/>
            </a:pPr>
            <a:r>
              <a:rPr lang="en-IN" sz="2400" b="1" dirty="0"/>
              <a:t>t = int(input())</a:t>
            </a:r>
          </a:p>
          <a:p>
            <a:pPr marL="0" indent="0">
              <a:spcBef>
                <a:spcPts val="0"/>
              </a:spcBef>
              <a:buNone/>
            </a:pPr>
            <a:r>
              <a:rPr lang="en-IN" sz="2400" b="1" dirty="0"/>
              <a:t>e = [int(input()) for _ in range(t)]</a:t>
            </a:r>
          </a:p>
          <a:p>
            <a:pPr marL="0" indent="0">
              <a:spcBef>
                <a:spcPts val="0"/>
              </a:spcBef>
              <a:buNone/>
            </a:pPr>
            <a:r>
              <a:rPr lang="en-IN" sz="2400" b="1" dirty="0"/>
              <a:t>l = [int(input()) for _ in range(t)]</a:t>
            </a:r>
          </a:p>
          <a:p>
            <a:pPr marL="0" indent="0">
              <a:spcBef>
                <a:spcPts val="0"/>
              </a:spcBef>
              <a:buNone/>
            </a:pPr>
            <a:endParaRPr lang="en-IN" sz="2400" b="1" dirty="0"/>
          </a:p>
          <a:p>
            <a:pPr marL="0" indent="0">
              <a:spcBef>
                <a:spcPts val="0"/>
              </a:spcBef>
              <a:buNone/>
            </a:pPr>
            <a:r>
              <a:rPr lang="en-IN" sz="2400" b="1" dirty="0" err="1"/>
              <a:t>max_sum</a:t>
            </a:r>
            <a:r>
              <a:rPr lang="en-IN" sz="2400" b="1" dirty="0"/>
              <a:t> = 0</a:t>
            </a:r>
          </a:p>
          <a:p>
            <a:pPr marL="0" indent="0">
              <a:spcBef>
                <a:spcPts val="0"/>
              </a:spcBef>
              <a:buNone/>
            </a:pPr>
            <a:r>
              <a:rPr lang="en-IN" sz="2400" b="1" dirty="0" err="1"/>
              <a:t>curr_sum</a:t>
            </a:r>
            <a:r>
              <a:rPr lang="en-IN" sz="2400" b="1" dirty="0"/>
              <a:t> = 0</a:t>
            </a:r>
          </a:p>
          <a:p>
            <a:pPr marL="0" indent="0">
              <a:spcBef>
                <a:spcPts val="0"/>
              </a:spcBef>
              <a:buNone/>
            </a:pPr>
            <a:endParaRPr lang="en-IN" sz="2400" b="1" dirty="0"/>
          </a:p>
          <a:p>
            <a:pPr marL="0" indent="0">
              <a:spcBef>
                <a:spcPts val="0"/>
              </a:spcBef>
              <a:buNone/>
            </a:pPr>
            <a:r>
              <a:rPr lang="en-IN" sz="2400" b="1" dirty="0"/>
              <a:t>for </a:t>
            </a:r>
            <a:r>
              <a:rPr lang="en-IN" sz="2400" b="1" dirty="0" err="1"/>
              <a:t>i</a:t>
            </a:r>
            <a:r>
              <a:rPr lang="en-IN" sz="2400" b="1" dirty="0"/>
              <a:t> in range(t):</a:t>
            </a:r>
          </a:p>
          <a:p>
            <a:pPr marL="0" indent="0">
              <a:spcBef>
                <a:spcPts val="0"/>
              </a:spcBef>
              <a:buNone/>
            </a:pPr>
            <a:r>
              <a:rPr lang="en-IN" sz="2400" b="1" dirty="0"/>
              <a:t>    </a:t>
            </a:r>
            <a:r>
              <a:rPr lang="en-IN" sz="2400" b="1" dirty="0" err="1"/>
              <a:t>curr_sum</a:t>
            </a:r>
            <a:r>
              <a:rPr lang="en-IN" sz="2400" b="1" dirty="0"/>
              <a:t> += e[</a:t>
            </a:r>
            <a:r>
              <a:rPr lang="en-IN" sz="2400" b="1" dirty="0" err="1"/>
              <a:t>i</a:t>
            </a:r>
            <a:r>
              <a:rPr lang="en-IN" sz="2400" b="1" dirty="0"/>
              <a:t>] - l[</a:t>
            </a:r>
            <a:r>
              <a:rPr lang="en-IN" sz="2400" b="1" dirty="0" err="1"/>
              <a:t>i</a:t>
            </a:r>
            <a:r>
              <a:rPr lang="en-IN" sz="2400" b="1" dirty="0"/>
              <a:t>]</a:t>
            </a:r>
          </a:p>
          <a:p>
            <a:pPr marL="0" indent="0">
              <a:spcBef>
                <a:spcPts val="0"/>
              </a:spcBef>
              <a:buNone/>
            </a:pPr>
            <a:r>
              <a:rPr lang="en-IN" sz="2400" b="1" dirty="0"/>
              <a:t>    </a:t>
            </a:r>
            <a:r>
              <a:rPr lang="en-IN" sz="2400" b="1" dirty="0" err="1"/>
              <a:t>max_sum</a:t>
            </a:r>
            <a:r>
              <a:rPr lang="en-IN" sz="2400" b="1" dirty="0"/>
              <a:t> = max(</a:t>
            </a:r>
            <a:r>
              <a:rPr lang="en-IN" sz="2400" b="1" dirty="0" err="1"/>
              <a:t>max_sum</a:t>
            </a:r>
            <a:r>
              <a:rPr lang="en-IN" sz="2400" b="1" dirty="0"/>
              <a:t>, </a:t>
            </a:r>
            <a:r>
              <a:rPr lang="en-IN" sz="2400" b="1" dirty="0" err="1"/>
              <a:t>curr_sum</a:t>
            </a:r>
            <a:r>
              <a:rPr lang="en-IN" sz="2400" b="1" dirty="0"/>
              <a:t>)</a:t>
            </a:r>
          </a:p>
          <a:p>
            <a:pPr marL="0" indent="0">
              <a:spcBef>
                <a:spcPts val="0"/>
              </a:spcBef>
              <a:buNone/>
            </a:pPr>
            <a:endParaRPr lang="en-IN" sz="2400" b="1" dirty="0"/>
          </a:p>
          <a:p>
            <a:pPr marL="0" indent="0">
              <a:spcBef>
                <a:spcPts val="0"/>
              </a:spcBef>
              <a:buNone/>
            </a:pPr>
            <a:r>
              <a:rPr lang="en-IN" sz="2400" b="1" dirty="0"/>
              <a:t>print(</a:t>
            </a:r>
            <a:r>
              <a:rPr lang="en-IN" sz="2400" b="1" dirty="0" err="1"/>
              <a:t>max_sum</a:t>
            </a:r>
            <a:r>
              <a:rPr lang="en-IN" sz="2400" b="1" dirty="0"/>
              <a:t>)</a:t>
            </a:r>
          </a:p>
          <a:p>
            <a:pPr marL="0" indent="0">
              <a:spcBef>
                <a:spcPts val="0"/>
              </a:spcBef>
              <a:buNone/>
            </a:pPr>
            <a:endParaRPr lang="en-IN" sz="2400" b="1" dirty="0"/>
          </a:p>
          <a:p>
            <a:pPr marL="0" indent="0">
              <a:spcBef>
                <a:spcPts val="0"/>
              </a:spcBef>
              <a:buNone/>
            </a:pPr>
            <a:endParaRPr lang="en-IN" sz="2400" b="1" dirty="0"/>
          </a:p>
        </p:txBody>
      </p:sp>
    </p:spTree>
    <p:extLst>
      <p:ext uri="{BB962C8B-B14F-4D97-AF65-F5344CB8AC3E}">
        <p14:creationId xmlns:p14="http://schemas.microsoft.com/office/powerpoint/2010/main" val="1742643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2DDD-8B8A-526D-4702-F1BB5EA85CB3}"/>
              </a:ext>
            </a:extLst>
          </p:cNvPr>
          <p:cNvSpPr>
            <a:spLocks noGrp="1"/>
          </p:cNvSpPr>
          <p:nvPr>
            <p:ph type="title"/>
          </p:nvPr>
        </p:nvSpPr>
        <p:spPr>
          <a:xfrm>
            <a:off x="838200" y="365125"/>
            <a:ext cx="10515600" cy="490281"/>
          </a:xfrm>
        </p:spPr>
        <p:txBody>
          <a:bodyPr>
            <a:noAutofit/>
          </a:bodyPr>
          <a:lstStyle/>
          <a:p>
            <a:r>
              <a:rPr lang="en-IN" sz="3000" b="1" dirty="0">
                <a:solidFill>
                  <a:srgbClr val="FF0000"/>
                </a:solidFill>
                <a:effectLst/>
                <a:highlight>
                  <a:srgbClr val="FFFFFF"/>
                </a:highlight>
                <a:latin typeface="+mn-lt"/>
                <a:ea typeface="Times New Roman" panose="02020603050405020304" pitchFamily="18" charset="0"/>
              </a:rPr>
              <a:t>Problem Statement 6</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E189C7BD-9317-A93F-4723-974C62532B48}"/>
              </a:ext>
            </a:extLst>
          </p:cNvPr>
          <p:cNvSpPr>
            <a:spLocks noGrp="1"/>
          </p:cNvSpPr>
          <p:nvPr>
            <p:ph idx="1"/>
          </p:nvPr>
        </p:nvSpPr>
        <p:spPr>
          <a:xfrm>
            <a:off x="838200" y="993058"/>
            <a:ext cx="10515600" cy="5183905"/>
          </a:xfrm>
        </p:spPr>
        <p:txBody>
          <a:bodyPr>
            <a:normAutofit/>
          </a:bodyPr>
          <a:lstStyle/>
          <a:p>
            <a:pPr algn="just">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A washing machine works on the principle of Fuzzy System, the weight of clothes put inside it for washing is uncertain But based on weight measured by sensors, it decides time and water level which can be changed by menus given on the machine control area.  </a:t>
            </a:r>
            <a:endParaRPr lang="en-IN" sz="2400" b="1" dirty="0">
              <a:effectLst/>
              <a:highlight>
                <a:srgbClr val="FFFFFF"/>
              </a:highlight>
              <a:ea typeface="Times New Roman" panose="02020603050405020304" pitchFamily="18" charset="0"/>
            </a:endParaRPr>
          </a:p>
          <a:p>
            <a:pPr algn="just">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For low level water, the time estimate is 25 minutes, where approximately weight is between 2000 grams or any nonzero positive number below that.</a:t>
            </a:r>
            <a:endParaRPr lang="en-IN" sz="2400" b="1" dirty="0">
              <a:effectLst/>
              <a:highlight>
                <a:srgbClr val="FFFFFF"/>
              </a:highlight>
              <a:ea typeface="Times New Roman" panose="02020603050405020304" pitchFamily="18" charset="0"/>
            </a:endParaRPr>
          </a:p>
          <a:p>
            <a:pPr algn="just">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For medium level water, the time estimate is 35 minutes, where approximately weight is between 2001 grams and 4000 grams.</a:t>
            </a:r>
            <a:endParaRPr lang="en-IN" sz="2400" b="1" dirty="0">
              <a:effectLst/>
              <a:highlight>
                <a:srgbClr val="FFFFFF"/>
              </a:highlight>
              <a:ea typeface="Times New Roman" panose="02020603050405020304" pitchFamily="18" charset="0"/>
            </a:endParaRPr>
          </a:p>
          <a:p>
            <a:pPr algn="just">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For high level water, the time estimate is 45 minutes, where approximately weight is above 4000 grams.</a:t>
            </a:r>
            <a:endParaRPr lang="en-IN" sz="2400" b="1" dirty="0">
              <a:effectLst/>
              <a:highlight>
                <a:srgbClr val="FFFFFF"/>
              </a:highlight>
              <a:ea typeface="Times New Roman" panose="02020603050405020304" pitchFamily="18" charset="0"/>
            </a:endParaRPr>
          </a:p>
          <a:p>
            <a:pPr>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Assume the capacity of machine is maximum 7000 grams</a:t>
            </a:r>
            <a:endParaRPr lang="en-IN" sz="2400" b="1" dirty="0">
              <a:effectLst/>
              <a:highlight>
                <a:srgbClr val="FFFFFF"/>
              </a:highlight>
              <a:ea typeface="Times New Roman" panose="02020603050405020304" pitchFamily="18" charset="0"/>
            </a:endParaRPr>
          </a:p>
          <a:p>
            <a:pPr>
              <a:lnSpc>
                <a:spcPts val="2100"/>
              </a:lnSpc>
              <a:buFont typeface="Wingdings" panose="05000000000000000000" pitchFamily="2" charset="2"/>
              <a:buChar char="Ø"/>
            </a:pPr>
            <a:r>
              <a:rPr lang="en-IN" sz="2400" b="1" dirty="0">
                <a:solidFill>
                  <a:srgbClr val="343434"/>
                </a:solidFill>
                <a:effectLst/>
                <a:highlight>
                  <a:srgbClr val="FFFFFF"/>
                </a:highlight>
                <a:ea typeface="Times New Roman" panose="02020603050405020304" pitchFamily="18" charset="0"/>
              </a:rPr>
              <a:t>Where approximately weight is zero, time estimate is 0 minutes.</a:t>
            </a:r>
            <a:endParaRPr lang="en-IN" sz="2400" b="1" dirty="0">
              <a:effectLst/>
              <a:highlight>
                <a:srgbClr val="FFFFFF"/>
              </a:highlight>
              <a:ea typeface="Times New Roman" panose="02020603050405020304" pitchFamily="18" charset="0"/>
            </a:endParaRPr>
          </a:p>
        </p:txBody>
      </p:sp>
    </p:spTree>
    <p:extLst>
      <p:ext uri="{BB962C8B-B14F-4D97-AF65-F5344CB8AC3E}">
        <p14:creationId xmlns:p14="http://schemas.microsoft.com/office/powerpoint/2010/main" val="4218567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57955-44E4-9C84-BDC4-B3109761F6FC}"/>
              </a:ext>
            </a:extLst>
          </p:cNvPr>
          <p:cNvSpPr>
            <a:spLocks noGrp="1"/>
          </p:cNvSpPr>
          <p:nvPr>
            <p:ph idx="1"/>
          </p:nvPr>
        </p:nvSpPr>
        <p:spPr>
          <a:xfrm>
            <a:off x="838200" y="540774"/>
            <a:ext cx="10515600" cy="5636189"/>
          </a:xfrm>
        </p:spPr>
        <p:txBody>
          <a:bodyPr>
            <a:normAutofit/>
          </a:bodyPr>
          <a:lstStyle/>
          <a:p>
            <a:pPr>
              <a:lnSpc>
                <a:spcPts val="2100"/>
              </a:lnSpc>
              <a:buFont typeface="Wingdings" panose="05000000000000000000" pitchFamily="2" charset="2"/>
              <a:buChar char="Ø"/>
            </a:pPr>
            <a:r>
              <a:rPr lang="en-IN" sz="2400" dirty="0">
                <a:solidFill>
                  <a:srgbClr val="343434"/>
                </a:solidFill>
                <a:effectLst/>
                <a:highlight>
                  <a:srgbClr val="FFFFFF"/>
                </a:highlight>
                <a:ea typeface="Times New Roman" panose="02020603050405020304" pitchFamily="18" charset="0"/>
              </a:rPr>
              <a:t>Write a function which takes a numeric weight in the range [0,7000] as input and produces estimated time as output is: “OVERLOADED”, and for all other inputs, the output statement is</a:t>
            </a:r>
            <a:endParaRPr lang="en-IN" sz="2400" dirty="0">
              <a:effectLst/>
              <a:highlight>
                <a:srgbClr val="FFFFFF"/>
              </a:highlight>
              <a:ea typeface="Times New Roman" panose="02020603050405020304" pitchFamily="18" charset="0"/>
            </a:endParaRPr>
          </a:p>
          <a:p>
            <a:pPr>
              <a:lnSpc>
                <a:spcPts val="2100"/>
              </a:lnSpc>
              <a:buFont typeface="Wingdings" panose="05000000000000000000" pitchFamily="2" charset="2"/>
              <a:buChar char="Ø"/>
            </a:pPr>
            <a:r>
              <a:rPr lang="en-IN" sz="2400" dirty="0">
                <a:solidFill>
                  <a:srgbClr val="343434"/>
                </a:solidFill>
                <a:effectLst/>
                <a:highlight>
                  <a:srgbClr val="FFFFFF"/>
                </a:highlight>
                <a:ea typeface="Times New Roman" panose="02020603050405020304" pitchFamily="18" charset="0"/>
              </a:rPr>
              <a:t>“INVALID INPUT”.</a:t>
            </a:r>
            <a:endParaRPr lang="en-IN" sz="2400" dirty="0">
              <a:effectLst/>
              <a:highlight>
                <a:srgbClr val="FFFFFF"/>
              </a:highlight>
              <a:ea typeface="Times New Roman" panose="02020603050405020304" pitchFamily="18" charset="0"/>
            </a:endParaRPr>
          </a:p>
          <a:p>
            <a:pPr>
              <a:lnSpc>
                <a:spcPts val="2100"/>
              </a:lnSpc>
              <a:buFont typeface="Wingdings" panose="05000000000000000000" pitchFamily="2" charset="2"/>
              <a:buChar char="Ø"/>
            </a:pPr>
            <a:r>
              <a:rPr lang="en-IN" sz="2400" dirty="0">
                <a:solidFill>
                  <a:srgbClr val="343434"/>
                </a:solidFill>
                <a:effectLst/>
                <a:highlight>
                  <a:srgbClr val="FFFFFF"/>
                </a:highlight>
                <a:ea typeface="Times New Roman" panose="02020603050405020304" pitchFamily="18" charset="0"/>
              </a:rPr>
              <a:t>Input should be in the form of integer value –</a:t>
            </a:r>
            <a:endParaRPr lang="en-IN" sz="2400" dirty="0">
              <a:effectLst/>
              <a:highlight>
                <a:srgbClr val="FFFFFF"/>
              </a:highlight>
              <a:ea typeface="Times New Roman" panose="02020603050405020304" pitchFamily="18" charset="0"/>
            </a:endParaRPr>
          </a:p>
          <a:p>
            <a:pPr>
              <a:lnSpc>
                <a:spcPts val="2100"/>
              </a:lnSpc>
              <a:buFont typeface="Wingdings" panose="05000000000000000000" pitchFamily="2" charset="2"/>
              <a:buChar char="Ø"/>
            </a:pPr>
            <a:r>
              <a:rPr lang="en-IN" sz="2400" dirty="0">
                <a:solidFill>
                  <a:srgbClr val="343434"/>
                </a:solidFill>
                <a:effectLst/>
                <a:highlight>
                  <a:srgbClr val="FFFFFF"/>
                </a:highlight>
                <a:ea typeface="Times New Roman" panose="02020603050405020304" pitchFamily="18" charset="0"/>
              </a:rPr>
              <a:t>Output must have the following format –</a:t>
            </a:r>
            <a:endParaRPr lang="en-IN" sz="2400" dirty="0">
              <a:effectLst/>
              <a:highlight>
                <a:srgbClr val="FFFFFF"/>
              </a:highlight>
              <a:ea typeface="Times New Roman" panose="02020603050405020304" pitchFamily="18" charset="0"/>
            </a:endParaRPr>
          </a:p>
          <a:p>
            <a:pPr>
              <a:lnSpc>
                <a:spcPts val="2100"/>
              </a:lnSpc>
              <a:buFont typeface="Wingdings" panose="05000000000000000000" pitchFamily="2" charset="2"/>
              <a:buChar char="Ø"/>
            </a:pPr>
            <a:r>
              <a:rPr lang="en-IN" sz="2400" dirty="0">
                <a:solidFill>
                  <a:srgbClr val="343434"/>
                </a:solidFill>
                <a:effectLst/>
                <a:highlight>
                  <a:srgbClr val="FFFFFF"/>
                </a:highlight>
                <a:ea typeface="Times New Roman" panose="02020603050405020304" pitchFamily="18" charset="0"/>
              </a:rPr>
              <a:t>Time Estimated: Minutes</a:t>
            </a:r>
          </a:p>
          <a:p>
            <a:pPr>
              <a:lnSpc>
                <a:spcPts val="2100"/>
              </a:lnSpc>
              <a:buFont typeface="Wingdings" panose="05000000000000000000" pitchFamily="2" charset="2"/>
              <a:buChar char="Ø"/>
            </a:pPr>
            <a:endParaRPr lang="en-IN" sz="2400" dirty="0">
              <a:effectLst/>
              <a:highlight>
                <a:srgbClr val="FFFFFF"/>
              </a:highlight>
              <a:ea typeface="Times New Roman" panose="02020603050405020304" pitchFamily="18" charset="0"/>
            </a:endParaRPr>
          </a:p>
          <a:p>
            <a:pPr marL="0" indent="0">
              <a:lnSpc>
                <a:spcPts val="2100"/>
              </a:lnSpc>
              <a:buNone/>
            </a:pPr>
            <a:r>
              <a:rPr lang="en-IN" sz="2400" b="1" dirty="0">
                <a:solidFill>
                  <a:srgbClr val="FF0000"/>
                </a:solidFill>
                <a:effectLst/>
                <a:highlight>
                  <a:srgbClr val="FFFFFF"/>
                </a:highlight>
                <a:ea typeface="Times New Roman" panose="02020603050405020304" pitchFamily="18" charset="0"/>
              </a:rPr>
              <a:t>Example:</a:t>
            </a:r>
            <a:br>
              <a:rPr lang="en-IN" sz="2400" b="1" dirty="0">
                <a:solidFill>
                  <a:srgbClr val="343434"/>
                </a:solidFill>
                <a:effectLst/>
                <a:highlight>
                  <a:srgbClr val="FFFFFF"/>
                </a:highlight>
                <a:ea typeface="Times New Roman" panose="02020603050405020304" pitchFamily="18" charset="0"/>
              </a:rPr>
            </a:b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Input value</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2000</a:t>
            </a:r>
            <a:br>
              <a:rPr lang="en-IN" sz="2400"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Output value</a:t>
            </a:r>
            <a:br>
              <a:rPr lang="en-IN" sz="2400" b="1"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Time Estimated: 25 minutes</a:t>
            </a:r>
            <a:endParaRPr lang="en-IN" sz="2400" dirty="0">
              <a:effectLst/>
              <a:highlight>
                <a:srgbClr val="FFFFFF"/>
              </a:highlight>
              <a:ea typeface="Times New Roman" panose="02020603050405020304" pitchFamily="18" charset="0"/>
            </a:endParaRPr>
          </a:p>
          <a:p>
            <a:pPr>
              <a:buFont typeface="Wingdings" panose="05000000000000000000" pitchFamily="2" charset="2"/>
              <a:buChar char="Ø"/>
            </a:pPr>
            <a:endParaRPr lang="en-IN" sz="2400" dirty="0"/>
          </a:p>
        </p:txBody>
      </p:sp>
    </p:spTree>
    <p:extLst>
      <p:ext uri="{BB962C8B-B14F-4D97-AF65-F5344CB8AC3E}">
        <p14:creationId xmlns:p14="http://schemas.microsoft.com/office/powerpoint/2010/main" val="2190671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03300-9487-E315-D014-ED1A057B1A0A}"/>
              </a:ext>
            </a:extLst>
          </p:cNvPr>
          <p:cNvSpPr>
            <a:spLocks noGrp="1"/>
          </p:cNvSpPr>
          <p:nvPr>
            <p:ph idx="1"/>
          </p:nvPr>
        </p:nvSpPr>
        <p:spPr>
          <a:xfrm>
            <a:off x="838200" y="550606"/>
            <a:ext cx="10515600" cy="5626357"/>
          </a:xfrm>
        </p:spPr>
        <p:txBody>
          <a:bodyPr>
            <a:normAutofit/>
          </a:bodyPr>
          <a:lstStyle/>
          <a:p>
            <a:pPr marL="0" indent="0">
              <a:buNone/>
            </a:pPr>
            <a:r>
              <a:rPr lang="en-US" sz="2400" b="1" dirty="0"/>
              <a:t>n = int(input())</a:t>
            </a:r>
          </a:p>
          <a:p>
            <a:pPr marL="0" indent="0">
              <a:buNone/>
            </a:pPr>
            <a:r>
              <a:rPr lang="en-US" sz="2400" b="1" dirty="0"/>
              <a:t>if n==0:</a:t>
            </a:r>
          </a:p>
          <a:p>
            <a:pPr marL="0" indent="0">
              <a:buNone/>
            </a:pPr>
            <a:r>
              <a:rPr lang="en-US" sz="2400" b="1" dirty="0"/>
              <a:t>    print("Time Estimated : 0 Minutes")</a:t>
            </a:r>
          </a:p>
          <a:p>
            <a:pPr marL="0" indent="0">
              <a:buNone/>
            </a:pPr>
            <a:r>
              <a:rPr lang="en-US" sz="2400" b="1" dirty="0" err="1"/>
              <a:t>elif</a:t>
            </a:r>
            <a:r>
              <a:rPr lang="en-US" sz="2400" b="1" dirty="0"/>
              <a:t> n in range(1,2001):</a:t>
            </a:r>
          </a:p>
          <a:p>
            <a:pPr marL="0" indent="0">
              <a:buNone/>
            </a:pPr>
            <a:r>
              <a:rPr lang="en-US" sz="2400" b="1" dirty="0"/>
              <a:t>    print("Time Estimated : 25 Minutes")</a:t>
            </a:r>
          </a:p>
          <a:p>
            <a:pPr marL="0" indent="0">
              <a:buNone/>
            </a:pPr>
            <a:r>
              <a:rPr lang="en-US" sz="2400" b="1" dirty="0" err="1"/>
              <a:t>elif</a:t>
            </a:r>
            <a:r>
              <a:rPr lang="en-US" sz="2400" b="1" dirty="0"/>
              <a:t> n in range(2001,4001):</a:t>
            </a:r>
          </a:p>
          <a:p>
            <a:pPr marL="0" indent="0">
              <a:buNone/>
            </a:pPr>
            <a:r>
              <a:rPr lang="en-US" sz="2400" b="1" dirty="0"/>
              <a:t>    print("Time Estimated : 35 Minutes")</a:t>
            </a:r>
          </a:p>
          <a:p>
            <a:pPr marL="0" indent="0">
              <a:buNone/>
            </a:pPr>
            <a:r>
              <a:rPr lang="en-US" sz="2400" b="1" dirty="0" err="1"/>
              <a:t>elif</a:t>
            </a:r>
            <a:r>
              <a:rPr lang="en-US" sz="2400" b="1" dirty="0"/>
              <a:t> n in range(4001,7001):</a:t>
            </a:r>
          </a:p>
          <a:p>
            <a:pPr marL="0" indent="0">
              <a:buNone/>
            </a:pPr>
            <a:r>
              <a:rPr lang="en-US" sz="2400" b="1" dirty="0"/>
              <a:t>    print("Time Estimated : 45 Minutes")</a:t>
            </a:r>
          </a:p>
          <a:p>
            <a:pPr marL="0" indent="0">
              <a:buNone/>
            </a:pPr>
            <a:r>
              <a:rPr lang="en-US" sz="2400" b="1" dirty="0"/>
              <a:t>else:</a:t>
            </a:r>
          </a:p>
          <a:p>
            <a:pPr marL="0" indent="0">
              <a:buNone/>
            </a:pPr>
            <a:r>
              <a:rPr lang="en-US" sz="2400" b="1" dirty="0"/>
              <a:t>    print("INVALID INPUT")</a:t>
            </a:r>
          </a:p>
          <a:p>
            <a:pPr marL="0" indent="0">
              <a:buNone/>
            </a:pPr>
            <a:endParaRPr lang="en-IN" sz="2400" b="1" dirty="0"/>
          </a:p>
        </p:txBody>
      </p:sp>
    </p:spTree>
    <p:extLst>
      <p:ext uri="{BB962C8B-B14F-4D97-AF65-F5344CB8AC3E}">
        <p14:creationId xmlns:p14="http://schemas.microsoft.com/office/powerpoint/2010/main" val="3211567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E60CA-A522-31A4-A6F0-31933ACE28AC}"/>
              </a:ext>
            </a:extLst>
          </p:cNvPr>
          <p:cNvSpPr>
            <a:spLocks noGrp="1"/>
          </p:cNvSpPr>
          <p:nvPr>
            <p:ph type="title"/>
          </p:nvPr>
        </p:nvSpPr>
        <p:spPr>
          <a:xfrm>
            <a:off x="838200" y="137653"/>
            <a:ext cx="10515600" cy="543384"/>
          </a:xfrm>
        </p:spPr>
        <p:txBody>
          <a:bodyPr>
            <a:normAutofit/>
          </a:bodyPr>
          <a:lstStyle/>
          <a:p>
            <a:r>
              <a:rPr lang="en-IN" sz="3000" b="1" kern="0" dirty="0">
                <a:solidFill>
                  <a:srgbClr val="FF0000"/>
                </a:solidFill>
                <a:effectLst/>
                <a:highlight>
                  <a:srgbClr val="FFFFFF"/>
                </a:highlight>
                <a:latin typeface="+mn-lt"/>
                <a:ea typeface="Times New Roman" panose="02020603050405020304" pitchFamily="18" charset="0"/>
                <a:cs typeface="Times New Roman" panose="02020603050405020304" pitchFamily="18" charset="0"/>
              </a:rPr>
              <a:t>Problem Statement</a:t>
            </a:r>
            <a:r>
              <a:rPr lang="en-IN" sz="3000" b="1" kern="100" dirty="0">
                <a:solidFill>
                  <a:srgbClr val="FF0000"/>
                </a:solidFill>
                <a:highlight>
                  <a:srgbClr val="FFFFFF"/>
                </a:highlight>
                <a:latin typeface="+mn-lt"/>
                <a:ea typeface="Calibri" panose="020F0502020204030204" pitchFamily="34" charset="0"/>
                <a:cs typeface="Cordia New" panose="020B0304020202020204" pitchFamily="34" charset="-34"/>
              </a:rPr>
              <a:t> 7</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F9BBF01B-A9C5-E9AB-D19E-9D725A28FDB1}"/>
              </a:ext>
            </a:extLst>
          </p:cNvPr>
          <p:cNvSpPr>
            <a:spLocks noGrp="1"/>
          </p:cNvSpPr>
          <p:nvPr>
            <p:ph idx="1"/>
          </p:nvPr>
        </p:nvSpPr>
        <p:spPr>
          <a:xfrm>
            <a:off x="838200" y="757084"/>
            <a:ext cx="10515600" cy="5702710"/>
          </a:xfrm>
        </p:spPr>
        <p:txBody>
          <a:bodyPr>
            <a:noAutofit/>
          </a:bodyPr>
          <a:lstStyle/>
          <a:p>
            <a:pPr>
              <a:lnSpc>
                <a:spcPts val="2100"/>
              </a:lnSpc>
              <a:spcAft>
                <a:spcPts val="800"/>
              </a:spcAft>
              <a:buFont typeface="Wingdings" panose="05000000000000000000" pitchFamily="2" charset="2"/>
              <a:buChar char="Ø"/>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A City Bus is a Ring Route Bus which runs in circular </a:t>
            </a:r>
            <a:r>
              <a:rPr lang="en-IN" sz="2400" b="1" kern="0" dirty="0" err="1">
                <a:solidFill>
                  <a:srgbClr val="343434"/>
                </a:solidFill>
                <a:effectLst/>
                <a:highlight>
                  <a:srgbClr val="FFFFFF"/>
                </a:highlight>
                <a:ea typeface="Times New Roman" panose="02020603050405020304" pitchFamily="18" charset="0"/>
                <a:cs typeface="Times New Roman" panose="02020603050405020304" pitchFamily="18" charset="0"/>
              </a:rPr>
              <a:t>fashion.That</a:t>
            </a: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 is, Bus once starts at the Source Bus Stop, halts at each Bus Stop in its Route and at the end it reaches the Source Bus Stop again.</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If there are n  number of Stops and if the bus starts at Bus Stop 1, then after nth Bus Stop, the next stop in the Route will be Bus Stop number 1 always.</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If there are n stops, there will be n </a:t>
            </a:r>
            <a:r>
              <a:rPr lang="en-IN" sz="2400" b="1" kern="0" dirty="0" err="1">
                <a:solidFill>
                  <a:srgbClr val="343434"/>
                </a:solidFill>
                <a:effectLst/>
                <a:highlight>
                  <a:srgbClr val="FFFFFF"/>
                </a:highlight>
                <a:ea typeface="Times New Roman" panose="02020603050405020304" pitchFamily="18" charset="0"/>
                <a:cs typeface="Times New Roman" panose="02020603050405020304" pitchFamily="18" charset="0"/>
              </a:rPr>
              <a:t>paths.One</a:t>
            </a: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 path connects two stops. Distances (in meters) for all paths in Ring Route is given in array Path[] as given below:</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Path = [800, 600, 750, 900, 1400, 1200, 1100, 1500]</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Fare is determined based on the distance covered from source to destination stop as  Distance between Input Source and Destination Stops can be measured by looking at values in array Path[] and fare can be calculated as per following criteria:</a:t>
            </a:r>
            <a:endParaRPr lang="en-IN" sz="2400" b="1" kern="100" dirty="0">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If d =1000 metres, then fare=5 INR</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(When calculating fare for others, the calculated fare containing any fraction value should be ceiled. For example, for distance 900n when fare initially calculated is 4.5 which must be ceiled to 5)</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23514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D50A2-00F6-05C8-F178-2750ABD84891}"/>
              </a:ext>
            </a:extLst>
          </p:cNvPr>
          <p:cNvSpPr>
            <a:spLocks noGrp="1"/>
          </p:cNvSpPr>
          <p:nvPr>
            <p:ph idx="1"/>
          </p:nvPr>
        </p:nvSpPr>
        <p:spPr>
          <a:xfrm>
            <a:off x="838200" y="363794"/>
            <a:ext cx="10515600" cy="5813169"/>
          </a:xfrm>
        </p:spPr>
        <p:txBody>
          <a:bodyPr>
            <a:normAutofit/>
          </a:bodyPr>
          <a:lstStyle/>
          <a:p>
            <a:pPr>
              <a:lnSpc>
                <a:spcPts val="2100"/>
              </a:lnSpc>
              <a:spcAft>
                <a:spcPts val="800"/>
              </a:spcAft>
              <a:buFont typeface="Wingdings" panose="05000000000000000000" pitchFamily="2" charset="2"/>
              <a:buChar char="Ø"/>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Path is circular in function. Value at each index indicates distance till current stop from the previous one. And each index position can be mapped with values at same index in </a:t>
            </a:r>
            <a:r>
              <a:rPr lang="en-IN" sz="2400" kern="0" dirty="0" err="1">
                <a:solidFill>
                  <a:srgbClr val="343434"/>
                </a:solidFill>
                <a:effectLst/>
                <a:highlight>
                  <a:srgbClr val="FFFFFF"/>
                </a:highlight>
                <a:ea typeface="Times New Roman" panose="02020603050405020304" pitchFamily="18" charset="0"/>
                <a:cs typeface="Times New Roman" panose="02020603050405020304" pitchFamily="18" charset="0"/>
              </a:rPr>
              <a:t>BusStops</a:t>
            </a: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 [] array, which is a string array holding abbreviation of names for all stops as-</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“THANERAILWAYSTN” = ”TH”, “GAONDEVI” = “GA”, “ICEFACTROY” = “IC”, “HARINIWASCIRCLE” = “HA”, “TEENHATHNAKA” = “TE”, “LUISWADI” = “LU”, “NITINCOMPANYJUNCTION” = “NI”, “CADBURRYJUNCTION” = “CA”</a:t>
            </a:r>
            <a:endParaRPr lang="en-IN" sz="2400" kern="100" dirty="0">
              <a:effectLst/>
              <a:highlight>
                <a:srgbClr val="FFFFFF"/>
              </a:highlight>
              <a:ea typeface="Calibri" panose="020F0502020204030204" pitchFamily="34" charset="0"/>
              <a:cs typeface="Cordia New" panose="020B0304020202020204" pitchFamily="34" charset="-34"/>
            </a:endParaRPr>
          </a:p>
          <a:p>
            <a:pPr>
              <a:lnSpc>
                <a:spcPts val="2100"/>
              </a:lnSpc>
              <a:spcAft>
                <a:spcPts val="800"/>
              </a:spcAft>
              <a:buFont typeface="Wingdings" panose="05000000000000000000" pitchFamily="2" charset="2"/>
              <a:buChar char="Ø"/>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Given, n=8, where n is number of total </a:t>
            </a:r>
            <a:r>
              <a:rPr lang="en-IN" sz="2400" kern="0" dirty="0" err="1">
                <a:solidFill>
                  <a:srgbClr val="343434"/>
                </a:solidFill>
                <a:effectLst/>
                <a:highlight>
                  <a:srgbClr val="FFFFFF"/>
                </a:highlight>
                <a:ea typeface="Times New Roman" panose="02020603050405020304" pitchFamily="18" charset="0"/>
                <a:cs typeface="Times New Roman" panose="02020603050405020304" pitchFamily="18" charset="0"/>
              </a:rPr>
              <a:t>BusStops</a:t>
            </a: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err="1">
                <a:solidFill>
                  <a:srgbClr val="343434"/>
                </a:solidFill>
                <a:effectLst/>
                <a:highlight>
                  <a:srgbClr val="FFFFFF"/>
                </a:highlight>
                <a:ea typeface="Times New Roman" panose="02020603050405020304" pitchFamily="18" charset="0"/>
                <a:cs typeface="Times New Roman" panose="02020603050405020304" pitchFamily="18" charset="0"/>
              </a:rPr>
              <a:t>BusStops</a:t>
            </a: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 = [ “TH”, ”GA”, ”IC”, ”HA”, ”TE”, ”LU”, ”NI”,”CA” ]</a:t>
            </a:r>
            <a:endParaRPr lang="en-IN" sz="2400" kern="100" dirty="0">
              <a:effectLst/>
              <a:highlight>
                <a:srgbClr val="FFFFFF"/>
              </a:highlight>
              <a:ea typeface="Calibri" panose="020F0502020204030204" pitchFamily="34" charset="0"/>
              <a:cs typeface="Cordia New" panose="020B0304020202020204" pitchFamily="34" charset="-34"/>
            </a:endParaRPr>
          </a:p>
          <a:p>
            <a:pPr>
              <a:lnSpc>
                <a:spcPts val="2100"/>
              </a:lnSpc>
              <a:spcAft>
                <a:spcPts val="800"/>
              </a:spcAft>
              <a:buFont typeface="Wingdings" panose="05000000000000000000" pitchFamily="2" charset="2"/>
              <a:buChar char="Ø"/>
            </a:pP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Write a code with function </a:t>
            </a:r>
            <a:r>
              <a:rPr lang="en-IN" sz="2400" kern="0" dirty="0" err="1">
                <a:solidFill>
                  <a:srgbClr val="343434"/>
                </a:solidFill>
                <a:effectLst/>
                <a:highlight>
                  <a:srgbClr val="FFFFFF"/>
                </a:highlight>
                <a:ea typeface="Times New Roman" panose="02020603050405020304" pitchFamily="18" charset="0"/>
                <a:cs typeface="Times New Roman" panose="02020603050405020304" pitchFamily="18" charset="0"/>
              </a:rPr>
              <a:t>getFare</a:t>
            </a: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(String Source, String Destination) which take Input as source and destination stops(in the format containing first two characters of the Name of the Bus Stop) and calculate and return travel fare.</a:t>
            </a:r>
            <a:endParaRPr lang="en-IN" sz="2400" kern="100" dirty="0">
              <a:effectLst/>
              <a:highlight>
                <a:srgbClr val="FFFFFF"/>
              </a:highlight>
              <a:ea typeface="Calibri" panose="020F0502020204030204" pitchFamily="34" charset="0"/>
              <a:cs typeface="Cordia New" panose="020B0304020202020204" pitchFamily="34" charset="-34"/>
            </a:endParaRPr>
          </a:p>
          <a:p>
            <a:pPr>
              <a:buFont typeface="Wingdings" panose="05000000000000000000" pitchFamily="2" charset="2"/>
              <a:buChar char="Ø"/>
            </a:pPr>
            <a:endParaRPr lang="en-IN" sz="2400" dirty="0"/>
          </a:p>
        </p:txBody>
      </p:sp>
    </p:spTree>
    <p:extLst>
      <p:ext uri="{BB962C8B-B14F-4D97-AF65-F5344CB8AC3E}">
        <p14:creationId xmlns:p14="http://schemas.microsoft.com/office/powerpoint/2010/main" val="4139582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C1FA1-2D57-C483-5C32-3607ABCB5FBF}"/>
              </a:ext>
            </a:extLst>
          </p:cNvPr>
          <p:cNvSpPr>
            <a:spLocks noGrp="1"/>
          </p:cNvSpPr>
          <p:nvPr>
            <p:ph idx="1"/>
          </p:nvPr>
        </p:nvSpPr>
        <p:spPr>
          <a:xfrm>
            <a:off x="838200" y="245806"/>
            <a:ext cx="10515600" cy="5931157"/>
          </a:xfrm>
        </p:spPr>
        <p:txBody>
          <a:bodyPr>
            <a:normAutofit/>
          </a:bodyPr>
          <a:lstStyle/>
          <a:p>
            <a:pPr marL="0" indent="0">
              <a:lnSpc>
                <a:spcPts val="2100"/>
              </a:lnSpc>
              <a:spcAft>
                <a:spcPts val="800"/>
              </a:spcAft>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Example 1:</a:t>
            </a:r>
          </a:p>
          <a:p>
            <a:pPr marL="0" indent="0">
              <a:lnSpc>
                <a:spcPts val="2100"/>
              </a:lnSpc>
              <a:spcAft>
                <a:spcPts val="800"/>
              </a:spcAft>
              <a:buNone/>
            </a:pP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Input Values</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ca</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err="1">
                <a:solidFill>
                  <a:srgbClr val="343434"/>
                </a:solidFill>
                <a:effectLst/>
                <a:highlight>
                  <a:srgbClr val="FFFFFF"/>
                </a:highlight>
                <a:ea typeface="Times New Roman" panose="02020603050405020304" pitchFamily="18" charset="0"/>
                <a:cs typeface="Times New Roman" panose="02020603050405020304" pitchFamily="18" charset="0"/>
              </a:rPr>
              <a:t>Ca</a:t>
            </a:r>
            <a:endPar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endParaRPr>
          </a:p>
          <a:p>
            <a:pPr marL="0" indent="0">
              <a:lnSpc>
                <a:spcPts val="2100"/>
              </a:lnSpc>
              <a:spcAft>
                <a:spcPts val="800"/>
              </a:spcAft>
              <a:buNone/>
            </a:pP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Output Values</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INVALID OUTPUT</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lnSpc>
                <a:spcPts val="2100"/>
              </a:lnSpc>
              <a:spcAft>
                <a:spcPts val="800"/>
              </a:spcAft>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Example 2:</a:t>
            </a:r>
          </a:p>
          <a:p>
            <a:pPr marL="0" indent="0">
              <a:lnSpc>
                <a:spcPts val="2100"/>
              </a:lnSpc>
              <a:spcAft>
                <a:spcPts val="800"/>
              </a:spcAft>
              <a:buNone/>
            </a:pP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Input Values</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NI</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HA</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Output Values</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23.0 INR</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Note:</a:t>
            </a: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 Input and Output should be in format given in example.</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Input should not be case sensitive and output should be in the format   INR</a:t>
            </a:r>
            <a:endParaRPr lang="en-IN" sz="2400" kern="100" dirty="0">
              <a:effectLst/>
              <a:highlight>
                <a:srgbClr val="FFFFFF"/>
              </a:highlight>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3590396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BBBBDC-17D6-4394-07CA-7148423534D1}"/>
              </a:ext>
            </a:extLst>
          </p:cNvPr>
          <p:cNvSpPr>
            <a:spLocks noGrp="1"/>
          </p:cNvSpPr>
          <p:nvPr>
            <p:ph idx="1"/>
          </p:nvPr>
        </p:nvSpPr>
        <p:spPr>
          <a:xfrm>
            <a:off x="838200" y="124644"/>
            <a:ext cx="10515600" cy="6571124"/>
          </a:xfrm>
        </p:spPr>
        <p:txBody>
          <a:bodyPr>
            <a:noAutofit/>
          </a:bodyPr>
          <a:lstStyle/>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import math</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def </a:t>
            </a:r>
            <a:r>
              <a:rPr lang="en-IN" sz="2400" b="1" kern="100" dirty="0" err="1">
                <a:effectLst/>
                <a:ea typeface="Times New Roman" panose="02020603050405020304" pitchFamily="18" charset="0"/>
                <a:cs typeface="Courier New" panose="02070309020205020404" pitchFamily="49" charset="0"/>
              </a:rPr>
              <a:t>getFare</a:t>
            </a:r>
            <a:r>
              <a:rPr lang="en-IN" sz="2400" b="1" kern="100" dirty="0">
                <a:effectLst/>
                <a:ea typeface="Times New Roman" panose="02020603050405020304" pitchFamily="18" charset="0"/>
                <a:cs typeface="Courier New" panose="02070309020205020404" pitchFamily="49" charset="0"/>
              </a:rPr>
              <a:t>(</a:t>
            </a:r>
            <a:r>
              <a:rPr lang="en-IN" sz="2400" b="1" kern="100" dirty="0" err="1">
                <a:effectLst/>
                <a:ea typeface="Times New Roman" panose="02020603050405020304" pitchFamily="18" charset="0"/>
                <a:cs typeface="Courier New" panose="02070309020205020404" pitchFamily="49" charset="0"/>
              </a:rPr>
              <a:t>source,destination</a:t>
            </a:r>
            <a:r>
              <a:rPr lang="en-IN" sz="2400" b="1" kern="100" dirty="0">
                <a:effectLst/>
                <a:ea typeface="Times New Roman" panose="02020603050405020304" pitchFamily="18" charset="0"/>
                <a:cs typeface="Courier New" panose="02070309020205020404" pitchFamily="49" charset="0"/>
              </a:rPr>
              <a: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route=[ [ "TH", "GA", "IC", "HA", "TE", "LU", "NI", "CA"],</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[800,600,750,900,1400,1200,1100,1500]</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fare = 0.0</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if not (source in route[0] and destination in route[0]):</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print("Invalid Input")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exit()</a:t>
            </a:r>
            <a:endParaRPr lang="en-IN" sz="2400" kern="100" dirty="0">
              <a:effectLst/>
              <a:ea typeface="Calibri" panose="020F0502020204030204" pitchFamily="34" charset="0"/>
              <a:cs typeface="Cordia New" panose="020B0304020202020204" pitchFamily="34" charset="-34"/>
            </a:endParaRPr>
          </a:p>
          <a:p>
            <a:pPr marL="0" indent="0">
              <a:spcBef>
                <a:spcPts val="0"/>
              </a:spcBef>
              <a:buNone/>
            </a:pPr>
            <a:endParaRPr lang="en-IN" sz="2400" dirty="0"/>
          </a:p>
        </p:txBody>
      </p:sp>
    </p:spTree>
    <p:extLst>
      <p:ext uri="{BB962C8B-B14F-4D97-AF65-F5344CB8AC3E}">
        <p14:creationId xmlns:p14="http://schemas.microsoft.com/office/powerpoint/2010/main" val="1498520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D2AADB-3AE9-2917-6352-3609CF814260}"/>
              </a:ext>
            </a:extLst>
          </p:cNvPr>
          <p:cNvSpPr>
            <a:spLocks noGrp="1"/>
          </p:cNvSpPr>
          <p:nvPr>
            <p:ph idx="1"/>
          </p:nvPr>
        </p:nvSpPr>
        <p:spPr>
          <a:xfrm>
            <a:off x="838200" y="144308"/>
            <a:ext cx="10515600" cy="6492466"/>
          </a:xfrm>
        </p:spPr>
        <p:txBody>
          <a:bodyPr>
            <a:normAutofit/>
          </a:bodyPr>
          <a:lstStyle/>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if route[0].index(source) &lt; route[0].index(destination):</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for </a:t>
            </a:r>
            <a:r>
              <a:rPr lang="en-IN" sz="2400" b="1" kern="100" dirty="0" err="1">
                <a:effectLst/>
                <a:ea typeface="Times New Roman" panose="02020603050405020304" pitchFamily="18" charset="0"/>
                <a:cs typeface="Courier New" panose="02070309020205020404" pitchFamily="49" charset="0"/>
              </a:rPr>
              <a:t>i</a:t>
            </a:r>
            <a:r>
              <a:rPr lang="en-IN" sz="2400" b="1" kern="100" dirty="0">
                <a:effectLst/>
                <a:ea typeface="Times New Roman" panose="02020603050405020304" pitchFamily="18" charset="0"/>
                <a:cs typeface="Courier New" panose="02070309020205020404" pitchFamily="49" charset="0"/>
              </a:rPr>
              <a:t> in range(route[0].index(source),route[0].index(destination)+1):</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fare+=route[1][</a:t>
            </a:r>
            <a:r>
              <a:rPr lang="en-IN" sz="2400" b="1" kern="100" dirty="0" err="1">
                <a:effectLst/>
                <a:ea typeface="Times New Roman" panose="02020603050405020304" pitchFamily="18" charset="0"/>
                <a:cs typeface="Courier New" panose="02070309020205020404" pitchFamily="49" charset="0"/>
              </a:rPr>
              <a:t>i</a:t>
            </a:r>
            <a:r>
              <a:rPr lang="en-IN" sz="2400" b="1" kern="100" dirty="0">
                <a:effectLst/>
                <a:ea typeface="Times New Roman" panose="02020603050405020304" pitchFamily="18" charset="0"/>
                <a:cs typeface="Courier New" panose="02070309020205020404" pitchFamily="49" charset="0"/>
              </a:rPr>
              <a: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a:t>
            </a:r>
            <a:r>
              <a:rPr lang="en-IN" sz="2400" b="1" kern="100" dirty="0" err="1">
                <a:effectLst/>
                <a:ea typeface="Times New Roman" panose="02020603050405020304" pitchFamily="18" charset="0"/>
                <a:cs typeface="Courier New" panose="02070309020205020404" pitchFamily="49" charset="0"/>
              </a:rPr>
              <a:t>elif</a:t>
            </a:r>
            <a:r>
              <a:rPr lang="en-IN" sz="2400" b="1" kern="100" dirty="0">
                <a:effectLst/>
                <a:ea typeface="Times New Roman" panose="02020603050405020304" pitchFamily="18" charset="0"/>
                <a:cs typeface="Courier New" panose="02070309020205020404" pitchFamily="49" charset="0"/>
              </a:rPr>
              <a:t> route[0].index(destination) &lt; route[0].index(source):</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for </a:t>
            </a:r>
            <a:r>
              <a:rPr lang="en-IN" sz="2400" b="1" kern="100" dirty="0" err="1">
                <a:effectLst/>
                <a:ea typeface="Times New Roman" panose="02020603050405020304" pitchFamily="18" charset="0"/>
                <a:cs typeface="Courier New" panose="02070309020205020404" pitchFamily="49" charset="0"/>
              </a:rPr>
              <a:t>i</a:t>
            </a:r>
            <a:r>
              <a:rPr lang="en-IN" sz="2400" b="1" kern="100" dirty="0">
                <a:effectLst/>
                <a:ea typeface="Times New Roman" panose="02020603050405020304" pitchFamily="18" charset="0"/>
                <a:cs typeface="Courier New" panose="02070309020205020404" pitchFamily="49" charset="0"/>
              </a:rPr>
              <a:t> in range(route[0].index(source)+1,len(route[0])):</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fare+=route[1][</a:t>
            </a:r>
            <a:r>
              <a:rPr lang="en-IN" sz="2400" b="1" kern="100" dirty="0" err="1">
                <a:effectLst/>
                <a:ea typeface="Times New Roman" panose="02020603050405020304" pitchFamily="18" charset="0"/>
                <a:cs typeface="Courier New" panose="02070309020205020404" pitchFamily="49" charset="0"/>
              </a:rPr>
              <a:t>i</a:t>
            </a:r>
            <a:r>
              <a:rPr lang="en-IN" sz="2400" b="1" kern="100" dirty="0">
                <a:effectLst/>
                <a:ea typeface="Times New Roman" panose="02020603050405020304" pitchFamily="18" charset="0"/>
                <a:cs typeface="Courier New" panose="02070309020205020404" pitchFamily="49" charset="0"/>
              </a:rPr>
              <a: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for </a:t>
            </a:r>
            <a:r>
              <a:rPr lang="en-IN" sz="2400" b="1" kern="100" dirty="0" err="1">
                <a:effectLst/>
                <a:ea typeface="Times New Roman" panose="02020603050405020304" pitchFamily="18" charset="0"/>
                <a:cs typeface="Courier New" panose="02070309020205020404" pitchFamily="49" charset="0"/>
              </a:rPr>
              <a:t>i</a:t>
            </a:r>
            <a:r>
              <a:rPr lang="en-IN" sz="2400" b="1" kern="100" dirty="0">
                <a:effectLst/>
                <a:ea typeface="Times New Roman" panose="02020603050405020304" pitchFamily="18" charset="0"/>
                <a:cs typeface="Courier New" panose="02070309020205020404" pitchFamily="49" charset="0"/>
              </a:rPr>
              <a:t> in range(0,route[0].index(destination)+1):</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fare+=route[1][</a:t>
            </a:r>
            <a:r>
              <a:rPr lang="en-IN" sz="2400" b="1" kern="100" dirty="0" err="1">
                <a:effectLst/>
                <a:ea typeface="Times New Roman" panose="02020603050405020304" pitchFamily="18" charset="0"/>
                <a:cs typeface="Courier New" panose="02070309020205020404" pitchFamily="49" charset="0"/>
              </a:rPr>
              <a:t>i</a:t>
            </a:r>
            <a:r>
              <a:rPr lang="en-IN" sz="2400" b="1" kern="100" dirty="0">
                <a:effectLst/>
                <a:ea typeface="Times New Roman" panose="02020603050405020304" pitchFamily="18" charset="0"/>
                <a:cs typeface="Courier New" panose="02070309020205020404" pitchFamily="49" charset="0"/>
              </a:rPr>
              <a: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    return float(</a:t>
            </a:r>
            <a:r>
              <a:rPr lang="en-IN" sz="2400" b="1" kern="100" dirty="0" err="1">
                <a:effectLst/>
                <a:ea typeface="Times New Roman" panose="02020603050405020304" pitchFamily="18" charset="0"/>
                <a:cs typeface="Courier New" panose="02070309020205020404" pitchFamily="49" charset="0"/>
              </a:rPr>
              <a:t>math.ceil</a:t>
            </a:r>
            <a:r>
              <a:rPr lang="en-IN" sz="2400" b="1" kern="100" dirty="0">
                <a:effectLst/>
                <a:ea typeface="Times New Roman" panose="02020603050405020304" pitchFamily="18" charset="0"/>
                <a:cs typeface="Courier New" panose="02070309020205020404" pitchFamily="49" charset="0"/>
              </a:rPr>
              <a:t>(fare*0.005))</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source = input()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destination = input()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fare = </a:t>
            </a:r>
            <a:r>
              <a:rPr lang="en-IN" sz="2400" b="1" kern="100" dirty="0" err="1">
                <a:effectLst/>
                <a:ea typeface="Times New Roman" panose="02020603050405020304" pitchFamily="18" charset="0"/>
                <a:cs typeface="Courier New" panose="02070309020205020404" pitchFamily="49" charset="0"/>
              </a:rPr>
              <a:t>getFare</a:t>
            </a:r>
            <a:r>
              <a:rPr lang="en-IN" sz="2400" b="1" kern="100" dirty="0">
                <a:effectLst/>
                <a:ea typeface="Times New Roman" panose="02020603050405020304" pitchFamily="18" charset="0"/>
                <a:cs typeface="Courier New" panose="02070309020205020404" pitchFamily="49" charset="0"/>
              </a:rPr>
              <a:t>(</a:t>
            </a:r>
            <a:r>
              <a:rPr lang="en-IN" sz="2400" b="1" kern="100" dirty="0" err="1">
                <a:effectLst/>
                <a:ea typeface="Times New Roman" panose="02020603050405020304" pitchFamily="18" charset="0"/>
                <a:cs typeface="Courier New" panose="02070309020205020404" pitchFamily="49" charset="0"/>
              </a:rPr>
              <a:t>source,destination</a:t>
            </a:r>
            <a:r>
              <a:rPr lang="en-IN" sz="2400" b="1" kern="100" dirty="0">
                <a:effectLst/>
                <a:ea typeface="Times New Roman" panose="02020603050405020304" pitchFamily="18" charset="0"/>
                <a:cs typeface="Courier New" panose="02070309020205020404" pitchFamily="49" charset="0"/>
              </a:rPr>
              <a: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if fare == 0:</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print("Invalid Input")</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else:</a:t>
            </a:r>
            <a:endParaRPr lang="en-IN" sz="2400" kern="100" dirty="0">
              <a:effectLst/>
              <a:ea typeface="Calibri" panose="020F0502020204030204" pitchFamily="34" charset="0"/>
              <a:cs typeface="Cordia New" panose="020B0304020202020204" pitchFamily="34" charset="-34"/>
            </a:endParaRPr>
          </a:p>
          <a:p>
            <a:pPr marL="0" indent="0">
              <a:lnSpc>
                <a:spcPct val="107000"/>
              </a:lnSpc>
              <a:spcBef>
                <a:spcPts val="0"/>
              </a:spcBef>
              <a:buNone/>
            </a:pPr>
            <a:r>
              <a:rPr lang="en-IN" sz="2400" b="1" kern="100" dirty="0">
                <a:effectLst/>
                <a:ea typeface="Times New Roman" panose="02020603050405020304" pitchFamily="18" charset="0"/>
                <a:cs typeface="Courier New" panose="02070309020205020404" pitchFamily="49" charset="0"/>
              </a:rPr>
              <a:t>print(fare)</a:t>
            </a:r>
            <a:endParaRPr lang="en-IN" sz="2400" dirty="0"/>
          </a:p>
        </p:txBody>
      </p:sp>
    </p:spTree>
    <p:extLst>
      <p:ext uri="{BB962C8B-B14F-4D97-AF65-F5344CB8AC3E}">
        <p14:creationId xmlns:p14="http://schemas.microsoft.com/office/powerpoint/2010/main" val="1481648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AAC4-DFD8-86D2-7AF4-92582CAD37DC}"/>
              </a:ext>
            </a:extLst>
          </p:cNvPr>
          <p:cNvSpPr>
            <a:spLocks noGrp="1"/>
          </p:cNvSpPr>
          <p:nvPr>
            <p:ph type="title"/>
          </p:nvPr>
        </p:nvSpPr>
        <p:spPr>
          <a:xfrm>
            <a:off x="838200" y="137652"/>
            <a:ext cx="10515600" cy="543385"/>
          </a:xfrm>
        </p:spPr>
        <p:txBody>
          <a:bodyPr>
            <a:normAutofit/>
          </a:bodyPr>
          <a:lstStyle/>
          <a:p>
            <a:r>
              <a:rPr lang="en-IN" sz="3000" b="1" dirty="0">
                <a:solidFill>
                  <a:srgbClr val="FF0000"/>
                </a:solidFill>
                <a:effectLst/>
                <a:highlight>
                  <a:srgbClr val="FFFFFF"/>
                </a:highlight>
                <a:latin typeface="+mn-lt"/>
                <a:ea typeface="Times New Roman" panose="02020603050405020304" pitchFamily="18" charset="0"/>
              </a:rPr>
              <a:t>Problem Statement</a:t>
            </a:r>
            <a:r>
              <a:rPr lang="en-IN" sz="3000" b="1" dirty="0">
                <a:solidFill>
                  <a:srgbClr val="FF0000"/>
                </a:solidFill>
                <a:highlight>
                  <a:srgbClr val="FFFFFF"/>
                </a:highlight>
                <a:latin typeface="+mn-lt"/>
                <a:ea typeface="Times New Roman" panose="02020603050405020304" pitchFamily="18" charset="0"/>
              </a:rPr>
              <a:t> 8</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D15D50A2-00F6-05C8-F178-2750ABD84891}"/>
              </a:ext>
            </a:extLst>
          </p:cNvPr>
          <p:cNvSpPr>
            <a:spLocks noGrp="1"/>
          </p:cNvSpPr>
          <p:nvPr>
            <p:ph idx="1"/>
          </p:nvPr>
        </p:nvSpPr>
        <p:spPr>
          <a:xfrm>
            <a:off x="838200" y="894735"/>
            <a:ext cx="10515600" cy="5282228"/>
          </a:xfrm>
        </p:spPr>
        <p:txBody>
          <a:bodyPr>
            <a:normAutofit lnSpcReduction="10000"/>
          </a:bodyPr>
          <a:lstStyle/>
          <a:p>
            <a:pPr>
              <a:buFont typeface="Wingdings" panose="05000000000000000000" pitchFamily="2" charset="2"/>
              <a:buChar char="Ø"/>
            </a:pPr>
            <a: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t>There are total n number of Monkeys sitting on the branches of a huge Tree. As </a:t>
            </a:r>
            <a:r>
              <a:rPr lang="en-IN" sz="2400" b="1" dirty="0" err="1">
                <a:solidFill>
                  <a:srgbClr val="343434"/>
                </a:solidFill>
                <a:effectLst/>
                <a:latin typeface="Roboto" panose="02000000000000000000" pitchFamily="2" charset="0"/>
                <a:ea typeface="Calibri" panose="020F0502020204030204" pitchFamily="34" charset="0"/>
                <a:cs typeface="Cordia New" panose="020B0304020202020204" pitchFamily="34" charset="-34"/>
              </a:rPr>
              <a:t>travelers</a:t>
            </a:r>
            <a: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t> offer Bananas and Peanuts, the Monkeys jump down the Tree. If every Monkey can eat k Bananas and j Peanuts. If total m number of Bananas and p number of Peanuts are offered by </a:t>
            </a:r>
            <a:r>
              <a:rPr lang="en-IN" sz="2400" b="1" dirty="0" err="1">
                <a:solidFill>
                  <a:srgbClr val="343434"/>
                </a:solidFill>
                <a:effectLst/>
                <a:latin typeface="Roboto" panose="02000000000000000000" pitchFamily="2" charset="0"/>
                <a:ea typeface="Calibri" panose="020F0502020204030204" pitchFamily="34" charset="0"/>
                <a:cs typeface="Cordia New" panose="020B0304020202020204" pitchFamily="34" charset="-34"/>
              </a:rPr>
              <a:t>travelers</a:t>
            </a:r>
            <a: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t>, calculate how many Monkeys remain on the Tree after some of them jumped down to eat.</a:t>
            </a:r>
          </a:p>
          <a:p>
            <a:pPr marL="0" indent="0">
              <a:buNone/>
            </a:pPr>
            <a:endPar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endParaRPr>
          </a:p>
          <a:p>
            <a:pPr>
              <a:buFont typeface="Wingdings" panose="05000000000000000000" pitchFamily="2" charset="2"/>
              <a:buChar char="Ø"/>
            </a:pPr>
            <a: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t>At a time one Monkeys gets down and finishes eating and go to the other side of the road. The Monkey who climbed down does not climb up again after eating until the other Monkeys finish eating.</a:t>
            </a:r>
            <a:b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br>
            <a: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t>Monkey can either eat k Bananas or j Peanuts. If for last Monkey there are less than k Bananas left on the ground or less than j Peanuts left on the ground, only that Monkey can eat Bananas(&lt;k) along with the Peanuts(&lt;j).</a:t>
            </a:r>
            <a:br>
              <a:rPr lang="en-IN" sz="2400" b="1" dirty="0">
                <a:solidFill>
                  <a:srgbClr val="343434"/>
                </a:solidFill>
                <a:effectLst/>
                <a:latin typeface="Roboto" panose="02000000000000000000" pitchFamily="2" charset="0"/>
                <a:ea typeface="Calibri" panose="020F0502020204030204" pitchFamily="34" charset="0"/>
                <a:cs typeface="Cordia New" panose="020B0304020202020204" pitchFamily="34" charset="-34"/>
              </a:rPr>
            </a:br>
            <a:endParaRPr lang="en-IN" sz="2400" b="1" dirty="0"/>
          </a:p>
        </p:txBody>
      </p:sp>
    </p:spTree>
    <p:extLst>
      <p:ext uri="{BB962C8B-B14F-4D97-AF65-F5344CB8AC3E}">
        <p14:creationId xmlns:p14="http://schemas.microsoft.com/office/powerpoint/2010/main" val="1831855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C1FA1-2D57-C483-5C32-3607ABCB5FBF}"/>
              </a:ext>
            </a:extLst>
          </p:cNvPr>
          <p:cNvSpPr>
            <a:spLocks noGrp="1"/>
          </p:cNvSpPr>
          <p:nvPr>
            <p:ph idx="1"/>
          </p:nvPr>
        </p:nvSpPr>
        <p:spPr>
          <a:xfrm>
            <a:off x="838200" y="471948"/>
            <a:ext cx="10515600" cy="5705015"/>
          </a:xfrm>
        </p:spPr>
        <p:txBody>
          <a:bodyPr>
            <a:normAutofit/>
          </a:bodyPr>
          <a:lstStyle/>
          <a:p>
            <a:pPr marL="0" indent="0">
              <a:buNone/>
            </a:pPr>
            <a:r>
              <a:rPr lang="en-IN" sz="2400" b="1" dirty="0">
                <a:solidFill>
                  <a:srgbClr val="343434"/>
                </a:solidFill>
                <a:effectLst/>
                <a:highlight>
                  <a:srgbClr val="FFFFFF"/>
                </a:highlight>
                <a:ea typeface="Times New Roman" panose="02020603050405020304" pitchFamily="18" charset="0"/>
              </a:rPr>
              <a:t>Write code to take inputs as n, m, p, k, j and return  the number of Monkeys left on the Tree.</a:t>
            </a:r>
          </a:p>
          <a:p>
            <a:pPr marL="0" indent="0">
              <a:buNone/>
            </a:pP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    Where, n= Total no of Monkeys</a:t>
            </a: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        k= Number of eatable Bananas by Single Monkey (Monkey that jumped down last may get less than k Bananas)</a:t>
            </a: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        j = Number of eatable Peanuts by single Monkey(Monkey that jumped down last may get less than j Peanuts)</a:t>
            </a: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        m = Total number of Bananas</a:t>
            </a: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        p  = Total number of Peanuts</a:t>
            </a:r>
            <a:br>
              <a:rPr lang="en-IN" sz="2400" b="1"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Remember that the Monkeys always eat Bananas and Peanuts, so there is no possibility of k and j having a value zero</a:t>
            </a:r>
            <a:endParaRPr lang="en-IN" sz="2400" b="1" dirty="0">
              <a:effectLst/>
              <a:highlight>
                <a:srgbClr val="FFFFFF"/>
              </a:highlight>
              <a:ea typeface="Times New Roman" panose="02020603050405020304" pitchFamily="18" charset="0"/>
            </a:endParaRPr>
          </a:p>
          <a:p>
            <a:pPr marL="0" indent="0">
              <a:buNone/>
            </a:pPr>
            <a:endParaRPr lang="en-IN" sz="2400" b="1" dirty="0"/>
          </a:p>
        </p:txBody>
      </p:sp>
    </p:spTree>
    <p:extLst>
      <p:ext uri="{BB962C8B-B14F-4D97-AF65-F5344CB8AC3E}">
        <p14:creationId xmlns:p14="http://schemas.microsoft.com/office/powerpoint/2010/main" val="301412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D50A2-00F6-05C8-F178-2750ABD84891}"/>
              </a:ext>
            </a:extLst>
          </p:cNvPr>
          <p:cNvSpPr>
            <a:spLocks noGrp="1"/>
          </p:cNvSpPr>
          <p:nvPr>
            <p:ph idx="1"/>
          </p:nvPr>
        </p:nvSpPr>
        <p:spPr>
          <a:xfrm>
            <a:off x="838200" y="324465"/>
            <a:ext cx="10515600" cy="5852498"/>
          </a:xfrm>
        </p:spPr>
        <p:txBody>
          <a:bodyPr>
            <a:normAutofit/>
          </a:bodyPr>
          <a:lstStyle/>
          <a:p>
            <a:pPr marL="0" indent="0">
              <a:lnSpc>
                <a:spcPts val="2100"/>
              </a:lnSpc>
              <a:buNone/>
            </a:pPr>
            <a:r>
              <a:rPr lang="en-IN" sz="2400" b="1" dirty="0">
                <a:solidFill>
                  <a:srgbClr val="FF0000"/>
                </a:solidFill>
                <a:effectLst/>
                <a:highlight>
                  <a:srgbClr val="FFFFFF"/>
                </a:highlight>
                <a:ea typeface="Times New Roman" panose="02020603050405020304" pitchFamily="18" charset="0"/>
              </a:rPr>
              <a:t>Example 1:</a:t>
            </a:r>
          </a:p>
          <a:p>
            <a:pPr marL="0" indent="0">
              <a:lnSpc>
                <a:spcPts val="2100"/>
              </a:lnSpc>
              <a:buNone/>
            </a:pPr>
            <a:br>
              <a:rPr lang="en-IN" sz="2400"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Input Values    </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20</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2</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3</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12</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12</a:t>
            </a:r>
          </a:p>
          <a:p>
            <a:pPr marL="0" indent="0">
              <a:lnSpc>
                <a:spcPts val="2100"/>
              </a:lnSpc>
              <a:buNone/>
            </a:pPr>
            <a:endParaRPr lang="en-IN" sz="2400" dirty="0">
              <a:effectLst/>
              <a:highlight>
                <a:srgbClr val="FFFFFF"/>
              </a:highlight>
              <a:ea typeface="Times New Roman" panose="02020603050405020304" pitchFamily="18" charset="0"/>
            </a:endParaRPr>
          </a:p>
          <a:p>
            <a:pPr marL="0" indent="0">
              <a:lnSpc>
                <a:spcPts val="2100"/>
              </a:lnSpc>
              <a:buNone/>
            </a:pPr>
            <a:r>
              <a:rPr lang="en-IN" sz="2400" b="1" dirty="0">
                <a:solidFill>
                  <a:srgbClr val="343434"/>
                </a:solidFill>
                <a:effectLst/>
                <a:highlight>
                  <a:srgbClr val="FFFFFF"/>
                </a:highlight>
                <a:ea typeface="Times New Roman" panose="02020603050405020304" pitchFamily="18" charset="0"/>
              </a:rPr>
              <a:t>Output Values</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Number of  Monkeys left on the tree:10</a:t>
            </a:r>
            <a:br>
              <a:rPr lang="en-IN" sz="2400" dirty="0">
                <a:solidFill>
                  <a:srgbClr val="343434"/>
                </a:solidFill>
                <a:effectLst/>
                <a:highlight>
                  <a:srgbClr val="FFFFFF"/>
                </a:highlight>
                <a:ea typeface="Times New Roman" panose="02020603050405020304" pitchFamily="18" charset="0"/>
              </a:rPr>
            </a:br>
            <a:r>
              <a:rPr lang="en-IN" sz="2400" b="1" dirty="0">
                <a:solidFill>
                  <a:srgbClr val="343434"/>
                </a:solidFill>
                <a:effectLst/>
                <a:highlight>
                  <a:srgbClr val="FFFFFF"/>
                </a:highlight>
                <a:ea typeface="Times New Roman" panose="02020603050405020304" pitchFamily="18" charset="0"/>
              </a:rPr>
              <a:t>Note:</a:t>
            </a:r>
            <a:r>
              <a:rPr lang="en-IN" sz="2400" dirty="0">
                <a:solidFill>
                  <a:srgbClr val="343434"/>
                </a:solidFill>
                <a:effectLst/>
                <a:highlight>
                  <a:srgbClr val="FFFFFF"/>
                </a:highlight>
                <a:ea typeface="Times New Roman" panose="02020603050405020304" pitchFamily="18" charset="0"/>
              </a:rPr>
              <a:t> Kindly follow  the order of inputs as </a:t>
            </a:r>
            <a:r>
              <a:rPr lang="en-IN" sz="2400" dirty="0" err="1">
                <a:solidFill>
                  <a:srgbClr val="343434"/>
                </a:solidFill>
                <a:effectLst/>
                <a:highlight>
                  <a:srgbClr val="FFFFFF"/>
                </a:highlight>
                <a:ea typeface="Times New Roman" panose="02020603050405020304" pitchFamily="18" charset="0"/>
              </a:rPr>
              <a:t>n,k,j,m,p</a:t>
            </a:r>
            <a:r>
              <a:rPr lang="en-IN" sz="2400" dirty="0">
                <a:solidFill>
                  <a:srgbClr val="343434"/>
                </a:solidFill>
                <a:effectLst/>
                <a:highlight>
                  <a:srgbClr val="FFFFFF"/>
                </a:highlight>
                <a:ea typeface="Times New Roman" panose="02020603050405020304" pitchFamily="18" charset="0"/>
              </a:rPr>
              <a:t> as given in the above example. And output must include  the same format  as in above example(Number of Monkeys left on the Tree:)</a:t>
            </a:r>
            <a:br>
              <a:rPr lang="en-IN" sz="2400" dirty="0">
                <a:solidFill>
                  <a:srgbClr val="343434"/>
                </a:solidFill>
                <a:effectLst/>
                <a:highlight>
                  <a:srgbClr val="FFFFFF"/>
                </a:highlight>
                <a:ea typeface="Times New Roman" panose="02020603050405020304" pitchFamily="18" charset="0"/>
              </a:rPr>
            </a:br>
            <a:r>
              <a:rPr lang="en-IN" sz="2400" dirty="0">
                <a:solidFill>
                  <a:srgbClr val="343434"/>
                </a:solidFill>
                <a:effectLst/>
                <a:highlight>
                  <a:srgbClr val="FFFFFF"/>
                </a:highlight>
                <a:ea typeface="Times New Roman" panose="02020603050405020304" pitchFamily="18" charset="0"/>
              </a:rPr>
              <a:t>For any wrong input display INVALID INPUT</a:t>
            </a:r>
            <a:endParaRPr lang="en-IN" sz="2400" dirty="0">
              <a:effectLst/>
              <a:highlight>
                <a:srgbClr val="FFFFFF"/>
              </a:highlight>
              <a:ea typeface="Times New Roman" panose="02020603050405020304" pitchFamily="18" charset="0"/>
            </a:endParaRPr>
          </a:p>
          <a:p>
            <a:pPr marL="0" indent="0">
              <a:buNone/>
            </a:pPr>
            <a:endParaRPr lang="en-IN" sz="2400" dirty="0"/>
          </a:p>
        </p:txBody>
      </p:sp>
    </p:spTree>
    <p:extLst>
      <p:ext uri="{BB962C8B-B14F-4D97-AF65-F5344CB8AC3E}">
        <p14:creationId xmlns:p14="http://schemas.microsoft.com/office/powerpoint/2010/main" val="4238646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C1FA1-2D57-C483-5C32-3607ABCB5FBF}"/>
              </a:ext>
            </a:extLst>
          </p:cNvPr>
          <p:cNvSpPr>
            <a:spLocks noGrp="1"/>
          </p:cNvSpPr>
          <p:nvPr>
            <p:ph idx="1"/>
          </p:nvPr>
        </p:nvSpPr>
        <p:spPr>
          <a:xfrm>
            <a:off x="838200" y="0"/>
            <a:ext cx="10515600" cy="6176963"/>
          </a:xfrm>
        </p:spPr>
        <p:txBody>
          <a:bodyPr>
            <a:noAutofit/>
          </a:bodyPr>
          <a:lstStyle/>
          <a:p>
            <a:pPr marL="0" indent="0">
              <a:spcBef>
                <a:spcPts val="0"/>
              </a:spcBef>
              <a:buNone/>
            </a:pPr>
            <a:r>
              <a:rPr lang="en-IN" sz="2400" b="1" dirty="0"/>
              <a:t>import sys</a:t>
            </a:r>
          </a:p>
          <a:p>
            <a:pPr marL="0" indent="0">
              <a:spcBef>
                <a:spcPts val="0"/>
              </a:spcBef>
              <a:buNone/>
            </a:pPr>
            <a:endParaRPr lang="en-IN" sz="2400" b="1" dirty="0"/>
          </a:p>
          <a:p>
            <a:pPr marL="0" indent="0">
              <a:spcBef>
                <a:spcPts val="0"/>
              </a:spcBef>
              <a:buNone/>
            </a:pPr>
            <a:r>
              <a:rPr lang="en-IN" sz="2400" b="1" dirty="0"/>
              <a:t>def main():</a:t>
            </a:r>
          </a:p>
          <a:p>
            <a:pPr marL="0" indent="0">
              <a:spcBef>
                <a:spcPts val="0"/>
              </a:spcBef>
              <a:buNone/>
            </a:pPr>
            <a:r>
              <a:rPr lang="en-IN" sz="2400" b="1" dirty="0"/>
              <a:t>    try:</a:t>
            </a:r>
          </a:p>
          <a:p>
            <a:pPr marL="0" indent="0">
              <a:spcBef>
                <a:spcPts val="0"/>
              </a:spcBef>
              <a:buNone/>
            </a:pPr>
            <a:r>
              <a:rPr lang="en-IN" sz="2400" b="1" dirty="0"/>
              <a:t>        n = int(input())</a:t>
            </a:r>
          </a:p>
          <a:p>
            <a:pPr marL="0" indent="0">
              <a:spcBef>
                <a:spcPts val="0"/>
              </a:spcBef>
              <a:buNone/>
            </a:pPr>
            <a:r>
              <a:rPr lang="en-IN" sz="2400" b="1" dirty="0"/>
              <a:t>        k = int(input())</a:t>
            </a:r>
          </a:p>
          <a:p>
            <a:pPr marL="0" indent="0">
              <a:spcBef>
                <a:spcPts val="0"/>
              </a:spcBef>
              <a:buNone/>
            </a:pPr>
            <a:r>
              <a:rPr lang="en-IN" sz="2400" b="1" dirty="0"/>
              <a:t>        j = int(input())</a:t>
            </a:r>
          </a:p>
          <a:p>
            <a:pPr marL="0" indent="0">
              <a:spcBef>
                <a:spcPts val="0"/>
              </a:spcBef>
              <a:buNone/>
            </a:pPr>
            <a:r>
              <a:rPr lang="en-IN" sz="2400" b="1" dirty="0"/>
              <a:t>        m = int(input())</a:t>
            </a:r>
          </a:p>
          <a:p>
            <a:pPr marL="0" indent="0">
              <a:spcBef>
                <a:spcPts val="0"/>
              </a:spcBef>
              <a:buNone/>
            </a:pPr>
            <a:r>
              <a:rPr lang="en-IN" sz="2400" b="1" dirty="0"/>
              <a:t>        p = int(input())</a:t>
            </a:r>
          </a:p>
          <a:p>
            <a:pPr marL="0" indent="0">
              <a:spcBef>
                <a:spcPts val="0"/>
              </a:spcBef>
              <a:buNone/>
            </a:pPr>
            <a:r>
              <a:rPr lang="en-IN" sz="2400" b="1" dirty="0"/>
              <a:t>    except </a:t>
            </a:r>
            <a:r>
              <a:rPr lang="en-IN" sz="2400" b="1" dirty="0" err="1"/>
              <a:t>ValueError</a:t>
            </a:r>
            <a:r>
              <a:rPr lang="en-IN" sz="2400" b="1" dirty="0"/>
              <a:t>:</a:t>
            </a:r>
          </a:p>
          <a:p>
            <a:pPr marL="0" indent="0">
              <a:spcBef>
                <a:spcPts val="0"/>
              </a:spcBef>
              <a:buNone/>
            </a:pPr>
            <a:r>
              <a:rPr lang="en-IN" sz="2400" b="1" dirty="0"/>
              <a:t>        print("Invalid Input")</a:t>
            </a:r>
          </a:p>
          <a:p>
            <a:pPr marL="0" indent="0">
              <a:spcBef>
                <a:spcPts val="0"/>
              </a:spcBef>
              <a:buNone/>
            </a:pPr>
            <a:r>
              <a:rPr lang="en-IN" sz="2400" b="1" dirty="0"/>
              <a:t>        return</a:t>
            </a:r>
          </a:p>
          <a:p>
            <a:pPr marL="0" indent="0">
              <a:spcBef>
                <a:spcPts val="0"/>
              </a:spcBef>
              <a:buNone/>
            </a:pPr>
            <a:endParaRPr lang="en-IN" sz="2400" b="1" dirty="0"/>
          </a:p>
          <a:p>
            <a:pPr marL="0" indent="0">
              <a:spcBef>
                <a:spcPts val="0"/>
              </a:spcBef>
              <a:buNone/>
            </a:pPr>
            <a:endParaRPr lang="en-IN" sz="2400" b="1" dirty="0"/>
          </a:p>
          <a:p>
            <a:pPr marL="0" indent="0">
              <a:spcBef>
                <a:spcPts val="0"/>
              </a:spcBef>
              <a:buNone/>
            </a:pPr>
            <a:endParaRPr lang="en-IN" sz="2400" b="1" dirty="0"/>
          </a:p>
        </p:txBody>
      </p:sp>
    </p:spTree>
    <p:extLst>
      <p:ext uri="{BB962C8B-B14F-4D97-AF65-F5344CB8AC3E}">
        <p14:creationId xmlns:p14="http://schemas.microsoft.com/office/powerpoint/2010/main" val="2327432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39501B-5B68-0DDD-4961-FF3E0B065BF4}"/>
              </a:ext>
            </a:extLst>
          </p:cNvPr>
          <p:cNvSpPr>
            <a:spLocks noGrp="1"/>
          </p:cNvSpPr>
          <p:nvPr>
            <p:ph idx="1"/>
          </p:nvPr>
        </p:nvSpPr>
        <p:spPr>
          <a:xfrm>
            <a:off x="838200" y="0"/>
            <a:ext cx="10515600" cy="6176963"/>
          </a:xfrm>
        </p:spPr>
        <p:txBody>
          <a:bodyPr>
            <a:noAutofit/>
          </a:bodyPr>
          <a:lstStyle/>
          <a:p>
            <a:pPr marL="0" indent="0">
              <a:spcBef>
                <a:spcPts val="0"/>
              </a:spcBef>
              <a:buNone/>
            </a:pPr>
            <a:r>
              <a:rPr lang="en-IN" sz="2400" b="1" dirty="0"/>
              <a:t> if n &lt; 0 or k &lt; 0 or j &lt; 0 or m &lt; 0 or p &lt; 0:</a:t>
            </a:r>
          </a:p>
          <a:p>
            <a:pPr marL="0" indent="0">
              <a:spcBef>
                <a:spcPts val="0"/>
              </a:spcBef>
              <a:buNone/>
            </a:pPr>
            <a:r>
              <a:rPr lang="en-IN" sz="2400" b="1" dirty="0"/>
              <a:t>        print("Invalid Input")</a:t>
            </a:r>
          </a:p>
          <a:p>
            <a:pPr marL="0" indent="0">
              <a:spcBef>
                <a:spcPts val="0"/>
              </a:spcBef>
              <a:buNone/>
            </a:pPr>
            <a:r>
              <a:rPr lang="en-IN" sz="2400" b="1" dirty="0"/>
              <a:t>        return</a:t>
            </a:r>
          </a:p>
          <a:p>
            <a:pPr marL="0" indent="0">
              <a:spcBef>
                <a:spcPts val="0"/>
              </a:spcBef>
              <a:buNone/>
            </a:pPr>
            <a:endParaRPr lang="en-IN" sz="2400" b="1" dirty="0"/>
          </a:p>
          <a:p>
            <a:pPr marL="0" indent="0">
              <a:spcBef>
                <a:spcPts val="0"/>
              </a:spcBef>
              <a:buNone/>
            </a:pPr>
            <a:r>
              <a:rPr lang="en-IN" sz="2400" b="1" dirty="0"/>
              <a:t>    </a:t>
            </a:r>
            <a:r>
              <a:rPr lang="en-IN" sz="2400" b="1" dirty="0" err="1"/>
              <a:t>atebanana</a:t>
            </a:r>
            <a:r>
              <a:rPr lang="en-IN" sz="2400" b="1" dirty="0"/>
              <a:t> = 0</a:t>
            </a:r>
          </a:p>
          <a:p>
            <a:pPr marL="0" indent="0">
              <a:spcBef>
                <a:spcPts val="0"/>
              </a:spcBef>
              <a:buNone/>
            </a:pPr>
            <a:r>
              <a:rPr lang="en-IN" sz="2400" b="1" dirty="0"/>
              <a:t>    </a:t>
            </a:r>
            <a:r>
              <a:rPr lang="en-IN" sz="2400" b="1" dirty="0" err="1"/>
              <a:t>atepeanut</a:t>
            </a:r>
            <a:r>
              <a:rPr lang="en-IN" sz="2400" b="1" dirty="0"/>
              <a:t> = 0</a:t>
            </a:r>
          </a:p>
          <a:p>
            <a:pPr marL="0" indent="0">
              <a:spcBef>
                <a:spcPts val="0"/>
              </a:spcBef>
              <a:buNone/>
            </a:pPr>
            <a:r>
              <a:rPr lang="en-IN" sz="2400" b="1" dirty="0"/>
              <a:t>    if k &gt; 0:</a:t>
            </a:r>
          </a:p>
          <a:p>
            <a:pPr marL="0" indent="0">
              <a:spcBef>
                <a:spcPts val="0"/>
              </a:spcBef>
              <a:buNone/>
            </a:pPr>
            <a:r>
              <a:rPr lang="en-IN" sz="2400" b="1" dirty="0"/>
              <a:t>        </a:t>
            </a:r>
            <a:r>
              <a:rPr lang="en-IN" sz="2400" b="1" dirty="0" err="1"/>
              <a:t>atebanana</a:t>
            </a:r>
            <a:r>
              <a:rPr lang="en-IN" sz="2400" b="1" dirty="0"/>
              <a:t> = m // k</a:t>
            </a:r>
          </a:p>
          <a:p>
            <a:pPr marL="0" indent="0">
              <a:spcBef>
                <a:spcPts val="0"/>
              </a:spcBef>
              <a:buNone/>
            </a:pPr>
            <a:r>
              <a:rPr lang="en-IN" sz="2400" b="1" dirty="0"/>
              <a:t>        m = m % k</a:t>
            </a:r>
          </a:p>
          <a:p>
            <a:pPr marL="0" indent="0">
              <a:spcBef>
                <a:spcPts val="0"/>
              </a:spcBef>
              <a:buNone/>
            </a:pPr>
            <a:r>
              <a:rPr lang="en-IN" sz="2400" b="1" dirty="0"/>
              <a:t>    if j &gt; 0:</a:t>
            </a:r>
          </a:p>
          <a:p>
            <a:pPr marL="0" indent="0">
              <a:spcBef>
                <a:spcPts val="0"/>
              </a:spcBef>
              <a:buNone/>
            </a:pPr>
            <a:r>
              <a:rPr lang="en-IN" sz="2400" b="1" dirty="0"/>
              <a:t>        </a:t>
            </a:r>
            <a:r>
              <a:rPr lang="en-IN" sz="2400" b="1" dirty="0" err="1"/>
              <a:t>atepeanut</a:t>
            </a:r>
            <a:r>
              <a:rPr lang="en-IN" sz="2400" b="1" dirty="0"/>
              <a:t> = p // j</a:t>
            </a:r>
          </a:p>
          <a:p>
            <a:pPr marL="0" indent="0">
              <a:spcBef>
                <a:spcPts val="0"/>
              </a:spcBef>
              <a:buNone/>
            </a:pPr>
            <a:r>
              <a:rPr lang="en-IN" sz="2400" b="1" dirty="0"/>
              <a:t>        p = p % j</a:t>
            </a:r>
          </a:p>
          <a:p>
            <a:pPr marL="0" indent="0">
              <a:spcBef>
                <a:spcPts val="0"/>
              </a:spcBef>
              <a:buNone/>
            </a:pPr>
            <a:r>
              <a:rPr lang="en-IN" sz="2400" b="1" dirty="0"/>
              <a:t>    n = n - </a:t>
            </a:r>
            <a:r>
              <a:rPr lang="en-IN" sz="2400" b="1" dirty="0" err="1"/>
              <a:t>atebanana</a:t>
            </a:r>
            <a:r>
              <a:rPr lang="en-IN" sz="2400" b="1" dirty="0"/>
              <a:t> - </a:t>
            </a:r>
            <a:r>
              <a:rPr lang="en-IN" sz="2400" b="1" dirty="0" err="1"/>
              <a:t>atepeanut</a:t>
            </a:r>
            <a:endParaRPr lang="en-IN" sz="2400" b="1" dirty="0"/>
          </a:p>
          <a:p>
            <a:pPr marL="0" indent="0">
              <a:spcBef>
                <a:spcPts val="0"/>
              </a:spcBef>
              <a:buNone/>
            </a:pPr>
            <a:r>
              <a:rPr lang="en-IN" sz="2400" b="1" dirty="0"/>
              <a:t>    if (m != 0) or (p != 0):</a:t>
            </a:r>
          </a:p>
          <a:p>
            <a:pPr marL="0" indent="0">
              <a:spcBef>
                <a:spcPts val="0"/>
              </a:spcBef>
              <a:buNone/>
            </a:pPr>
            <a:r>
              <a:rPr lang="en-IN" sz="2400" b="1" dirty="0"/>
              <a:t>        n = n - 1</a:t>
            </a:r>
          </a:p>
          <a:p>
            <a:pPr marL="0" indent="0">
              <a:spcBef>
                <a:spcPts val="0"/>
              </a:spcBef>
              <a:buNone/>
            </a:pPr>
            <a:r>
              <a:rPr lang="en-IN" sz="2400" b="1" dirty="0"/>
              <a:t>    print(</a:t>
            </a:r>
            <a:r>
              <a:rPr lang="en-IN" sz="2400" b="1" dirty="0" err="1"/>
              <a:t>f"Number</a:t>
            </a:r>
            <a:r>
              <a:rPr lang="en-IN" sz="2400" b="1" dirty="0"/>
              <a:t> of Monkeys left on the Tree: {n}")</a:t>
            </a:r>
          </a:p>
          <a:p>
            <a:pPr marL="0" indent="0">
              <a:spcBef>
                <a:spcPts val="0"/>
              </a:spcBef>
              <a:buNone/>
            </a:pPr>
            <a:endParaRPr lang="en-IN" sz="2400" b="1" dirty="0"/>
          </a:p>
          <a:p>
            <a:pPr marL="0" indent="0">
              <a:spcBef>
                <a:spcPts val="0"/>
              </a:spcBef>
              <a:buNone/>
            </a:pPr>
            <a:r>
              <a:rPr lang="en-IN" sz="2400" b="1" dirty="0"/>
              <a:t>if __name__ == "__main__":</a:t>
            </a:r>
          </a:p>
          <a:p>
            <a:pPr marL="0" indent="0">
              <a:spcBef>
                <a:spcPts val="0"/>
              </a:spcBef>
              <a:buNone/>
            </a:pPr>
            <a:r>
              <a:rPr lang="en-IN" sz="2400" b="1" dirty="0"/>
              <a:t>    main()</a:t>
            </a:r>
            <a:endParaRPr lang="en-IN" sz="2400" dirty="0"/>
          </a:p>
        </p:txBody>
      </p:sp>
    </p:spTree>
    <p:extLst>
      <p:ext uri="{BB962C8B-B14F-4D97-AF65-F5344CB8AC3E}">
        <p14:creationId xmlns:p14="http://schemas.microsoft.com/office/powerpoint/2010/main" val="3833957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AAC4-DFD8-86D2-7AF4-92582CAD37DC}"/>
              </a:ext>
            </a:extLst>
          </p:cNvPr>
          <p:cNvSpPr>
            <a:spLocks noGrp="1"/>
          </p:cNvSpPr>
          <p:nvPr>
            <p:ph type="title"/>
          </p:nvPr>
        </p:nvSpPr>
        <p:spPr>
          <a:xfrm>
            <a:off x="838200" y="176981"/>
            <a:ext cx="10515600" cy="504057"/>
          </a:xfrm>
        </p:spPr>
        <p:txBody>
          <a:bodyPr>
            <a:normAutofit/>
          </a:bodyPr>
          <a:lstStyle/>
          <a:p>
            <a:r>
              <a:rPr lang="en-IN" sz="3000" b="1" kern="0" dirty="0">
                <a:solidFill>
                  <a:srgbClr val="FF0000"/>
                </a:solidFill>
                <a:effectLst/>
                <a:highlight>
                  <a:srgbClr val="FFFFFF"/>
                </a:highlight>
                <a:latin typeface="+mn-lt"/>
                <a:ea typeface="Times New Roman" panose="02020603050405020304" pitchFamily="18" charset="0"/>
                <a:cs typeface="Times New Roman" panose="02020603050405020304" pitchFamily="18" charset="0"/>
              </a:rPr>
              <a:t>Problem Statement 9</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D15D50A2-00F6-05C8-F178-2750ABD84891}"/>
              </a:ext>
            </a:extLst>
          </p:cNvPr>
          <p:cNvSpPr>
            <a:spLocks noGrp="1"/>
          </p:cNvSpPr>
          <p:nvPr>
            <p:ph idx="1"/>
          </p:nvPr>
        </p:nvSpPr>
        <p:spPr>
          <a:xfrm>
            <a:off x="838200" y="1002890"/>
            <a:ext cx="10515600" cy="5174073"/>
          </a:xfrm>
        </p:spPr>
        <p:txBody>
          <a:bodyPr>
            <a:normAutofit/>
          </a:bodyPr>
          <a:lstStyle/>
          <a:p>
            <a:pPr marL="0" indent="0" algn="just">
              <a:lnSpc>
                <a:spcPts val="2100"/>
              </a:lnSpc>
              <a:spcAft>
                <a:spcPts val="800"/>
              </a:spcAft>
              <a:buNone/>
            </a:pP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A doctor has a clinic where he serves his patients. The doctor’s consultation fees are different for different groups of patients depending on their age. If the patient’s age is below 17, fees is 200 INR. If the patient’s age is between 17 and 40, fees is 400 INR. If patient’s age is above 40, fees is 300 INR. Write a code to calculate earnings in a day for which one array/List of values representing age of patients visited on that day is passed as input.</a:t>
            </a:r>
          </a:p>
          <a:p>
            <a:pPr marL="0" indent="0">
              <a:lnSpc>
                <a:spcPts val="2100"/>
              </a:lnSpc>
              <a:spcAft>
                <a:spcPts val="800"/>
              </a:spcAft>
              <a:buNone/>
            </a:pP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Note:</a:t>
            </a:r>
            <a:endParaRPr lang="en-IN" sz="2400" b="1" kern="100" dirty="0">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Age should not be zero or less than zero or above 120</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Doctor consults a maximum of 20 patients a day</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lvl="0" indent="0">
              <a:lnSpc>
                <a:spcPct val="107000"/>
              </a:lnSpc>
              <a:spcAft>
                <a:spcPts val="800"/>
              </a:spcAft>
              <a:buSzPts val="1000"/>
              <a:buNone/>
              <a:tabLst>
                <a:tab pos="457200" algn="l"/>
              </a:tabLst>
            </a:pP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Enter age value (press Enter without a value to stop):</a:t>
            </a:r>
            <a:endParaRPr lang="en-IN" sz="2400" b="1" kern="100" dirty="0">
              <a:solidFill>
                <a:srgbClr val="343434"/>
              </a:solidFill>
              <a:effectLst/>
              <a:highlight>
                <a:srgbClr val="FFFFFF"/>
              </a:highlight>
              <a:ea typeface="Calibri" panose="020F0502020204030204" pitchFamily="34" charset="0"/>
              <a:cs typeface="Cordia New" panose="020B0304020202020204" pitchFamily="34" charset="-34"/>
            </a:endParaRPr>
          </a:p>
          <a:p>
            <a:pPr marL="0" indent="0">
              <a:buNone/>
            </a:pPr>
            <a:endParaRPr lang="en-IN" sz="2400" b="1" dirty="0"/>
          </a:p>
        </p:txBody>
      </p:sp>
    </p:spTree>
    <p:extLst>
      <p:ext uri="{BB962C8B-B14F-4D97-AF65-F5344CB8AC3E}">
        <p14:creationId xmlns:p14="http://schemas.microsoft.com/office/powerpoint/2010/main" val="4783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C1FA1-2D57-C483-5C32-3607ABCB5FBF}"/>
              </a:ext>
            </a:extLst>
          </p:cNvPr>
          <p:cNvSpPr>
            <a:spLocks noGrp="1"/>
          </p:cNvSpPr>
          <p:nvPr>
            <p:ph idx="1"/>
          </p:nvPr>
        </p:nvSpPr>
        <p:spPr>
          <a:xfrm>
            <a:off x="838200" y="511277"/>
            <a:ext cx="10515600" cy="5665686"/>
          </a:xfrm>
        </p:spPr>
        <p:txBody>
          <a:bodyPr>
            <a:normAutofit/>
          </a:bodyPr>
          <a:lstStyle/>
          <a:p>
            <a:pPr marL="0" indent="0">
              <a:buNone/>
            </a:pPr>
            <a:r>
              <a:rPr lang="en-IN" sz="2400" b="1" kern="0" dirty="0">
                <a:solidFill>
                  <a:srgbClr val="FF0000"/>
                </a:solidFill>
                <a:effectLst/>
                <a:highlight>
                  <a:srgbClr val="FFFFFF"/>
                </a:highlight>
                <a:ea typeface="Times New Roman" panose="02020603050405020304" pitchFamily="18" charset="0"/>
                <a:cs typeface="Times New Roman" panose="02020603050405020304" pitchFamily="18" charset="0"/>
              </a:rPr>
              <a:t>Example 1:</a:t>
            </a:r>
          </a:p>
          <a:p>
            <a:pPr marL="0" indent="0">
              <a:buNone/>
            </a:pP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Input</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20</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30</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40</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50</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2</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3</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14</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Output</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Total Income 2000 INR</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Note</a:t>
            </a: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 Input and Output Format should be same as given in the above example.</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For any wrong input display INVALID INPUT</a:t>
            </a:r>
            <a:b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t>Output Format</a:t>
            </a:r>
            <a:br>
              <a:rPr lang="en-IN" sz="2400" b="1" kern="0" dirty="0">
                <a:solidFill>
                  <a:srgbClr val="343434"/>
                </a:solidFill>
                <a:effectLst/>
                <a:highlight>
                  <a:srgbClr val="FFFFFF"/>
                </a:highlight>
                <a:ea typeface="Times New Roman" panose="02020603050405020304" pitchFamily="18" charset="0"/>
                <a:cs typeface="Times New Roman" panose="02020603050405020304" pitchFamily="18" charset="0"/>
              </a:rPr>
            </a:br>
            <a:r>
              <a:rPr lang="en-IN" sz="2400" kern="0" dirty="0">
                <a:solidFill>
                  <a:srgbClr val="343434"/>
                </a:solidFill>
                <a:effectLst/>
                <a:highlight>
                  <a:srgbClr val="FFFFFF"/>
                </a:highlight>
                <a:ea typeface="Times New Roman" panose="02020603050405020304" pitchFamily="18" charset="0"/>
                <a:cs typeface="Times New Roman" panose="02020603050405020304" pitchFamily="18" charset="0"/>
              </a:rPr>
              <a:t>Total Income 2100 INR</a:t>
            </a:r>
            <a:endParaRPr lang="en-IN" sz="2400" kern="100" dirty="0">
              <a:effectLst/>
              <a:highlight>
                <a:srgbClr val="FFFFFF"/>
              </a:highlight>
              <a:ea typeface="Calibri" panose="020F0502020204030204" pitchFamily="34" charset="0"/>
              <a:cs typeface="Cordia New" panose="020B0304020202020204" pitchFamily="34" charset="-34"/>
            </a:endParaRPr>
          </a:p>
          <a:p>
            <a:pPr marL="0" indent="0">
              <a:buNone/>
            </a:pPr>
            <a:endParaRPr lang="en-IN" sz="2400" dirty="0"/>
          </a:p>
        </p:txBody>
      </p:sp>
    </p:spTree>
    <p:extLst>
      <p:ext uri="{BB962C8B-B14F-4D97-AF65-F5344CB8AC3E}">
        <p14:creationId xmlns:p14="http://schemas.microsoft.com/office/powerpoint/2010/main" val="1637893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D50A2-00F6-05C8-F178-2750ABD84891}"/>
              </a:ext>
            </a:extLst>
          </p:cNvPr>
          <p:cNvSpPr>
            <a:spLocks noGrp="1"/>
          </p:cNvSpPr>
          <p:nvPr>
            <p:ph idx="1"/>
          </p:nvPr>
        </p:nvSpPr>
        <p:spPr>
          <a:xfrm>
            <a:off x="838200" y="344128"/>
            <a:ext cx="10515600" cy="6371303"/>
          </a:xfrm>
        </p:spPr>
        <p:txBody>
          <a:bodyPr>
            <a:noAutofit/>
          </a:bodyPr>
          <a:lstStyle/>
          <a:p>
            <a:pPr marL="0" indent="0">
              <a:spcBef>
                <a:spcPts val="0"/>
              </a:spcBef>
              <a:buNone/>
            </a:pPr>
            <a:r>
              <a:rPr lang="en-US" sz="2400" b="1" dirty="0"/>
              <a:t>age = []</a:t>
            </a:r>
          </a:p>
          <a:p>
            <a:pPr marL="0" indent="0">
              <a:spcBef>
                <a:spcPts val="0"/>
              </a:spcBef>
              <a:buNone/>
            </a:pPr>
            <a:r>
              <a:rPr lang="en-US" sz="2400" b="1" dirty="0"/>
              <a:t>for </a:t>
            </a:r>
            <a:r>
              <a:rPr lang="en-US" sz="2400" b="1" dirty="0" err="1"/>
              <a:t>i</a:t>
            </a:r>
            <a:r>
              <a:rPr lang="en-US" sz="2400" b="1" dirty="0"/>
              <a:t> in range(20):</a:t>
            </a:r>
          </a:p>
          <a:p>
            <a:pPr marL="0" indent="0">
              <a:spcBef>
                <a:spcPts val="0"/>
              </a:spcBef>
              <a:buNone/>
            </a:pPr>
            <a:r>
              <a:rPr lang="en-US" sz="2400" b="1" dirty="0"/>
              <a:t>    m = input()</a:t>
            </a:r>
          </a:p>
          <a:p>
            <a:pPr marL="0" indent="0">
              <a:spcBef>
                <a:spcPts val="0"/>
              </a:spcBef>
              <a:buNone/>
            </a:pPr>
            <a:r>
              <a:rPr lang="en-US" sz="2400" b="1" dirty="0"/>
              <a:t>    if m == "":</a:t>
            </a:r>
          </a:p>
          <a:p>
            <a:pPr marL="0" indent="0">
              <a:spcBef>
                <a:spcPts val="0"/>
              </a:spcBef>
              <a:buNone/>
            </a:pPr>
            <a:r>
              <a:rPr lang="en-US" sz="2400" b="1" dirty="0"/>
              <a:t>        break</a:t>
            </a:r>
          </a:p>
          <a:p>
            <a:pPr marL="0" indent="0">
              <a:spcBef>
                <a:spcPts val="0"/>
              </a:spcBef>
              <a:buNone/>
            </a:pPr>
            <a:r>
              <a:rPr lang="en-US" sz="2400" b="1" dirty="0"/>
              <a:t>    </a:t>
            </a:r>
            <a:r>
              <a:rPr lang="en-US" sz="2400" b="1" dirty="0" err="1"/>
              <a:t>elif</a:t>
            </a:r>
            <a:r>
              <a:rPr lang="en-US" sz="2400" b="1" dirty="0"/>
              <a:t> int(m) in range(0,120):</a:t>
            </a:r>
          </a:p>
          <a:p>
            <a:pPr marL="0" indent="0">
              <a:spcBef>
                <a:spcPts val="0"/>
              </a:spcBef>
              <a:buNone/>
            </a:pPr>
            <a:r>
              <a:rPr lang="en-US" sz="2400" b="1" dirty="0"/>
              <a:t>        </a:t>
            </a:r>
            <a:r>
              <a:rPr lang="en-US" sz="2400" b="1" dirty="0" err="1"/>
              <a:t>age.append</a:t>
            </a:r>
            <a:r>
              <a:rPr lang="en-US" sz="2400" b="1" dirty="0"/>
              <a:t>(int(m))</a:t>
            </a:r>
          </a:p>
          <a:p>
            <a:pPr marL="0" indent="0">
              <a:spcBef>
                <a:spcPts val="0"/>
              </a:spcBef>
              <a:buNone/>
            </a:pPr>
            <a:r>
              <a:rPr lang="en-US" sz="2400" b="1" dirty="0"/>
              <a:t>    else:</a:t>
            </a:r>
          </a:p>
          <a:p>
            <a:pPr marL="0" indent="0">
              <a:spcBef>
                <a:spcPts val="0"/>
              </a:spcBef>
              <a:buNone/>
            </a:pPr>
            <a:r>
              <a:rPr lang="en-US" sz="2400" b="1" dirty="0"/>
              <a:t>        print("INVALID INPUT")</a:t>
            </a:r>
          </a:p>
          <a:p>
            <a:pPr marL="0" indent="0">
              <a:spcBef>
                <a:spcPts val="0"/>
              </a:spcBef>
              <a:buNone/>
            </a:pPr>
            <a:r>
              <a:rPr lang="en-US" sz="2400" b="1" dirty="0"/>
              <a:t>        exit()</a:t>
            </a:r>
          </a:p>
          <a:p>
            <a:pPr marL="0" indent="0">
              <a:spcBef>
                <a:spcPts val="0"/>
              </a:spcBef>
              <a:buNone/>
            </a:pPr>
            <a:r>
              <a:rPr lang="en-US" sz="2400" b="1" dirty="0"/>
              <a:t>fees = 0</a:t>
            </a:r>
          </a:p>
          <a:p>
            <a:pPr marL="0" indent="0">
              <a:spcBef>
                <a:spcPts val="0"/>
              </a:spcBef>
              <a:buNone/>
            </a:pPr>
            <a:r>
              <a:rPr lang="en-US" sz="2400" b="1" dirty="0"/>
              <a:t>for </a:t>
            </a:r>
            <a:r>
              <a:rPr lang="en-US" sz="2400" b="1" dirty="0" err="1"/>
              <a:t>i</a:t>
            </a:r>
            <a:r>
              <a:rPr lang="en-US" sz="2400" b="1" dirty="0"/>
              <a:t> in age:</a:t>
            </a:r>
          </a:p>
          <a:p>
            <a:pPr marL="0" indent="0">
              <a:spcBef>
                <a:spcPts val="0"/>
              </a:spcBef>
              <a:buNone/>
            </a:pPr>
            <a:r>
              <a:rPr lang="en-US" sz="2400" b="1" dirty="0"/>
              <a:t>    if </a:t>
            </a:r>
            <a:r>
              <a:rPr lang="en-US" sz="2400" b="1" dirty="0" err="1"/>
              <a:t>i</a:t>
            </a:r>
            <a:r>
              <a:rPr lang="en-US" sz="2400" b="1" dirty="0"/>
              <a:t> &lt; 17:</a:t>
            </a:r>
          </a:p>
          <a:p>
            <a:pPr marL="0" indent="0">
              <a:spcBef>
                <a:spcPts val="0"/>
              </a:spcBef>
              <a:buNone/>
            </a:pPr>
            <a:r>
              <a:rPr lang="en-US" sz="2400" b="1" dirty="0"/>
              <a:t>        fees+=200</a:t>
            </a:r>
          </a:p>
          <a:p>
            <a:pPr marL="0" indent="0">
              <a:spcBef>
                <a:spcPts val="0"/>
              </a:spcBef>
              <a:buNone/>
            </a:pPr>
            <a:r>
              <a:rPr lang="en-US" sz="2400" b="1" dirty="0"/>
              <a:t>    </a:t>
            </a:r>
            <a:r>
              <a:rPr lang="en-US" sz="2400" b="1" dirty="0" err="1"/>
              <a:t>elif</a:t>
            </a:r>
            <a:r>
              <a:rPr lang="en-US" sz="2400" b="1" dirty="0"/>
              <a:t> </a:t>
            </a:r>
            <a:r>
              <a:rPr lang="en-US" sz="2400" b="1" dirty="0" err="1"/>
              <a:t>i</a:t>
            </a:r>
            <a:r>
              <a:rPr lang="en-US" sz="2400" b="1" dirty="0"/>
              <a:t> &lt;40:</a:t>
            </a:r>
          </a:p>
          <a:p>
            <a:pPr marL="0" indent="0">
              <a:spcBef>
                <a:spcPts val="0"/>
              </a:spcBef>
              <a:buNone/>
            </a:pPr>
            <a:r>
              <a:rPr lang="en-US" sz="2400" b="1" dirty="0"/>
              <a:t>        fees+=400</a:t>
            </a:r>
          </a:p>
          <a:p>
            <a:pPr marL="0" indent="0">
              <a:spcBef>
                <a:spcPts val="0"/>
              </a:spcBef>
              <a:buNone/>
            </a:pPr>
            <a:r>
              <a:rPr lang="en-US" sz="2400" b="1" dirty="0"/>
              <a:t>    else:</a:t>
            </a:r>
          </a:p>
          <a:p>
            <a:pPr marL="0" indent="0">
              <a:spcBef>
                <a:spcPts val="0"/>
              </a:spcBef>
              <a:buNone/>
            </a:pPr>
            <a:r>
              <a:rPr lang="en-US" sz="2400" b="1" dirty="0"/>
              <a:t>        fees+=300</a:t>
            </a:r>
          </a:p>
          <a:p>
            <a:pPr marL="0" indent="0">
              <a:spcBef>
                <a:spcPts val="0"/>
              </a:spcBef>
              <a:buNone/>
            </a:pPr>
            <a:r>
              <a:rPr lang="en-US" sz="2400" b="1" dirty="0"/>
              <a:t>print("Total Income {} </a:t>
            </a:r>
            <a:r>
              <a:rPr lang="en-US" sz="2400" b="1" dirty="0" err="1"/>
              <a:t>INR".format</a:t>
            </a:r>
            <a:r>
              <a:rPr lang="en-US" sz="2400" b="1" dirty="0"/>
              <a:t>(fees))</a:t>
            </a:r>
          </a:p>
          <a:p>
            <a:pPr marL="0" indent="0">
              <a:spcBef>
                <a:spcPts val="0"/>
              </a:spcBef>
              <a:buNone/>
            </a:pPr>
            <a:endParaRPr lang="en-IN" sz="2400" b="1" dirty="0"/>
          </a:p>
        </p:txBody>
      </p:sp>
    </p:spTree>
    <p:extLst>
      <p:ext uri="{BB962C8B-B14F-4D97-AF65-F5344CB8AC3E}">
        <p14:creationId xmlns:p14="http://schemas.microsoft.com/office/powerpoint/2010/main" val="1859752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3652</Words>
  <Application>Microsoft Office PowerPoint</Application>
  <PresentationFormat>Widescreen</PresentationFormat>
  <Paragraphs>279</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Calibri Light</vt:lpstr>
      <vt:lpstr>roboto</vt:lpstr>
      <vt:lpstr>roboto</vt:lpstr>
      <vt:lpstr>Symbol</vt:lpstr>
      <vt:lpstr>Times New Roman</vt:lpstr>
      <vt:lpstr>Wingdings</vt:lpstr>
      <vt:lpstr>Office Theme</vt:lpstr>
      <vt:lpstr>Problem Statement 1: K-th largest factor of N</vt:lpstr>
      <vt:lpstr>PowerPoint Presentation</vt:lpstr>
      <vt:lpstr>PowerPoint Presentation</vt:lpstr>
      <vt:lpstr>Problem Statement 2: Square Free Numbers</vt:lpstr>
      <vt:lpstr>PowerPoint Presentation</vt:lpstr>
      <vt:lpstr>PowerPoint Presentation</vt:lpstr>
      <vt:lpstr>PowerPoint Presentation</vt:lpstr>
      <vt:lpstr>Problem Statement 3</vt:lpstr>
      <vt:lpstr>PowerPoint Presentation</vt:lpstr>
      <vt:lpstr>PowerPoint Presentation</vt:lpstr>
      <vt:lpstr>Problem Statement 4</vt:lpstr>
      <vt:lpstr>PowerPoint Presentation</vt:lpstr>
      <vt:lpstr>PowerPoint Presentation</vt:lpstr>
      <vt:lpstr>PowerPoint Presentation</vt:lpstr>
      <vt:lpstr>Problem Statement 5</vt:lpstr>
      <vt:lpstr>PowerPoint Presentation</vt:lpstr>
      <vt:lpstr>PowerPoint Presentation</vt:lpstr>
      <vt:lpstr>PowerPoint Presentation</vt:lpstr>
      <vt:lpstr>PowerPoint Presentation</vt:lpstr>
      <vt:lpstr>Problem Statement 6</vt:lpstr>
      <vt:lpstr>PowerPoint Presentation</vt:lpstr>
      <vt:lpstr>PowerPoint Presentation</vt:lpstr>
      <vt:lpstr>Problem Statement 7</vt:lpstr>
      <vt:lpstr>PowerPoint Presentation</vt:lpstr>
      <vt:lpstr>PowerPoint Presentation</vt:lpstr>
      <vt:lpstr>PowerPoint Presentation</vt:lpstr>
      <vt:lpstr>PowerPoint Presentation</vt:lpstr>
      <vt:lpstr>Problem Statement 8</vt:lpstr>
      <vt:lpstr>PowerPoint Presentation</vt:lpstr>
      <vt:lpstr>PowerPoint Presentation</vt:lpstr>
      <vt:lpstr>PowerPoint Presentation</vt:lpstr>
      <vt:lpstr>PowerPoint Presentation</vt:lpstr>
      <vt:lpstr>Problem Statement 9</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penchala swamy</dc:creator>
  <cp:lastModifiedBy>penchala swamy</cp:lastModifiedBy>
  <cp:revision>64</cp:revision>
  <dcterms:created xsi:type="dcterms:W3CDTF">2024-04-05T12:35:52Z</dcterms:created>
  <dcterms:modified xsi:type="dcterms:W3CDTF">2024-04-06T15:09:20Z</dcterms:modified>
</cp:coreProperties>
</file>