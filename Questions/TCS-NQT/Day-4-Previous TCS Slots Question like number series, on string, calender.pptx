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304" r:id="rId17"/>
    <p:sldId id="272" r:id="rId18"/>
    <p:sldId id="273" r:id="rId19"/>
    <p:sldId id="274" r:id="rId20"/>
    <p:sldId id="305" r:id="rId21"/>
    <p:sldId id="275" r:id="rId22"/>
    <p:sldId id="277" r:id="rId23"/>
    <p:sldId id="278" r:id="rId24"/>
    <p:sldId id="279" r:id="rId25"/>
    <p:sldId id="280" r:id="rId26"/>
    <p:sldId id="281" r:id="rId27"/>
    <p:sldId id="282"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69E2E-09FF-9BD8-3DA8-3E0D6DA3D7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BCD980-C006-C4E1-0D59-3804BCF71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AAE310-6AF7-BF6B-28CD-73F40B15AA68}"/>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5" name="Footer Placeholder 4">
            <a:extLst>
              <a:ext uri="{FF2B5EF4-FFF2-40B4-BE49-F238E27FC236}">
                <a16:creationId xmlns:a16="http://schemas.microsoft.com/office/drawing/2014/main" id="{D4BDD9E7-E139-56E2-BCA0-95470C71BC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6D31B1-F031-336F-E007-DE7B3DEB2047}"/>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879200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F853-FD75-1142-2315-EDD7E8DC96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ABD697-A914-AD64-7674-131DCB8FD6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5313F3-E553-0A13-BE0D-924538642082}"/>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5" name="Footer Placeholder 4">
            <a:extLst>
              <a:ext uri="{FF2B5EF4-FFF2-40B4-BE49-F238E27FC236}">
                <a16:creationId xmlns:a16="http://schemas.microsoft.com/office/drawing/2014/main" id="{7B824C92-5939-C288-8AB6-6238791005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D724DE-7C0B-B88A-1C0C-27333DD8E987}"/>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2378796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B1AC2-707C-B7BE-28C4-940930B8E0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CDA779-1BBE-9064-3880-D4B04617B3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8BC3F8-1D58-9FAA-94DE-FFA34D6ECF38}"/>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5" name="Footer Placeholder 4">
            <a:extLst>
              <a:ext uri="{FF2B5EF4-FFF2-40B4-BE49-F238E27FC236}">
                <a16:creationId xmlns:a16="http://schemas.microsoft.com/office/drawing/2014/main" id="{135DAE8C-708C-D657-1675-AFB9B4F64F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9D9EDC-F4D0-50E1-9A71-5AF53FBB7F42}"/>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1116990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704F2-F294-0FF6-B06E-BD4538C31A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895F72-46A5-C5F8-4874-CD2DBB2A5B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B37415-B881-955F-A505-515DC54781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48BCAB-18F8-C26E-7AF0-E403F82F2B59}"/>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6" name="Footer Placeholder 5">
            <a:extLst>
              <a:ext uri="{FF2B5EF4-FFF2-40B4-BE49-F238E27FC236}">
                <a16:creationId xmlns:a16="http://schemas.microsoft.com/office/drawing/2014/main" id="{6ADD6F47-E818-163F-E9D1-D545E4E9C7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95169C-4EDC-9342-6E9B-73E1C61BF8E5}"/>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871413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EC3C5-DC86-E871-5ACB-1ED89018D7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D20182-2F1C-D878-B64F-446BF52E0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36B36E-E7DD-23E8-729E-7B2AFE7EA1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868286-9522-4C69-85A7-3DB8BD0DFA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143951-2418-CD3A-0391-1C1F4EEDA5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6955AC-BBC3-0726-691A-2C9C8F3B4878}"/>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8" name="Footer Placeholder 7">
            <a:extLst>
              <a:ext uri="{FF2B5EF4-FFF2-40B4-BE49-F238E27FC236}">
                <a16:creationId xmlns:a16="http://schemas.microsoft.com/office/drawing/2014/main" id="{1F2E9E02-6848-234F-89CE-07BAF94131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0835E1-9D27-A1E2-2939-A04ABBAC842B}"/>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3282448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7013A-7E26-C698-8B09-6D90126C9C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CFEC00-D904-BF5B-A1CA-09A396AE1D34}"/>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4" name="Footer Placeholder 3">
            <a:extLst>
              <a:ext uri="{FF2B5EF4-FFF2-40B4-BE49-F238E27FC236}">
                <a16:creationId xmlns:a16="http://schemas.microsoft.com/office/drawing/2014/main" id="{3224C5B0-8430-2CBB-094E-5669D211A5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416AD4-F9A3-960A-02AD-2469B45E3C15}"/>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2839941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5B70F9-9845-AFD3-3FDB-F406FBADB19F}"/>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3" name="Footer Placeholder 2">
            <a:extLst>
              <a:ext uri="{FF2B5EF4-FFF2-40B4-BE49-F238E27FC236}">
                <a16:creationId xmlns:a16="http://schemas.microsoft.com/office/drawing/2014/main" id="{31863728-B9D2-81F3-EADF-F49B58BB0C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E733A5-6477-FDF3-7557-B2B9C704D73E}"/>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80779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F7A5-18D2-018A-D662-BDBF237029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32A314-F15A-2A76-F0BE-A52416FF92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A382A2-9547-73C5-E549-2B3E4A9E2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55868A-C98C-312C-A564-BBED2159670E}"/>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6" name="Footer Placeholder 5">
            <a:extLst>
              <a:ext uri="{FF2B5EF4-FFF2-40B4-BE49-F238E27FC236}">
                <a16:creationId xmlns:a16="http://schemas.microsoft.com/office/drawing/2014/main" id="{7812F3D0-4AC1-86C0-5505-28B9BBCD50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DBBD64-46C7-9765-0C49-D89D69FD41D8}"/>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2127548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13DCA-BAC3-38BD-E633-1DEAFB44D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456796-13EE-06A9-35D1-492BFCF1F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AD3927-5FEA-8147-4F2B-703EEE38E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46CD6A-3340-DE97-EA51-D0C953A348AD}"/>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6" name="Footer Placeholder 5">
            <a:extLst>
              <a:ext uri="{FF2B5EF4-FFF2-40B4-BE49-F238E27FC236}">
                <a16:creationId xmlns:a16="http://schemas.microsoft.com/office/drawing/2014/main" id="{8BBF061C-198B-F820-CB8E-64E589739C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CA4B76-A173-7417-F77D-27D6D333305A}"/>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193498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CB4-4329-FD10-87AF-146F82AD10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0DAC7B-B8DD-D327-F347-BD8833A61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9F534-3BBE-A25B-25A2-604A28A82D83}"/>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5" name="Footer Placeholder 4">
            <a:extLst>
              <a:ext uri="{FF2B5EF4-FFF2-40B4-BE49-F238E27FC236}">
                <a16:creationId xmlns:a16="http://schemas.microsoft.com/office/drawing/2014/main" id="{907D29B8-181C-C8E8-C08C-2187C86C46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0FC57F-C844-8D51-C6DC-CE7DADFE005D}"/>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2545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10F48F-37BD-EFCA-567C-864A062F70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6032BA-7C8B-4CF9-ABB9-5991C9D698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FDAB9B-808A-F99A-DC87-86879D047FC7}"/>
              </a:ext>
            </a:extLst>
          </p:cNvPr>
          <p:cNvSpPr>
            <a:spLocks noGrp="1"/>
          </p:cNvSpPr>
          <p:nvPr>
            <p:ph type="dt" sz="half" idx="10"/>
          </p:nvPr>
        </p:nvSpPr>
        <p:spPr/>
        <p:txBody>
          <a:bodyPr/>
          <a:lstStyle/>
          <a:p>
            <a:fld id="{81D5BB18-58AC-4CB9-870C-86EB672BF01A}" type="datetimeFigureOut">
              <a:rPr lang="en-IN" smtClean="0"/>
              <a:t>10-04-2024</a:t>
            </a:fld>
            <a:endParaRPr lang="en-IN"/>
          </a:p>
        </p:txBody>
      </p:sp>
      <p:sp>
        <p:nvSpPr>
          <p:cNvPr id="5" name="Footer Placeholder 4">
            <a:extLst>
              <a:ext uri="{FF2B5EF4-FFF2-40B4-BE49-F238E27FC236}">
                <a16:creationId xmlns:a16="http://schemas.microsoft.com/office/drawing/2014/main" id="{BE8F6E39-D738-0F6E-49D2-E8DC2DFDDD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8EB7D8-641A-E114-8A50-CC4F7A64E72B}"/>
              </a:ext>
            </a:extLst>
          </p:cNvPr>
          <p:cNvSpPr>
            <a:spLocks noGrp="1"/>
          </p:cNvSpPr>
          <p:nvPr>
            <p:ph type="sldNum" sz="quarter" idx="12"/>
          </p:nvPr>
        </p:nvSpPr>
        <p:spPr/>
        <p:txBody>
          <a:bodyPr/>
          <a:lstStyle/>
          <a:p>
            <a:fld id="{55D840A7-3CEB-41B1-8E15-28D2E6989751}" type="slidenum">
              <a:rPr lang="en-IN" smtClean="0"/>
              <a:t>‹#›</a:t>
            </a:fld>
            <a:endParaRPr lang="en-IN"/>
          </a:p>
        </p:txBody>
      </p:sp>
    </p:spTree>
    <p:extLst>
      <p:ext uri="{BB962C8B-B14F-4D97-AF65-F5344CB8AC3E}">
        <p14:creationId xmlns:p14="http://schemas.microsoft.com/office/powerpoint/2010/main" val="407642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9276E-8E66-C92E-291A-ACB9EE3C87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5F1CC7-D605-07D3-496B-3B4A9FAD95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ED1852-A9C7-8556-5867-767A69745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5BB18-58AC-4CB9-870C-86EB672BF01A}" type="datetimeFigureOut">
              <a:rPr lang="en-IN" smtClean="0"/>
              <a:t>10-04-2024</a:t>
            </a:fld>
            <a:endParaRPr lang="en-IN"/>
          </a:p>
        </p:txBody>
      </p:sp>
      <p:sp>
        <p:nvSpPr>
          <p:cNvPr id="5" name="Footer Placeholder 4">
            <a:extLst>
              <a:ext uri="{FF2B5EF4-FFF2-40B4-BE49-F238E27FC236}">
                <a16:creationId xmlns:a16="http://schemas.microsoft.com/office/drawing/2014/main" id="{16D107C3-110E-F098-9481-4FC2FB8BB8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D6986C9-57EE-CB65-1363-7EB3273522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D840A7-3CEB-41B1-8E15-28D2E6989751}" type="slidenum">
              <a:rPr lang="en-IN" smtClean="0"/>
              <a:t>‹#›</a:t>
            </a:fld>
            <a:endParaRPr lang="en-IN"/>
          </a:p>
        </p:txBody>
      </p:sp>
    </p:spTree>
    <p:extLst>
      <p:ext uri="{BB962C8B-B14F-4D97-AF65-F5344CB8AC3E}">
        <p14:creationId xmlns:p14="http://schemas.microsoft.com/office/powerpoint/2010/main" val="3289086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0AD21-296C-8EC7-0A7D-EB25F405F3D4}"/>
              </a:ext>
            </a:extLst>
          </p:cNvPr>
          <p:cNvSpPr>
            <a:spLocks noGrp="1"/>
          </p:cNvSpPr>
          <p:nvPr>
            <p:ph type="title"/>
          </p:nvPr>
        </p:nvSpPr>
        <p:spPr>
          <a:xfrm>
            <a:off x="838200" y="66676"/>
            <a:ext cx="10515600" cy="614362"/>
          </a:xfrm>
        </p:spPr>
        <p:txBody>
          <a:bodyPr>
            <a:normAutofit/>
          </a:bodyPr>
          <a:lstStyle/>
          <a:p>
            <a:r>
              <a:rPr lang="en-US" sz="3000" b="1" dirty="0">
                <a:solidFill>
                  <a:srgbClr val="FF0000"/>
                </a:solidFill>
                <a:latin typeface="+mn-lt"/>
              </a:rPr>
              <a:t>Problem Statement 1</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68B77BD3-8545-B167-88FD-272D1BAAF7B5}"/>
              </a:ext>
            </a:extLst>
          </p:cNvPr>
          <p:cNvSpPr>
            <a:spLocks noGrp="1"/>
          </p:cNvSpPr>
          <p:nvPr>
            <p:ph idx="1"/>
          </p:nvPr>
        </p:nvSpPr>
        <p:spPr>
          <a:xfrm>
            <a:off x="838200" y="790575"/>
            <a:ext cx="10515600" cy="5715000"/>
          </a:xfrm>
        </p:spPr>
        <p:txBody>
          <a:bodyPr>
            <a:noAutofit/>
          </a:bodyPr>
          <a:lstStyle/>
          <a:p>
            <a:pPr algn="just">
              <a:spcBef>
                <a:spcPts val="0"/>
              </a:spcBef>
              <a:buFont typeface="Wingdings" panose="05000000000000000000" pitchFamily="2" charset="2"/>
              <a:buChar char="Ø"/>
            </a:pPr>
            <a:r>
              <a:rPr lang="en-US" sz="2600" b="0" i="0" dirty="0">
                <a:solidFill>
                  <a:srgbClr val="343434"/>
                </a:solidFill>
                <a:effectLst/>
                <a:highlight>
                  <a:srgbClr val="FFFFFF"/>
                </a:highlight>
              </a:rPr>
              <a:t>In this 3 Palindrome, Given an input string word, split the string into exactly 3 palindromic substrings. Working from left to right, choose the smallest split for the first substring that still allows the remaining word to be split into 2 palindromes.</a:t>
            </a:r>
          </a:p>
          <a:p>
            <a:pPr algn="just">
              <a:spcBef>
                <a:spcPts val="0"/>
              </a:spcBef>
              <a:buFont typeface="Wingdings" panose="05000000000000000000" pitchFamily="2" charset="2"/>
              <a:buChar char="Ø"/>
            </a:pPr>
            <a:r>
              <a:rPr lang="en-US" sz="2600" b="0" i="0" dirty="0">
                <a:solidFill>
                  <a:srgbClr val="343434"/>
                </a:solidFill>
                <a:effectLst/>
                <a:highlight>
                  <a:srgbClr val="FFFFFF"/>
                </a:highlight>
              </a:rPr>
              <a:t>Similarly, choose the smallest second palindromic substring that leaves a third palindromic substring.</a:t>
            </a:r>
          </a:p>
          <a:p>
            <a:pPr algn="just">
              <a:spcBef>
                <a:spcPts val="0"/>
              </a:spcBef>
              <a:buFont typeface="Wingdings" panose="05000000000000000000" pitchFamily="2" charset="2"/>
              <a:buChar char="Ø"/>
            </a:pPr>
            <a:r>
              <a:rPr lang="en-US" sz="2600" b="0" i="0" dirty="0">
                <a:solidFill>
                  <a:srgbClr val="343434"/>
                </a:solidFill>
                <a:effectLst/>
                <a:highlight>
                  <a:srgbClr val="FFFFFF"/>
                </a:highlight>
              </a:rPr>
              <a:t>If there is no way to split the word into exactly three palindromic substrings, print “Impossible” (without quotes). Every character of the string needs to be consumed.</a:t>
            </a:r>
          </a:p>
          <a:p>
            <a:pPr marL="0" indent="0" algn="just">
              <a:spcBef>
                <a:spcPts val="0"/>
              </a:spcBef>
              <a:buNone/>
            </a:pPr>
            <a:r>
              <a:rPr lang="en-US" sz="2600" b="1" i="0" dirty="0">
                <a:solidFill>
                  <a:srgbClr val="343434"/>
                </a:solidFill>
                <a:effectLst/>
                <a:highlight>
                  <a:srgbClr val="FFFFFF"/>
                </a:highlight>
              </a:rPr>
              <a:t>Cases not allowed </a:t>
            </a:r>
          </a:p>
          <a:p>
            <a:pPr algn="just">
              <a:spcBef>
                <a:spcPts val="0"/>
              </a:spcBef>
              <a:buFont typeface="Wingdings" panose="05000000000000000000" pitchFamily="2" charset="2"/>
              <a:buChar char="Ø"/>
            </a:pPr>
            <a:r>
              <a:rPr lang="en-US" sz="2600" b="0" i="0" dirty="0">
                <a:solidFill>
                  <a:srgbClr val="343434"/>
                </a:solidFill>
                <a:effectLst/>
                <a:highlight>
                  <a:srgbClr val="FFFFFF"/>
                </a:highlight>
              </a:rPr>
              <a:t>After finding 3 palindromes using above instructions, if any character of the original string remains unconsumed.</a:t>
            </a:r>
          </a:p>
          <a:p>
            <a:pPr algn="just">
              <a:spcBef>
                <a:spcPts val="0"/>
              </a:spcBef>
              <a:buFont typeface="Wingdings" panose="05000000000000000000" pitchFamily="2" charset="2"/>
              <a:buChar char="Ø"/>
            </a:pPr>
            <a:r>
              <a:rPr lang="en-US" sz="2600" b="0" i="0" dirty="0">
                <a:solidFill>
                  <a:srgbClr val="343434"/>
                </a:solidFill>
                <a:effectLst/>
                <a:highlight>
                  <a:srgbClr val="FFFFFF"/>
                </a:highlight>
              </a:rPr>
              <a:t>No character may be shared in forming 3 palindromes.</a:t>
            </a:r>
          </a:p>
          <a:p>
            <a:pPr algn="just">
              <a:spcBef>
                <a:spcPts val="0"/>
              </a:spcBef>
              <a:buFont typeface="Wingdings" panose="05000000000000000000" pitchFamily="2" charset="2"/>
              <a:buChar char="Ø"/>
            </a:pPr>
            <a:r>
              <a:rPr lang="en-US" sz="2600" b="1" i="0" dirty="0">
                <a:solidFill>
                  <a:srgbClr val="343434"/>
                </a:solidFill>
                <a:effectLst/>
                <a:highlight>
                  <a:srgbClr val="FFFFFF"/>
                </a:highlight>
              </a:rPr>
              <a:t>Constraints</a:t>
            </a:r>
            <a:endParaRPr lang="en-US" sz="2600" b="0" i="0" dirty="0">
              <a:solidFill>
                <a:srgbClr val="343434"/>
              </a:solidFill>
              <a:effectLst/>
              <a:highlight>
                <a:srgbClr val="FFFFFF"/>
              </a:highlight>
            </a:endParaRPr>
          </a:p>
          <a:p>
            <a:pPr algn="just">
              <a:spcBef>
                <a:spcPts val="0"/>
              </a:spcBef>
              <a:buFont typeface="Wingdings" panose="05000000000000000000" pitchFamily="2" charset="2"/>
              <a:buChar char="Ø"/>
            </a:pPr>
            <a:r>
              <a:rPr lang="en-US" sz="2600" b="0" i="0" dirty="0">
                <a:solidFill>
                  <a:srgbClr val="343434"/>
                </a:solidFill>
                <a:effectLst/>
                <a:highlight>
                  <a:srgbClr val="FFFFFF"/>
                </a:highlight>
              </a:rPr>
              <a:t>1 &lt;= the length of input sting &lt;= 1000</a:t>
            </a:r>
          </a:p>
          <a:p>
            <a:pPr algn="just">
              <a:spcBef>
                <a:spcPts val="0"/>
              </a:spcBef>
              <a:buFont typeface="Wingdings" panose="05000000000000000000" pitchFamily="2" charset="2"/>
              <a:buChar char="Ø"/>
            </a:pPr>
            <a:endParaRPr lang="en-IN" sz="2600" dirty="0"/>
          </a:p>
        </p:txBody>
      </p:sp>
    </p:spTree>
    <p:extLst>
      <p:ext uri="{BB962C8B-B14F-4D97-AF65-F5344CB8AC3E}">
        <p14:creationId xmlns:p14="http://schemas.microsoft.com/office/powerpoint/2010/main" val="509528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D41801-FA4A-0A7A-C2CB-70A4B6A8F638}"/>
              </a:ext>
            </a:extLst>
          </p:cNvPr>
          <p:cNvSpPr>
            <a:spLocks noGrp="1"/>
          </p:cNvSpPr>
          <p:nvPr>
            <p:ph idx="1"/>
          </p:nvPr>
        </p:nvSpPr>
        <p:spPr>
          <a:xfrm>
            <a:off x="838200" y="942975"/>
            <a:ext cx="10515600" cy="5233988"/>
          </a:xfrm>
        </p:spPr>
        <p:txBody>
          <a:bodyPr>
            <a:normAutofit/>
          </a:bodyPr>
          <a:lstStyle/>
          <a:p>
            <a:pPr marL="0" indent="0" algn="l">
              <a:buNone/>
            </a:pPr>
            <a:r>
              <a:rPr lang="en-US" sz="2600" b="1" i="0" dirty="0">
                <a:solidFill>
                  <a:srgbClr val="343434"/>
                </a:solidFill>
                <a:effectLst/>
                <a:highlight>
                  <a:srgbClr val="FFFFFF"/>
                </a:highlight>
              </a:rPr>
              <a:t>Input</a:t>
            </a:r>
            <a:endParaRPr lang="en-US" sz="2600" b="0" i="0" dirty="0">
              <a:solidFill>
                <a:srgbClr val="343434"/>
              </a:solidFill>
              <a:effectLst/>
              <a:highlight>
                <a:srgbClr val="FFFFFF"/>
              </a:highlight>
            </a:endParaRPr>
          </a:p>
          <a:p>
            <a:pPr algn="l">
              <a:buFont typeface="Arial" panose="020B0604020202020204" pitchFamily="34" charset="0"/>
              <a:buChar char="•"/>
            </a:pPr>
            <a:r>
              <a:rPr lang="en-US" sz="2600" b="0" i="0" dirty="0">
                <a:solidFill>
                  <a:srgbClr val="343434"/>
                </a:solidFill>
                <a:effectLst/>
                <a:highlight>
                  <a:srgbClr val="FFFFFF"/>
                </a:highlight>
              </a:rPr>
              <a:t>First line contains the input string consisting of characters between [a-z].</a:t>
            </a:r>
          </a:p>
          <a:p>
            <a:pPr marL="0" indent="0" algn="l">
              <a:buNone/>
            </a:pPr>
            <a:r>
              <a:rPr lang="en-US" sz="2600" b="1" i="0" dirty="0">
                <a:solidFill>
                  <a:srgbClr val="343434"/>
                </a:solidFill>
                <a:effectLst/>
                <a:highlight>
                  <a:srgbClr val="FFFFFF"/>
                </a:highlight>
              </a:rPr>
              <a:t>Output</a:t>
            </a:r>
            <a:endParaRPr lang="en-US" sz="2600" b="0" i="0" dirty="0">
              <a:solidFill>
                <a:srgbClr val="343434"/>
              </a:solidFill>
              <a:effectLst/>
              <a:highlight>
                <a:srgbClr val="FFFFFF"/>
              </a:highlight>
            </a:endParaRPr>
          </a:p>
          <a:p>
            <a:pPr algn="l">
              <a:buFont typeface="Arial" panose="020B0604020202020204" pitchFamily="34" charset="0"/>
              <a:buChar char="•"/>
            </a:pPr>
            <a:r>
              <a:rPr lang="en-US" sz="2600" b="0" i="0" dirty="0">
                <a:solidFill>
                  <a:srgbClr val="343434"/>
                </a:solidFill>
                <a:effectLst/>
                <a:highlight>
                  <a:srgbClr val="FFFFFF"/>
                </a:highlight>
              </a:rPr>
              <a:t>Print 3 substrings one on each line.</a:t>
            </a:r>
          </a:p>
        </p:txBody>
      </p:sp>
    </p:spTree>
    <p:extLst>
      <p:ext uri="{BB962C8B-B14F-4D97-AF65-F5344CB8AC3E}">
        <p14:creationId xmlns:p14="http://schemas.microsoft.com/office/powerpoint/2010/main" val="3777253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382F3F-5B21-0AE1-0FFF-1AC9E9469551}"/>
              </a:ext>
            </a:extLst>
          </p:cNvPr>
          <p:cNvSpPr>
            <a:spLocks noGrp="1"/>
          </p:cNvSpPr>
          <p:nvPr>
            <p:ph idx="1"/>
          </p:nvPr>
        </p:nvSpPr>
        <p:spPr>
          <a:xfrm>
            <a:off x="995516" y="588168"/>
            <a:ext cx="10515600" cy="5681663"/>
          </a:xfrm>
        </p:spPr>
        <p:txBody>
          <a:bodyPr>
            <a:normAutofit/>
          </a:bodyPr>
          <a:lstStyle/>
          <a:p>
            <a:pPr marL="0" indent="0" algn="l">
              <a:buNone/>
            </a:pPr>
            <a:r>
              <a:rPr lang="en-US" sz="2600" b="1" i="0" dirty="0">
                <a:solidFill>
                  <a:srgbClr val="FF0000"/>
                </a:solidFill>
                <a:effectLst/>
                <a:highlight>
                  <a:srgbClr val="FFFFFF"/>
                </a:highlight>
              </a:rPr>
              <a:t>Example 1</a:t>
            </a:r>
            <a:endParaRPr lang="en-US" sz="2600" b="0" i="0" dirty="0">
              <a:solidFill>
                <a:srgbClr val="FF0000"/>
              </a:solidFill>
              <a:effectLst/>
              <a:highlight>
                <a:srgbClr val="FFFFFF"/>
              </a:highlight>
            </a:endParaRPr>
          </a:p>
          <a:p>
            <a:pPr marL="0" indent="0" algn="l">
              <a:buNone/>
            </a:pPr>
            <a:r>
              <a:rPr lang="en-US" sz="2600" b="1" i="0" dirty="0">
                <a:solidFill>
                  <a:srgbClr val="343434"/>
                </a:solidFill>
                <a:effectLst/>
                <a:highlight>
                  <a:srgbClr val="FFFFFF"/>
                </a:highlight>
              </a:rPr>
              <a:t>Input</a:t>
            </a:r>
            <a:endParaRPr lang="en-US" sz="2600" b="0" i="0" dirty="0">
              <a:solidFill>
                <a:srgbClr val="343434"/>
              </a:solidFill>
              <a:effectLst/>
              <a:highlight>
                <a:srgbClr val="FFFFFF"/>
              </a:highlight>
            </a:endParaRPr>
          </a:p>
          <a:p>
            <a:pPr marL="0" indent="0" algn="l">
              <a:buNone/>
            </a:pPr>
            <a:r>
              <a:rPr lang="en-US" sz="2600" b="0" i="0" dirty="0" err="1">
                <a:solidFill>
                  <a:srgbClr val="343434"/>
                </a:solidFill>
                <a:effectLst/>
                <a:highlight>
                  <a:srgbClr val="FFFFFF"/>
                </a:highlight>
              </a:rPr>
              <a:t>nayannamantenet</a:t>
            </a:r>
            <a:endParaRPr lang="en-US" sz="2600" b="0" i="0" dirty="0">
              <a:solidFill>
                <a:srgbClr val="343434"/>
              </a:solidFill>
              <a:effectLst/>
              <a:highlight>
                <a:srgbClr val="FFFFFF"/>
              </a:highlight>
            </a:endParaRPr>
          </a:p>
          <a:p>
            <a:pPr marL="0" indent="0" algn="l">
              <a:buNone/>
            </a:pPr>
            <a:r>
              <a:rPr lang="en-US" sz="2600" b="1" i="0" dirty="0">
                <a:solidFill>
                  <a:srgbClr val="343434"/>
                </a:solidFill>
                <a:effectLst/>
                <a:highlight>
                  <a:srgbClr val="FFFFFF"/>
                </a:highlight>
              </a:rPr>
              <a:t>Output</a:t>
            </a:r>
            <a:endParaRPr lang="en-US" sz="2600" b="0" i="0" dirty="0">
              <a:solidFill>
                <a:srgbClr val="343434"/>
              </a:solidFill>
              <a:effectLst/>
              <a:highlight>
                <a:srgbClr val="FFFFFF"/>
              </a:highlight>
            </a:endParaRPr>
          </a:p>
          <a:p>
            <a:pPr marL="0" indent="0" algn="l">
              <a:buNone/>
            </a:pPr>
            <a:r>
              <a:rPr lang="en-US" sz="2600" b="0" i="0" dirty="0" err="1">
                <a:solidFill>
                  <a:srgbClr val="343434"/>
                </a:solidFill>
                <a:effectLst/>
                <a:highlight>
                  <a:srgbClr val="FFFFFF"/>
                </a:highlight>
              </a:rPr>
              <a:t>nayan</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naman</a:t>
            </a:r>
          </a:p>
          <a:p>
            <a:pPr marL="0" indent="0" algn="l">
              <a:buNone/>
            </a:pPr>
            <a:r>
              <a:rPr lang="en-US" sz="2600" b="0" i="0" dirty="0">
                <a:solidFill>
                  <a:srgbClr val="343434"/>
                </a:solidFill>
                <a:effectLst/>
                <a:highlight>
                  <a:srgbClr val="FFFFFF"/>
                </a:highlight>
              </a:rPr>
              <a:t>tenet</a:t>
            </a:r>
          </a:p>
          <a:p>
            <a:pPr marL="0" indent="0" algn="l">
              <a:buNone/>
            </a:pPr>
            <a:r>
              <a:rPr lang="en-US" sz="2600" b="1" i="0" dirty="0">
                <a:solidFill>
                  <a:srgbClr val="FF0000"/>
                </a:solidFill>
                <a:effectLst/>
                <a:highlight>
                  <a:srgbClr val="FFFFFF"/>
                </a:highlight>
              </a:rPr>
              <a:t>Explanation</a:t>
            </a:r>
            <a:endParaRPr lang="en-US" sz="2600" b="0" i="0" dirty="0">
              <a:solidFill>
                <a:srgbClr val="FF0000"/>
              </a:solidFill>
              <a:effectLst/>
              <a:highlight>
                <a:srgbClr val="FFFFFF"/>
              </a:highlight>
            </a:endParaRPr>
          </a:p>
          <a:p>
            <a:pPr marL="0" indent="0" algn="l">
              <a:buNone/>
            </a:pPr>
            <a:r>
              <a:rPr lang="en-US" sz="2600" b="0" i="0" dirty="0">
                <a:solidFill>
                  <a:srgbClr val="343434"/>
                </a:solidFill>
                <a:effectLst/>
                <a:highlight>
                  <a:srgbClr val="FFFFFF"/>
                </a:highlight>
              </a:rPr>
              <a:t>The original string can be split into 3 palindromes as mentioned in the output.</a:t>
            </a:r>
          </a:p>
          <a:p>
            <a:pPr marL="0" indent="0" algn="l">
              <a:buNone/>
            </a:pPr>
            <a:r>
              <a:rPr lang="en-US" sz="2600" b="0" i="0" dirty="0">
                <a:solidFill>
                  <a:srgbClr val="343434"/>
                </a:solidFill>
                <a:effectLst/>
                <a:highlight>
                  <a:srgbClr val="FFFFFF"/>
                </a:highlight>
              </a:rPr>
              <a:t>However, if the input was </a:t>
            </a:r>
            <a:r>
              <a:rPr lang="en-US" sz="2600" b="0" i="0" dirty="0" err="1">
                <a:solidFill>
                  <a:srgbClr val="343434"/>
                </a:solidFill>
                <a:effectLst/>
                <a:highlight>
                  <a:srgbClr val="FFFFFF"/>
                </a:highlight>
              </a:rPr>
              <a:t>nayanamantenet</a:t>
            </a:r>
            <a:r>
              <a:rPr lang="en-US" sz="2600" b="0" i="0" dirty="0">
                <a:solidFill>
                  <a:srgbClr val="343434"/>
                </a:solidFill>
                <a:effectLst/>
                <a:highlight>
                  <a:srgbClr val="FFFFFF"/>
                </a:highlight>
              </a:rPr>
              <a:t>, then the answer would be “Impossible”.</a:t>
            </a:r>
          </a:p>
          <a:p>
            <a:pPr marL="0" indent="0">
              <a:buNone/>
            </a:pPr>
            <a:endParaRPr lang="en-IN" sz="2600" dirty="0"/>
          </a:p>
        </p:txBody>
      </p:sp>
    </p:spTree>
    <p:extLst>
      <p:ext uri="{BB962C8B-B14F-4D97-AF65-F5344CB8AC3E}">
        <p14:creationId xmlns:p14="http://schemas.microsoft.com/office/powerpoint/2010/main" val="1894988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CB2FB-CB17-7666-471C-955FC0111A97}"/>
              </a:ext>
            </a:extLst>
          </p:cNvPr>
          <p:cNvSpPr>
            <a:spLocks noGrp="1"/>
          </p:cNvSpPr>
          <p:nvPr>
            <p:ph idx="1"/>
          </p:nvPr>
        </p:nvSpPr>
        <p:spPr>
          <a:xfrm>
            <a:off x="838200" y="390525"/>
            <a:ext cx="10515600" cy="5786438"/>
          </a:xfrm>
        </p:spPr>
        <p:txBody>
          <a:bodyPr>
            <a:noAutofit/>
          </a:bodyPr>
          <a:lstStyle/>
          <a:p>
            <a:pPr marL="0" indent="0" algn="l">
              <a:buNone/>
            </a:pPr>
            <a:r>
              <a:rPr lang="en-US" sz="2600" b="1" i="0" dirty="0">
                <a:solidFill>
                  <a:srgbClr val="FF0000"/>
                </a:solidFill>
                <a:effectLst/>
                <a:highlight>
                  <a:srgbClr val="FFFFFF"/>
                </a:highlight>
              </a:rPr>
              <a:t>Example 2</a:t>
            </a:r>
            <a:endParaRPr lang="en-US" sz="2600" b="0" i="0" dirty="0">
              <a:solidFill>
                <a:srgbClr val="FF0000"/>
              </a:solidFill>
              <a:effectLst/>
              <a:highlight>
                <a:srgbClr val="FFFFFF"/>
              </a:highlight>
            </a:endParaRPr>
          </a:p>
          <a:p>
            <a:pPr marL="0" indent="0" algn="l">
              <a:buNone/>
            </a:pPr>
            <a:r>
              <a:rPr lang="en-US" sz="2600" b="1" i="0" dirty="0">
                <a:solidFill>
                  <a:srgbClr val="343434"/>
                </a:solidFill>
                <a:effectLst/>
                <a:highlight>
                  <a:srgbClr val="FFFFFF"/>
                </a:highlight>
              </a:rPr>
              <a:t>Input</a:t>
            </a:r>
            <a:endParaRPr lang="en-US" sz="2600" b="0" i="0" dirty="0">
              <a:solidFill>
                <a:srgbClr val="343434"/>
              </a:solidFill>
              <a:effectLst/>
              <a:highlight>
                <a:srgbClr val="FFFFFF"/>
              </a:highlight>
            </a:endParaRPr>
          </a:p>
          <a:p>
            <a:pPr marL="0" indent="0" algn="l">
              <a:buNone/>
            </a:pPr>
            <a:r>
              <a:rPr lang="en-US" sz="2600" b="0" i="0" dirty="0" err="1">
                <a:solidFill>
                  <a:srgbClr val="343434"/>
                </a:solidFill>
                <a:effectLst/>
                <a:highlight>
                  <a:srgbClr val="FFFFFF"/>
                </a:highlight>
              </a:rPr>
              <a:t>aaaaa</a:t>
            </a:r>
            <a:endParaRPr lang="en-US" sz="2600" b="0" i="0" dirty="0">
              <a:solidFill>
                <a:srgbClr val="343434"/>
              </a:solidFill>
              <a:effectLst/>
              <a:highlight>
                <a:srgbClr val="FFFFFF"/>
              </a:highlight>
            </a:endParaRPr>
          </a:p>
          <a:p>
            <a:pPr marL="0" indent="0" algn="l">
              <a:buNone/>
            </a:pPr>
            <a:r>
              <a:rPr lang="en-US" sz="2600" b="1" i="0" dirty="0">
                <a:solidFill>
                  <a:srgbClr val="343434"/>
                </a:solidFill>
                <a:effectLst/>
                <a:highlight>
                  <a:srgbClr val="FFFFFF"/>
                </a:highlight>
              </a:rPr>
              <a:t>Output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a</a:t>
            </a:r>
          </a:p>
          <a:p>
            <a:pPr marL="0" indent="0" algn="l">
              <a:buNone/>
            </a:pPr>
            <a:r>
              <a:rPr lang="en-US" sz="2600" b="0" i="0" dirty="0">
                <a:solidFill>
                  <a:srgbClr val="343434"/>
                </a:solidFill>
                <a:effectLst/>
                <a:highlight>
                  <a:srgbClr val="FFFFFF"/>
                </a:highlight>
              </a:rPr>
              <a:t>a</a:t>
            </a:r>
          </a:p>
          <a:p>
            <a:pPr marL="0" indent="0" algn="l">
              <a:buNone/>
            </a:pPr>
            <a:r>
              <a:rPr lang="en-US" sz="2600" b="0" i="0" dirty="0" err="1">
                <a:solidFill>
                  <a:srgbClr val="343434"/>
                </a:solidFill>
                <a:effectLst/>
                <a:highlight>
                  <a:srgbClr val="FFFFFF"/>
                </a:highlight>
              </a:rPr>
              <a:t>aaa</a:t>
            </a:r>
            <a:endParaRPr lang="en-US" sz="2600" b="0" i="0" dirty="0">
              <a:solidFill>
                <a:srgbClr val="343434"/>
              </a:solidFill>
              <a:effectLst/>
              <a:highlight>
                <a:srgbClr val="FFFFFF"/>
              </a:highlight>
            </a:endParaRPr>
          </a:p>
          <a:p>
            <a:pPr marL="0" indent="0" algn="l">
              <a:buNone/>
            </a:pPr>
            <a:r>
              <a:rPr lang="en-US" sz="2600" b="1" i="0" dirty="0">
                <a:solidFill>
                  <a:srgbClr val="FF0000"/>
                </a:solidFill>
                <a:effectLst/>
                <a:highlight>
                  <a:srgbClr val="FFFFFF"/>
                </a:highlight>
              </a:rPr>
              <a:t>Explanation</a:t>
            </a:r>
            <a:endParaRPr lang="en-US" sz="2600" b="0" i="0" dirty="0">
              <a:solidFill>
                <a:srgbClr val="FF0000"/>
              </a:solidFill>
              <a:effectLst/>
              <a:highlight>
                <a:srgbClr val="FFFFFF"/>
              </a:highlight>
            </a:endParaRPr>
          </a:p>
          <a:p>
            <a:pPr marL="0" indent="0" algn="l">
              <a:buNone/>
            </a:pPr>
            <a:r>
              <a:rPr lang="en-US" sz="2600" b="0" i="0" dirty="0">
                <a:solidFill>
                  <a:srgbClr val="343434"/>
                </a:solidFill>
                <a:effectLst/>
                <a:highlight>
                  <a:srgbClr val="FFFFFF"/>
                </a:highlight>
              </a:rPr>
              <a:t>The other ways to split the given string into 3 palindromes are as follows –</a:t>
            </a:r>
          </a:p>
          <a:p>
            <a:pPr marL="0" indent="0" algn="l">
              <a:buNone/>
            </a:pPr>
            <a:r>
              <a:rPr lang="en-US" sz="2600" b="0" i="0" dirty="0">
                <a:solidFill>
                  <a:srgbClr val="343434"/>
                </a:solidFill>
                <a:effectLst/>
                <a:highlight>
                  <a:srgbClr val="FFFFFF"/>
                </a:highlight>
              </a:rPr>
              <a:t>[a, </a:t>
            </a:r>
            <a:r>
              <a:rPr lang="en-US" sz="2600" b="0" i="0" dirty="0" err="1">
                <a:solidFill>
                  <a:srgbClr val="343434"/>
                </a:solidFill>
                <a:effectLst/>
                <a:highlight>
                  <a:srgbClr val="FFFFFF"/>
                </a:highlight>
              </a:rPr>
              <a:t>aaa</a:t>
            </a:r>
            <a:r>
              <a:rPr lang="en-US" sz="2600" b="0" i="0" dirty="0">
                <a:solidFill>
                  <a:srgbClr val="343434"/>
                </a:solidFill>
                <a:effectLst/>
                <a:highlight>
                  <a:srgbClr val="FFFFFF"/>
                </a:highlight>
              </a:rPr>
              <a:t>, a], [</a:t>
            </a:r>
            <a:r>
              <a:rPr lang="en-US" sz="2600" b="0" i="0" dirty="0" err="1">
                <a:solidFill>
                  <a:srgbClr val="343434"/>
                </a:solidFill>
                <a:effectLst/>
                <a:highlight>
                  <a:srgbClr val="FFFFFF"/>
                </a:highlight>
              </a:rPr>
              <a:t>aaa</a:t>
            </a:r>
            <a:r>
              <a:rPr lang="en-US" sz="2600" b="0" i="0" dirty="0">
                <a:solidFill>
                  <a:srgbClr val="343434"/>
                </a:solidFill>
                <a:effectLst/>
                <a:highlight>
                  <a:srgbClr val="FFFFFF"/>
                </a:highlight>
              </a:rPr>
              <a:t>, a, a], [aa, aa, a], etc.</a:t>
            </a:r>
          </a:p>
          <a:p>
            <a:pPr marL="0" indent="0" algn="l">
              <a:buNone/>
            </a:pPr>
            <a:r>
              <a:rPr lang="en-US" sz="2600" b="0" i="0" dirty="0">
                <a:solidFill>
                  <a:srgbClr val="343434"/>
                </a:solidFill>
                <a:effectLst/>
                <a:highlight>
                  <a:srgbClr val="FFFFFF"/>
                </a:highlight>
              </a:rPr>
              <a:t>Since we want to minimize the length of the first palindromic substring using left to right processing, the correct way to split is [a, a, </a:t>
            </a:r>
            <a:r>
              <a:rPr lang="en-US" sz="2600" b="0" i="0" dirty="0" err="1">
                <a:solidFill>
                  <a:srgbClr val="343434"/>
                </a:solidFill>
                <a:effectLst/>
                <a:highlight>
                  <a:srgbClr val="FFFFFF"/>
                </a:highlight>
              </a:rPr>
              <a:t>aaa</a:t>
            </a:r>
            <a:r>
              <a:rPr lang="en-US" sz="2600" b="0" i="0" dirty="0">
                <a:solidFill>
                  <a:srgbClr val="343434"/>
                </a:solidFill>
                <a:effectLst/>
                <a:highlight>
                  <a:srgbClr val="FFFFFF"/>
                </a:highlight>
              </a:rPr>
              <a:t>].</a:t>
            </a:r>
          </a:p>
          <a:p>
            <a:pPr marL="0" indent="0">
              <a:buNone/>
            </a:pPr>
            <a:endParaRPr lang="en-IN" sz="2600" dirty="0"/>
          </a:p>
        </p:txBody>
      </p:sp>
    </p:spTree>
    <p:extLst>
      <p:ext uri="{BB962C8B-B14F-4D97-AF65-F5344CB8AC3E}">
        <p14:creationId xmlns:p14="http://schemas.microsoft.com/office/powerpoint/2010/main" val="240735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72F6DD-4271-E429-F900-399DA614B0E6}"/>
              </a:ext>
            </a:extLst>
          </p:cNvPr>
          <p:cNvSpPr>
            <a:spLocks noGrp="1"/>
          </p:cNvSpPr>
          <p:nvPr>
            <p:ph idx="1"/>
          </p:nvPr>
        </p:nvSpPr>
        <p:spPr>
          <a:xfrm>
            <a:off x="838200" y="523875"/>
            <a:ext cx="10515600" cy="5653088"/>
          </a:xfrm>
        </p:spPr>
        <p:txBody>
          <a:bodyPr>
            <a:normAutofit/>
          </a:bodyPr>
          <a:lstStyle/>
          <a:p>
            <a:pPr marL="0" indent="0" algn="l">
              <a:buNone/>
            </a:pPr>
            <a:r>
              <a:rPr lang="en-US" sz="2600" b="1" i="0" dirty="0">
                <a:solidFill>
                  <a:srgbClr val="FF0000"/>
                </a:solidFill>
                <a:effectLst/>
                <a:highlight>
                  <a:srgbClr val="FFFFFF"/>
                </a:highlight>
              </a:rPr>
              <a:t>Example 3</a:t>
            </a:r>
            <a:endParaRPr lang="en-US" sz="2600" b="0" i="0" dirty="0">
              <a:solidFill>
                <a:srgbClr val="FF0000"/>
              </a:solidFill>
              <a:effectLst/>
              <a:highlight>
                <a:srgbClr val="FFFFFF"/>
              </a:highlight>
            </a:endParaRPr>
          </a:p>
          <a:p>
            <a:pPr marL="0" indent="0" algn="l">
              <a:buNone/>
            </a:pPr>
            <a:r>
              <a:rPr lang="en-US" sz="2600" b="1" i="0" dirty="0">
                <a:solidFill>
                  <a:srgbClr val="343434"/>
                </a:solidFill>
                <a:effectLst/>
                <a:highlight>
                  <a:srgbClr val="FFFFFF"/>
                </a:highlight>
              </a:rPr>
              <a:t>Input</a:t>
            </a:r>
            <a:endParaRPr lang="en-US" sz="2600" b="0" i="0" dirty="0">
              <a:solidFill>
                <a:srgbClr val="343434"/>
              </a:solidFill>
              <a:effectLst/>
              <a:highlight>
                <a:srgbClr val="FFFFFF"/>
              </a:highlight>
            </a:endParaRPr>
          </a:p>
          <a:p>
            <a:pPr marL="0" indent="0" algn="l">
              <a:buNone/>
            </a:pPr>
            <a:r>
              <a:rPr lang="en-US" sz="2600" b="0" i="0" dirty="0" err="1">
                <a:solidFill>
                  <a:srgbClr val="343434"/>
                </a:solidFill>
                <a:effectLst/>
                <a:highlight>
                  <a:srgbClr val="FFFFFF"/>
                </a:highlight>
              </a:rPr>
              <a:t>aaaabaaaa</a:t>
            </a:r>
            <a:endParaRPr lang="en-US" sz="2600" b="0" i="0" dirty="0">
              <a:solidFill>
                <a:srgbClr val="343434"/>
              </a:solidFill>
              <a:effectLst/>
              <a:highlight>
                <a:srgbClr val="FFFFFF"/>
              </a:highlight>
            </a:endParaRPr>
          </a:p>
          <a:p>
            <a:pPr marL="0" indent="0" algn="l">
              <a:buNone/>
            </a:pPr>
            <a:r>
              <a:rPr lang="en-US" sz="2600" b="1" i="0" dirty="0">
                <a:solidFill>
                  <a:srgbClr val="343434"/>
                </a:solidFill>
                <a:effectLst/>
                <a:highlight>
                  <a:srgbClr val="FFFFFF"/>
                </a:highlight>
              </a:rPr>
              <a:t>Output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a</a:t>
            </a:r>
          </a:p>
          <a:p>
            <a:pPr marL="0" indent="0" algn="l">
              <a:buNone/>
            </a:pPr>
            <a:r>
              <a:rPr lang="en-US" sz="2600" b="0" i="0" dirty="0" err="1">
                <a:solidFill>
                  <a:srgbClr val="343434"/>
                </a:solidFill>
                <a:effectLst/>
                <a:highlight>
                  <a:srgbClr val="FFFFFF"/>
                </a:highlight>
              </a:rPr>
              <a:t>aaabaaa</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a</a:t>
            </a:r>
          </a:p>
          <a:p>
            <a:pPr marL="0" indent="0" algn="l">
              <a:buNone/>
            </a:pPr>
            <a:r>
              <a:rPr lang="en-US" sz="2600" b="1" i="0" dirty="0">
                <a:solidFill>
                  <a:srgbClr val="FF0000"/>
                </a:solidFill>
                <a:effectLst/>
                <a:highlight>
                  <a:srgbClr val="FFFFFF"/>
                </a:highlight>
              </a:rPr>
              <a:t>Explanation</a:t>
            </a:r>
            <a:endParaRPr lang="en-US" sz="2600" b="0" i="0" dirty="0">
              <a:solidFill>
                <a:srgbClr val="FF0000"/>
              </a:solidFill>
              <a:effectLst/>
              <a:highlight>
                <a:srgbClr val="FFFFFF"/>
              </a:highlight>
            </a:endParaRPr>
          </a:p>
          <a:p>
            <a:pPr marL="0" indent="0" algn="l">
              <a:buNone/>
            </a:pPr>
            <a:r>
              <a:rPr lang="en-US" sz="2600" b="0" i="0" dirty="0">
                <a:solidFill>
                  <a:srgbClr val="343434"/>
                </a:solidFill>
                <a:effectLst/>
                <a:highlight>
                  <a:srgbClr val="FFFFFF"/>
                </a:highlight>
              </a:rPr>
              <a:t>The other ways to split the given string into 3 palindromes are as follows –</a:t>
            </a:r>
          </a:p>
          <a:p>
            <a:pPr marL="0" indent="0" algn="l">
              <a:buNone/>
            </a:pPr>
            <a:r>
              <a:rPr lang="en-US" sz="2600" b="0" i="0" dirty="0">
                <a:solidFill>
                  <a:srgbClr val="343434"/>
                </a:solidFill>
                <a:effectLst/>
                <a:highlight>
                  <a:srgbClr val="FFFFFF"/>
                </a:highlight>
              </a:rPr>
              <a:t>[</a:t>
            </a:r>
            <a:r>
              <a:rPr lang="en-US" sz="2600" b="0" i="0" dirty="0" err="1">
                <a:solidFill>
                  <a:srgbClr val="343434"/>
                </a:solidFill>
                <a:effectLst/>
                <a:highlight>
                  <a:srgbClr val="FFFFFF"/>
                </a:highlight>
              </a:rPr>
              <a:t>aaaa</a:t>
            </a:r>
            <a:r>
              <a:rPr lang="en-US" sz="2600" b="0" i="0" dirty="0">
                <a:solidFill>
                  <a:srgbClr val="343434"/>
                </a:solidFill>
                <a:effectLst/>
                <a:highlight>
                  <a:srgbClr val="FFFFFF"/>
                </a:highlight>
              </a:rPr>
              <a:t>, b, </a:t>
            </a:r>
            <a:r>
              <a:rPr lang="en-US" sz="2600" b="0" i="0" dirty="0" err="1">
                <a:solidFill>
                  <a:srgbClr val="343434"/>
                </a:solidFill>
                <a:effectLst/>
                <a:highlight>
                  <a:srgbClr val="FFFFFF"/>
                </a:highlight>
              </a:rPr>
              <a:t>aaaa</a:t>
            </a:r>
            <a:r>
              <a:rPr lang="en-US" sz="2600" b="0" i="0" dirty="0">
                <a:solidFill>
                  <a:srgbClr val="343434"/>
                </a:solidFill>
                <a:effectLst/>
                <a:highlight>
                  <a:srgbClr val="FFFFFF"/>
                </a:highlight>
              </a:rPr>
              <a:t>], [aa, </a:t>
            </a:r>
            <a:r>
              <a:rPr lang="en-US" sz="2600" b="0" i="0" dirty="0" err="1">
                <a:solidFill>
                  <a:srgbClr val="343434"/>
                </a:solidFill>
                <a:effectLst/>
                <a:highlight>
                  <a:srgbClr val="FFFFFF"/>
                </a:highlight>
              </a:rPr>
              <a:t>aabaa</a:t>
            </a:r>
            <a:r>
              <a:rPr lang="en-US" sz="2600" b="0" i="0" dirty="0">
                <a:solidFill>
                  <a:srgbClr val="343434"/>
                </a:solidFill>
                <a:effectLst/>
                <a:highlight>
                  <a:srgbClr val="FFFFFF"/>
                </a:highlight>
              </a:rPr>
              <a:t>, aa], etc.</a:t>
            </a:r>
          </a:p>
          <a:p>
            <a:pPr marL="0" indent="0" algn="l">
              <a:buNone/>
            </a:pPr>
            <a:r>
              <a:rPr lang="en-US" sz="2600" b="0" i="0" dirty="0">
                <a:solidFill>
                  <a:srgbClr val="343434"/>
                </a:solidFill>
                <a:effectLst/>
                <a:highlight>
                  <a:srgbClr val="FFFFFF"/>
                </a:highlight>
              </a:rPr>
              <a:t>Since we want to minimize the length of the first palindromic substring using left to right processing, the correct way to split is [a, </a:t>
            </a:r>
            <a:r>
              <a:rPr lang="en-US" sz="2600" b="0" i="0" dirty="0" err="1">
                <a:solidFill>
                  <a:srgbClr val="343434"/>
                </a:solidFill>
                <a:effectLst/>
                <a:highlight>
                  <a:srgbClr val="FFFFFF"/>
                </a:highlight>
              </a:rPr>
              <a:t>aaabaaa</a:t>
            </a:r>
            <a:r>
              <a:rPr lang="en-US" sz="2600" b="0" i="0" dirty="0">
                <a:solidFill>
                  <a:srgbClr val="343434"/>
                </a:solidFill>
                <a:effectLst/>
                <a:highlight>
                  <a:srgbClr val="FFFFFF"/>
                </a:highlight>
              </a:rPr>
              <a:t>, a].</a:t>
            </a:r>
          </a:p>
          <a:p>
            <a:pPr marL="0" indent="0">
              <a:buNone/>
            </a:pPr>
            <a:endParaRPr lang="en-IN" sz="2600" dirty="0"/>
          </a:p>
        </p:txBody>
      </p:sp>
    </p:spTree>
    <p:extLst>
      <p:ext uri="{BB962C8B-B14F-4D97-AF65-F5344CB8AC3E}">
        <p14:creationId xmlns:p14="http://schemas.microsoft.com/office/powerpoint/2010/main" val="977039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48FD65-BC5B-72D4-93E9-ECB28BD42F98}"/>
              </a:ext>
            </a:extLst>
          </p:cNvPr>
          <p:cNvSpPr>
            <a:spLocks noGrp="1"/>
          </p:cNvSpPr>
          <p:nvPr>
            <p:ph idx="1"/>
          </p:nvPr>
        </p:nvSpPr>
        <p:spPr>
          <a:xfrm>
            <a:off x="838200" y="266700"/>
            <a:ext cx="10515600" cy="6334125"/>
          </a:xfrm>
        </p:spPr>
        <p:txBody>
          <a:bodyPr>
            <a:noAutofit/>
          </a:bodyPr>
          <a:lstStyle/>
          <a:p>
            <a:pPr marL="0" indent="0">
              <a:spcBef>
                <a:spcPts val="0"/>
              </a:spcBef>
              <a:buNone/>
            </a:pPr>
            <a:r>
              <a:rPr lang="en-US" sz="2400" b="1" dirty="0"/>
              <a:t>def </a:t>
            </a:r>
            <a:r>
              <a:rPr lang="en-US" sz="2400" b="1" dirty="0" err="1"/>
              <a:t>isP</a:t>
            </a:r>
            <a:r>
              <a:rPr lang="en-US" sz="2400" b="1" dirty="0"/>
              <a:t>(s):</a:t>
            </a:r>
          </a:p>
          <a:p>
            <a:pPr marL="0" indent="0">
              <a:spcBef>
                <a:spcPts val="0"/>
              </a:spcBef>
              <a:buNone/>
            </a:pPr>
            <a:r>
              <a:rPr lang="en-US" sz="2400" b="1" dirty="0"/>
              <a:t>    return s == s[::-1]</a:t>
            </a:r>
          </a:p>
          <a:p>
            <a:pPr marL="0" indent="0">
              <a:spcBef>
                <a:spcPts val="0"/>
              </a:spcBef>
              <a:buNone/>
            </a:pPr>
            <a:r>
              <a:rPr lang="en-US" sz="2400" b="1" dirty="0"/>
              <a:t>def fun(s):</a:t>
            </a:r>
          </a:p>
          <a:p>
            <a:pPr marL="0" indent="0">
              <a:spcBef>
                <a:spcPts val="0"/>
              </a:spcBef>
              <a:buNone/>
            </a:pPr>
            <a:r>
              <a:rPr lang="en-US" sz="2400" b="1" dirty="0"/>
              <a:t>    n  = </a:t>
            </a:r>
            <a:r>
              <a:rPr lang="en-US" sz="2400" b="1" dirty="0" err="1"/>
              <a:t>len</a:t>
            </a:r>
            <a:r>
              <a:rPr lang="en-US" sz="2400" b="1" dirty="0"/>
              <a:t>(s)</a:t>
            </a:r>
          </a:p>
          <a:p>
            <a:pPr marL="0" indent="0">
              <a:spcBef>
                <a:spcPts val="0"/>
              </a:spcBef>
              <a:buNone/>
            </a:pPr>
            <a:r>
              <a:rPr lang="en-US" sz="2400" b="1" dirty="0"/>
              <a:t>    for </a:t>
            </a:r>
            <a:r>
              <a:rPr lang="en-US" sz="2400" b="1" dirty="0" err="1"/>
              <a:t>i</a:t>
            </a:r>
            <a:r>
              <a:rPr lang="en-US" sz="2400" b="1" dirty="0"/>
              <a:t> in range(1,n):</a:t>
            </a:r>
          </a:p>
          <a:p>
            <a:pPr marL="0" indent="0">
              <a:spcBef>
                <a:spcPts val="0"/>
              </a:spcBef>
              <a:buNone/>
            </a:pPr>
            <a:r>
              <a:rPr lang="en-US" sz="2400" b="1" dirty="0"/>
              <a:t>        s1 = s[:</a:t>
            </a:r>
            <a:r>
              <a:rPr lang="en-US" sz="2400" b="1" dirty="0" err="1"/>
              <a:t>i</a:t>
            </a:r>
            <a:r>
              <a:rPr lang="en-US" sz="2400" b="1" dirty="0"/>
              <a:t>]</a:t>
            </a:r>
          </a:p>
          <a:p>
            <a:pPr marL="0" indent="0">
              <a:spcBef>
                <a:spcPts val="0"/>
              </a:spcBef>
              <a:buNone/>
            </a:pPr>
            <a:r>
              <a:rPr lang="en-US" sz="2400" b="1" dirty="0"/>
              <a:t>        if </a:t>
            </a:r>
            <a:r>
              <a:rPr lang="en-US" sz="2400" b="1" dirty="0" err="1"/>
              <a:t>isP</a:t>
            </a:r>
            <a:r>
              <a:rPr lang="en-US" sz="2400" b="1" dirty="0"/>
              <a:t>(s1):</a:t>
            </a:r>
          </a:p>
          <a:p>
            <a:pPr marL="0" indent="0">
              <a:spcBef>
                <a:spcPts val="0"/>
              </a:spcBef>
              <a:buNone/>
            </a:pPr>
            <a:r>
              <a:rPr lang="en-US" sz="2400" b="1" dirty="0"/>
              <a:t>            for j in range(i+1,n-1):</a:t>
            </a:r>
          </a:p>
          <a:p>
            <a:pPr marL="0" indent="0">
              <a:spcBef>
                <a:spcPts val="0"/>
              </a:spcBef>
              <a:buNone/>
            </a:pPr>
            <a:r>
              <a:rPr lang="en-US" sz="2400" b="1" dirty="0"/>
              <a:t>                s2 = s[</a:t>
            </a:r>
            <a:r>
              <a:rPr lang="en-US" sz="2400" b="1" dirty="0" err="1"/>
              <a:t>i:j</a:t>
            </a:r>
            <a:r>
              <a:rPr lang="en-US" sz="2400" b="1" dirty="0"/>
              <a:t>]            </a:t>
            </a:r>
          </a:p>
          <a:p>
            <a:pPr marL="0" indent="0">
              <a:spcBef>
                <a:spcPts val="0"/>
              </a:spcBef>
              <a:buNone/>
            </a:pPr>
            <a:r>
              <a:rPr lang="en-US" sz="2400" b="1" dirty="0"/>
              <a:t>                s3 = s[j:]            </a:t>
            </a:r>
          </a:p>
          <a:p>
            <a:pPr marL="0" indent="0">
              <a:spcBef>
                <a:spcPts val="0"/>
              </a:spcBef>
              <a:buNone/>
            </a:pPr>
            <a:r>
              <a:rPr lang="en-US" sz="2400" b="1" dirty="0"/>
              <a:t>                if </a:t>
            </a:r>
            <a:r>
              <a:rPr lang="en-US" sz="2400" b="1" dirty="0" err="1"/>
              <a:t>isP</a:t>
            </a:r>
            <a:r>
              <a:rPr lang="en-US" sz="2400" b="1" dirty="0"/>
              <a:t>(s2) and </a:t>
            </a:r>
            <a:r>
              <a:rPr lang="en-US" sz="2400" b="1" dirty="0" err="1"/>
              <a:t>isP</a:t>
            </a:r>
            <a:r>
              <a:rPr lang="en-US" sz="2400" b="1" dirty="0"/>
              <a:t>(s3):                 </a:t>
            </a:r>
          </a:p>
          <a:p>
            <a:pPr marL="0" indent="0">
              <a:spcBef>
                <a:spcPts val="0"/>
              </a:spcBef>
              <a:buNone/>
            </a:pPr>
            <a:r>
              <a:rPr lang="en-US" sz="2400" b="1" dirty="0"/>
              <a:t>                    print(s1, s2, s3)</a:t>
            </a:r>
          </a:p>
          <a:p>
            <a:pPr marL="0" indent="0">
              <a:spcBef>
                <a:spcPts val="0"/>
              </a:spcBef>
              <a:buNone/>
            </a:pPr>
            <a:r>
              <a:rPr lang="en-US" sz="2400" b="1" dirty="0"/>
              <a:t>                    return 1         </a:t>
            </a:r>
          </a:p>
          <a:p>
            <a:pPr marL="0" indent="0">
              <a:spcBef>
                <a:spcPts val="0"/>
              </a:spcBef>
              <a:buNone/>
            </a:pPr>
            <a:r>
              <a:rPr lang="en-US" sz="2400" b="1" dirty="0"/>
              <a:t>    print("Impossible")</a:t>
            </a:r>
          </a:p>
          <a:p>
            <a:pPr marL="0" indent="0">
              <a:spcBef>
                <a:spcPts val="0"/>
              </a:spcBef>
              <a:buNone/>
            </a:pPr>
            <a:r>
              <a:rPr lang="en-US" sz="2400" b="1" dirty="0"/>
              <a:t>s =  "</a:t>
            </a:r>
            <a:r>
              <a:rPr lang="en-US" sz="2400" b="1" dirty="0" err="1"/>
              <a:t>nayannamantenet</a:t>
            </a:r>
            <a:r>
              <a:rPr lang="en-US" sz="2400" b="1" dirty="0"/>
              <a:t>"</a:t>
            </a:r>
          </a:p>
          <a:p>
            <a:pPr marL="0" indent="0">
              <a:spcBef>
                <a:spcPts val="0"/>
              </a:spcBef>
              <a:buNone/>
            </a:pPr>
            <a:r>
              <a:rPr lang="en-US" sz="2400" b="1" dirty="0"/>
              <a:t>fun(s)</a:t>
            </a:r>
          </a:p>
          <a:p>
            <a:pPr marL="0" indent="0">
              <a:spcBef>
                <a:spcPts val="0"/>
              </a:spcBef>
              <a:buNone/>
            </a:pPr>
            <a:endParaRPr lang="en-US" sz="2400" b="1" dirty="0"/>
          </a:p>
        </p:txBody>
      </p:sp>
    </p:spTree>
    <p:extLst>
      <p:ext uri="{BB962C8B-B14F-4D97-AF65-F5344CB8AC3E}">
        <p14:creationId xmlns:p14="http://schemas.microsoft.com/office/powerpoint/2010/main" val="2194049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88CF-7BC7-8680-D615-780EC6519731}"/>
              </a:ext>
            </a:extLst>
          </p:cNvPr>
          <p:cNvSpPr>
            <a:spLocks noGrp="1"/>
          </p:cNvSpPr>
          <p:nvPr>
            <p:ph type="title"/>
          </p:nvPr>
        </p:nvSpPr>
        <p:spPr>
          <a:xfrm>
            <a:off x="838200" y="180975"/>
            <a:ext cx="10515600" cy="628650"/>
          </a:xfrm>
        </p:spPr>
        <p:txBody>
          <a:bodyPr>
            <a:normAutofit/>
          </a:bodyPr>
          <a:lstStyle/>
          <a:p>
            <a:r>
              <a:rPr lang="en-US" sz="3000" b="1" dirty="0">
                <a:solidFill>
                  <a:srgbClr val="FF0000"/>
                </a:solidFill>
                <a:latin typeface="+mn-lt"/>
              </a:rPr>
              <a:t>Problem Statement 2</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4417692A-7C1A-C3A7-1875-58DF797547AF}"/>
              </a:ext>
            </a:extLst>
          </p:cNvPr>
          <p:cNvSpPr>
            <a:spLocks noGrp="1"/>
          </p:cNvSpPr>
          <p:nvPr>
            <p:ph idx="1"/>
          </p:nvPr>
        </p:nvSpPr>
        <p:spPr>
          <a:xfrm>
            <a:off x="838200" y="923925"/>
            <a:ext cx="10515600" cy="5253038"/>
          </a:xfrm>
        </p:spPr>
        <p:txBody>
          <a:bodyPr>
            <a:normAutofit/>
          </a:bodyPr>
          <a:lstStyle/>
          <a:p>
            <a:pPr algn="l">
              <a:buFont typeface="Wingdings" panose="05000000000000000000" pitchFamily="2" charset="2"/>
              <a:buChar char="Ø"/>
            </a:pPr>
            <a:r>
              <a:rPr lang="en-US" sz="2600" b="0" i="0" dirty="0">
                <a:solidFill>
                  <a:srgbClr val="343434"/>
                </a:solidFill>
                <a:effectLst/>
                <a:highlight>
                  <a:srgbClr val="FFFFFF"/>
                </a:highlight>
              </a:rPr>
              <a:t>Compute the nearest larger number by interchanging its digits updated. Given 2 numbers a and b find the smallest number greater than b by interchanging the digits of a and if not possible print -1.</a:t>
            </a:r>
          </a:p>
          <a:p>
            <a:pPr algn="l">
              <a:buFont typeface="Wingdings" panose="05000000000000000000" pitchFamily="2" charset="2"/>
              <a:buChar char="Ø"/>
            </a:pPr>
            <a:endParaRPr lang="en-US" sz="2600" b="0" i="0" dirty="0">
              <a:solidFill>
                <a:srgbClr val="343434"/>
              </a:solidFill>
              <a:effectLst/>
              <a:highlight>
                <a:srgbClr val="FFFFFF"/>
              </a:highlight>
            </a:endParaRPr>
          </a:p>
          <a:p>
            <a:pPr algn="l">
              <a:buFont typeface="Wingdings" panose="05000000000000000000" pitchFamily="2" charset="2"/>
              <a:buChar char="Ø"/>
            </a:pPr>
            <a:r>
              <a:rPr lang="en-US" sz="2600" b="1" i="0" dirty="0">
                <a:solidFill>
                  <a:srgbClr val="343434"/>
                </a:solidFill>
                <a:effectLst/>
                <a:highlight>
                  <a:srgbClr val="FFFFFF"/>
                </a:highlight>
              </a:rPr>
              <a:t>Input Format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2 numbers a and b, separated by space.</a:t>
            </a:r>
          </a:p>
          <a:p>
            <a:pPr algn="l">
              <a:buFont typeface="Wingdings" panose="05000000000000000000" pitchFamily="2" charset="2"/>
              <a:buChar char="Ø"/>
            </a:pPr>
            <a:r>
              <a:rPr lang="en-US" sz="2600" b="1" i="0" dirty="0">
                <a:solidFill>
                  <a:srgbClr val="343434"/>
                </a:solidFill>
                <a:effectLst/>
                <a:highlight>
                  <a:srgbClr val="FFFFFF"/>
                </a:highlight>
              </a:rPr>
              <a:t>Output Format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A single number greater than </a:t>
            </a:r>
            <a:r>
              <a:rPr lang="en-US" sz="2600" b="0" i="0" dirty="0" err="1">
                <a:solidFill>
                  <a:srgbClr val="343434"/>
                </a:solidFill>
                <a:effectLst/>
                <a:highlight>
                  <a:srgbClr val="FFFFFF"/>
                </a:highlight>
              </a:rPr>
              <a:t>b.If</a:t>
            </a:r>
            <a:r>
              <a:rPr lang="en-US" sz="2600" b="0" i="0" dirty="0">
                <a:solidFill>
                  <a:srgbClr val="343434"/>
                </a:solidFill>
                <a:effectLst/>
                <a:highlight>
                  <a:srgbClr val="FFFFFF"/>
                </a:highlight>
              </a:rPr>
              <a:t> not possible, print -1</a:t>
            </a:r>
          </a:p>
          <a:p>
            <a:pPr algn="l">
              <a:buFont typeface="Wingdings" panose="05000000000000000000" pitchFamily="2" charset="2"/>
              <a:buChar char="Ø"/>
            </a:pPr>
            <a:r>
              <a:rPr lang="en-US" sz="2600" b="1" i="0" dirty="0">
                <a:solidFill>
                  <a:srgbClr val="343434"/>
                </a:solidFill>
                <a:effectLst/>
                <a:highlight>
                  <a:srgbClr val="FFFFFF"/>
                </a:highlight>
              </a:rPr>
              <a:t>Constraints</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1 &lt;= </a:t>
            </a:r>
            <a:r>
              <a:rPr lang="en-US" sz="2600" b="0" i="0" dirty="0" err="1">
                <a:solidFill>
                  <a:srgbClr val="343434"/>
                </a:solidFill>
                <a:effectLst/>
                <a:highlight>
                  <a:srgbClr val="FFFFFF"/>
                </a:highlight>
              </a:rPr>
              <a:t>a,b</a:t>
            </a:r>
            <a:r>
              <a:rPr lang="en-US" sz="2600" b="0" i="0" dirty="0">
                <a:solidFill>
                  <a:srgbClr val="343434"/>
                </a:solidFill>
                <a:effectLst/>
                <a:highlight>
                  <a:srgbClr val="FFFFFF"/>
                </a:highlight>
              </a:rPr>
              <a:t> &lt;= 10000000</a:t>
            </a:r>
          </a:p>
        </p:txBody>
      </p:sp>
    </p:spTree>
    <p:extLst>
      <p:ext uri="{BB962C8B-B14F-4D97-AF65-F5344CB8AC3E}">
        <p14:creationId xmlns:p14="http://schemas.microsoft.com/office/powerpoint/2010/main" val="2302649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552450"/>
            <a:ext cx="10515600" cy="5624513"/>
          </a:xfrm>
        </p:spPr>
        <p:txBody>
          <a:bodyPr>
            <a:normAutofit/>
          </a:bodyPr>
          <a:lstStyle/>
          <a:p>
            <a:pPr marL="0" indent="0" algn="l">
              <a:buNone/>
            </a:pPr>
            <a:r>
              <a:rPr lang="en-US" sz="2600" b="1" i="0" dirty="0">
                <a:solidFill>
                  <a:srgbClr val="FF0000"/>
                </a:solidFill>
                <a:effectLst/>
                <a:highlight>
                  <a:srgbClr val="FFFFFF"/>
                </a:highlight>
              </a:rPr>
              <a:t>Example 1:</a:t>
            </a:r>
          </a:p>
          <a:p>
            <a:pPr marL="0" indent="0" algn="l">
              <a:buNone/>
            </a:pPr>
            <a:endParaRPr lang="en-US" sz="2600" b="0" i="0" dirty="0">
              <a:solidFill>
                <a:srgbClr val="FF0000"/>
              </a:solidFill>
              <a:effectLst/>
              <a:highlight>
                <a:srgbClr val="FFFFFF"/>
              </a:highlight>
            </a:endParaRPr>
          </a:p>
          <a:p>
            <a:pPr marL="0" indent="0" algn="l">
              <a:buNone/>
            </a:pPr>
            <a:r>
              <a:rPr lang="en-US" sz="2600" b="1" i="0" dirty="0">
                <a:solidFill>
                  <a:srgbClr val="343434"/>
                </a:solidFill>
                <a:effectLst/>
                <a:highlight>
                  <a:srgbClr val="FFFFFF"/>
                </a:highlight>
              </a:rPr>
              <a:t>Sample Input: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    459 500</a:t>
            </a:r>
          </a:p>
          <a:p>
            <a:pPr marL="0" indent="0" algn="l">
              <a:buNone/>
            </a:pPr>
            <a:r>
              <a:rPr lang="en-US" sz="2600" b="1" i="0" dirty="0">
                <a:solidFill>
                  <a:srgbClr val="343434"/>
                </a:solidFill>
                <a:effectLst/>
                <a:highlight>
                  <a:srgbClr val="FFFFFF"/>
                </a:highlight>
              </a:rPr>
              <a:t>Sample Output: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    549</a:t>
            </a:r>
          </a:p>
          <a:p>
            <a:pPr marL="0" indent="0" algn="l">
              <a:buNone/>
            </a:pPr>
            <a:r>
              <a:rPr lang="en-US" sz="2600" b="1" i="0" dirty="0">
                <a:solidFill>
                  <a:srgbClr val="343434"/>
                </a:solidFill>
                <a:effectLst/>
                <a:highlight>
                  <a:srgbClr val="FFFFFF"/>
                </a:highlight>
              </a:rPr>
              <a:t>Example 2:</a:t>
            </a:r>
            <a:endParaRPr lang="en-US" sz="2600" b="0" i="0" dirty="0">
              <a:solidFill>
                <a:srgbClr val="343434"/>
              </a:solidFill>
              <a:effectLst/>
              <a:highlight>
                <a:srgbClr val="FFFFFF"/>
              </a:highlight>
            </a:endParaRPr>
          </a:p>
          <a:p>
            <a:pPr marL="0" indent="0" algn="l">
              <a:buNone/>
            </a:pPr>
            <a:r>
              <a:rPr lang="en-US" sz="2600" b="1" i="0" dirty="0">
                <a:solidFill>
                  <a:srgbClr val="343434"/>
                </a:solidFill>
                <a:effectLst/>
                <a:highlight>
                  <a:srgbClr val="FFFFFF"/>
                </a:highlight>
              </a:rPr>
              <a:t>Sample Input: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    645757 457765</a:t>
            </a:r>
          </a:p>
          <a:p>
            <a:pPr marL="0" indent="0" algn="l">
              <a:buNone/>
            </a:pPr>
            <a:r>
              <a:rPr lang="en-US" sz="2600" b="1" i="0" dirty="0">
                <a:solidFill>
                  <a:srgbClr val="343434"/>
                </a:solidFill>
                <a:effectLst/>
                <a:highlight>
                  <a:srgbClr val="FFFFFF"/>
                </a:highlight>
              </a:rPr>
              <a:t>Sample Output: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    465577</a:t>
            </a:r>
          </a:p>
          <a:p>
            <a:pPr marL="0" indent="0">
              <a:buNone/>
            </a:pPr>
            <a:endParaRPr lang="en-IN" sz="2600" dirty="0"/>
          </a:p>
        </p:txBody>
      </p:sp>
    </p:spTree>
    <p:extLst>
      <p:ext uri="{BB962C8B-B14F-4D97-AF65-F5344CB8AC3E}">
        <p14:creationId xmlns:p14="http://schemas.microsoft.com/office/powerpoint/2010/main" val="188812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304800"/>
            <a:ext cx="10515600" cy="6200775"/>
          </a:xfrm>
        </p:spPr>
        <p:txBody>
          <a:bodyPr>
            <a:noAutofit/>
          </a:bodyPr>
          <a:lstStyle/>
          <a:p>
            <a:pPr marL="0" indent="0">
              <a:spcBef>
                <a:spcPts val="0"/>
              </a:spcBef>
              <a:buNone/>
            </a:pPr>
            <a:r>
              <a:rPr lang="en-IN" sz="2400" b="1" dirty="0"/>
              <a:t>from </a:t>
            </a:r>
            <a:r>
              <a:rPr lang="en-IN" sz="2400" b="1" dirty="0" err="1"/>
              <a:t>itertools</a:t>
            </a:r>
            <a:r>
              <a:rPr lang="en-IN" sz="2400" b="1" dirty="0"/>
              <a:t> import permutations</a:t>
            </a:r>
          </a:p>
          <a:p>
            <a:pPr marL="0" indent="0">
              <a:spcBef>
                <a:spcPts val="0"/>
              </a:spcBef>
              <a:buNone/>
            </a:pPr>
            <a:r>
              <a:rPr lang="en-IN" sz="2400" b="1" dirty="0"/>
              <a:t>num1 = int(input())</a:t>
            </a:r>
          </a:p>
          <a:p>
            <a:pPr marL="0" indent="0">
              <a:spcBef>
                <a:spcPts val="0"/>
              </a:spcBef>
              <a:buNone/>
            </a:pPr>
            <a:r>
              <a:rPr lang="en-IN" sz="2400" b="1" dirty="0"/>
              <a:t>num2 = int(input())</a:t>
            </a:r>
          </a:p>
          <a:p>
            <a:pPr marL="0" indent="0">
              <a:spcBef>
                <a:spcPts val="0"/>
              </a:spcBef>
              <a:buNone/>
            </a:pPr>
            <a:r>
              <a:rPr lang="en-IN" sz="2400" b="1" dirty="0"/>
              <a:t>flag = 0</a:t>
            </a:r>
          </a:p>
          <a:p>
            <a:pPr marL="0" indent="0">
              <a:spcBef>
                <a:spcPts val="0"/>
              </a:spcBef>
              <a:buNone/>
            </a:pPr>
            <a:r>
              <a:rPr lang="en-IN" sz="2400" b="1" dirty="0"/>
              <a:t>num1 = list(str(num1))</a:t>
            </a:r>
          </a:p>
          <a:p>
            <a:pPr marL="0" indent="0">
              <a:spcBef>
                <a:spcPts val="0"/>
              </a:spcBef>
              <a:buNone/>
            </a:pPr>
            <a:r>
              <a:rPr lang="en-IN" sz="2400" b="1" dirty="0"/>
              <a:t>num1 = sorted(num1)</a:t>
            </a:r>
          </a:p>
          <a:p>
            <a:pPr marL="0" indent="0">
              <a:spcBef>
                <a:spcPts val="0"/>
              </a:spcBef>
              <a:buNone/>
            </a:pPr>
            <a:r>
              <a:rPr lang="en-IN" sz="2400" b="1" dirty="0"/>
              <a:t>perm = permutations(num1) </a:t>
            </a:r>
          </a:p>
          <a:p>
            <a:pPr marL="0" indent="0">
              <a:spcBef>
                <a:spcPts val="0"/>
              </a:spcBef>
              <a:buNone/>
            </a:pPr>
            <a:r>
              <a:rPr lang="en-IN" sz="2400" b="1" dirty="0">
                <a:solidFill>
                  <a:srgbClr val="FF0000"/>
                </a:solidFill>
              </a:rPr>
              <a:t>for </a:t>
            </a:r>
            <a:r>
              <a:rPr lang="en-IN" sz="2400" b="1" dirty="0" err="1">
                <a:solidFill>
                  <a:srgbClr val="FF0000"/>
                </a:solidFill>
              </a:rPr>
              <a:t>i</a:t>
            </a:r>
            <a:r>
              <a:rPr lang="en-IN" sz="2400" b="1" dirty="0">
                <a:solidFill>
                  <a:srgbClr val="FF0000"/>
                </a:solidFill>
              </a:rPr>
              <a:t> in list(perm):   </a:t>
            </a:r>
          </a:p>
          <a:p>
            <a:pPr marL="0" indent="0">
              <a:spcBef>
                <a:spcPts val="0"/>
              </a:spcBef>
              <a:buNone/>
            </a:pPr>
            <a:r>
              <a:rPr lang="en-IN" sz="2400" b="1" dirty="0">
                <a:solidFill>
                  <a:srgbClr val="FF0000"/>
                </a:solidFill>
              </a:rPr>
              <a:t>    string = " "    </a:t>
            </a:r>
          </a:p>
          <a:p>
            <a:pPr marL="0" indent="0">
              <a:spcBef>
                <a:spcPts val="0"/>
              </a:spcBef>
              <a:buNone/>
            </a:pPr>
            <a:r>
              <a:rPr lang="en-IN" sz="2400" b="1" dirty="0">
                <a:solidFill>
                  <a:srgbClr val="FF0000"/>
                </a:solidFill>
              </a:rPr>
              <a:t>    for j in i:</a:t>
            </a:r>
          </a:p>
          <a:p>
            <a:pPr marL="0" indent="0">
              <a:spcBef>
                <a:spcPts val="0"/>
              </a:spcBef>
              <a:buNone/>
            </a:pPr>
            <a:r>
              <a:rPr lang="en-IN" sz="2400" b="1" dirty="0">
                <a:solidFill>
                  <a:srgbClr val="FF0000"/>
                </a:solidFill>
              </a:rPr>
              <a:t>        string+=j  </a:t>
            </a:r>
          </a:p>
          <a:p>
            <a:pPr marL="0" indent="0">
              <a:spcBef>
                <a:spcPts val="0"/>
              </a:spcBef>
              <a:buNone/>
            </a:pPr>
            <a:r>
              <a:rPr lang="en-IN" sz="2400" b="1" dirty="0">
                <a:solidFill>
                  <a:srgbClr val="FF0000"/>
                </a:solidFill>
              </a:rPr>
              <a:t>    if int(string) &gt; num2:     </a:t>
            </a:r>
          </a:p>
          <a:p>
            <a:pPr marL="0" indent="0">
              <a:spcBef>
                <a:spcPts val="0"/>
              </a:spcBef>
              <a:buNone/>
            </a:pPr>
            <a:r>
              <a:rPr lang="en-IN" sz="2400" b="1" dirty="0">
                <a:solidFill>
                  <a:srgbClr val="FF0000"/>
                </a:solidFill>
              </a:rPr>
              <a:t>        flag = 1</a:t>
            </a:r>
          </a:p>
          <a:p>
            <a:pPr marL="0" indent="0">
              <a:spcBef>
                <a:spcPts val="0"/>
              </a:spcBef>
              <a:buNone/>
            </a:pPr>
            <a:r>
              <a:rPr lang="en-IN" sz="2400" b="1" dirty="0">
                <a:solidFill>
                  <a:srgbClr val="FF0000"/>
                </a:solidFill>
              </a:rPr>
              <a:t>        break</a:t>
            </a:r>
          </a:p>
          <a:p>
            <a:pPr marL="0" indent="0">
              <a:spcBef>
                <a:spcPts val="0"/>
              </a:spcBef>
              <a:buNone/>
            </a:pPr>
            <a:r>
              <a:rPr lang="en-IN" sz="2400" b="1" dirty="0"/>
              <a:t>if flag == 1:</a:t>
            </a:r>
          </a:p>
          <a:p>
            <a:pPr marL="0" indent="0">
              <a:spcBef>
                <a:spcPts val="0"/>
              </a:spcBef>
              <a:buNone/>
            </a:pPr>
            <a:r>
              <a:rPr lang="en-IN" sz="2400" b="1" dirty="0"/>
              <a:t>    print(string)</a:t>
            </a:r>
          </a:p>
          <a:p>
            <a:pPr marL="0" indent="0">
              <a:spcBef>
                <a:spcPts val="0"/>
              </a:spcBef>
              <a:buNone/>
            </a:pPr>
            <a:r>
              <a:rPr lang="en-IN" sz="2400" b="1" dirty="0"/>
              <a:t>else:</a:t>
            </a:r>
          </a:p>
          <a:p>
            <a:pPr marL="0" indent="0">
              <a:spcBef>
                <a:spcPts val="0"/>
              </a:spcBef>
              <a:buNone/>
            </a:pPr>
            <a:r>
              <a:rPr lang="en-IN" sz="2400" b="1" dirty="0"/>
              <a:t>    print(-1)</a:t>
            </a:r>
          </a:p>
          <a:p>
            <a:pPr marL="0" indent="0">
              <a:spcBef>
                <a:spcPts val="0"/>
              </a:spcBef>
              <a:buNone/>
            </a:pPr>
            <a:endParaRPr lang="en-IN" sz="2400" b="1" dirty="0"/>
          </a:p>
        </p:txBody>
      </p:sp>
    </p:spTree>
    <p:extLst>
      <p:ext uri="{BB962C8B-B14F-4D97-AF65-F5344CB8AC3E}">
        <p14:creationId xmlns:p14="http://schemas.microsoft.com/office/powerpoint/2010/main" val="1398688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CF76-EBBF-DF1E-4C54-5AFE591ADDFE}"/>
              </a:ext>
            </a:extLst>
          </p:cNvPr>
          <p:cNvSpPr>
            <a:spLocks noGrp="1"/>
          </p:cNvSpPr>
          <p:nvPr>
            <p:ph type="title"/>
          </p:nvPr>
        </p:nvSpPr>
        <p:spPr>
          <a:xfrm>
            <a:off x="838200" y="219075"/>
            <a:ext cx="10515600" cy="600075"/>
          </a:xfrm>
        </p:spPr>
        <p:txBody>
          <a:bodyPr>
            <a:normAutofit/>
          </a:bodyPr>
          <a:lstStyle/>
          <a:p>
            <a:r>
              <a:rPr lang="en-US" sz="3000" b="1" dirty="0">
                <a:solidFill>
                  <a:srgbClr val="FF0000"/>
                </a:solidFill>
                <a:latin typeface="+mn-lt"/>
              </a:rPr>
              <a:t>Problem Statement 3</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962025"/>
            <a:ext cx="10515600" cy="5214938"/>
          </a:xfrm>
        </p:spPr>
        <p:txBody>
          <a:bodyPr>
            <a:normAutofit fontScale="92500" lnSpcReduction="10000"/>
          </a:bodyPr>
          <a:lstStyle/>
          <a:p>
            <a:pPr algn="l">
              <a:buFont typeface="Wingdings" panose="05000000000000000000" pitchFamily="2" charset="2"/>
              <a:buChar char="Ø"/>
            </a:pPr>
            <a:r>
              <a:rPr lang="en-US" b="0" i="0" dirty="0">
                <a:solidFill>
                  <a:srgbClr val="343434"/>
                </a:solidFill>
                <a:effectLst/>
                <a:highlight>
                  <a:srgbClr val="FFFFFF"/>
                </a:highlight>
              </a:rPr>
              <a:t>Find the nth term of the series.</a:t>
            </a:r>
          </a:p>
          <a:p>
            <a:pPr marL="0" indent="0" algn="ctr">
              <a:buNone/>
            </a:pPr>
            <a:r>
              <a:rPr lang="en-US" b="1" i="0" dirty="0">
                <a:solidFill>
                  <a:srgbClr val="343434"/>
                </a:solidFill>
                <a:effectLst/>
                <a:highlight>
                  <a:srgbClr val="FFFFFF"/>
                </a:highlight>
              </a:rPr>
              <a:t>1, 1, 2, 3, 4, 9, 8, 27, 16, 81, 32, 243,64, 729, 128, 2187</a:t>
            </a:r>
            <a:r>
              <a:rPr lang="en-US" b="0" i="0" dirty="0">
                <a:solidFill>
                  <a:srgbClr val="343434"/>
                </a:solidFill>
                <a:effectLst/>
                <a:highlight>
                  <a:srgbClr val="FFFFFF"/>
                </a:highlight>
              </a:rPr>
              <a:t> ….</a:t>
            </a:r>
          </a:p>
          <a:p>
            <a:pPr algn="l">
              <a:buFont typeface="Wingdings" panose="05000000000000000000" pitchFamily="2" charset="2"/>
              <a:buChar char="Ø"/>
            </a:pPr>
            <a:r>
              <a:rPr lang="en-US" b="0" i="0" dirty="0">
                <a:solidFill>
                  <a:srgbClr val="343434"/>
                </a:solidFill>
                <a:effectLst/>
                <a:highlight>
                  <a:srgbClr val="FFFFFF"/>
                </a:highlight>
              </a:rPr>
              <a:t>This series is a mixture of 2 series – all the odd terms in this series form a geometric series and all the even terms form yet another geometric series. Write a program to find the Nth term in the series.</a:t>
            </a:r>
          </a:p>
          <a:p>
            <a:pPr algn="l">
              <a:buFont typeface="Wingdings" panose="05000000000000000000" pitchFamily="2" charset="2"/>
              <a:buChar char="Ø"/>
            </a:pPr>
            <a:r>
              <a:rPr lang="en-US" b="0" i="0" dirty="0">
                <a:solidFill>
                  <a:srgbClr val="343434"/>
                </a:solidFill>
                <a:effectLst/>
                <a:highlight>
                  <a:srgbClr val="FFFFFF"/>
                </a:highlight>
              </a:rPr>
              <a:t>The value N in a positive integer that should be read from STDIN.</a:t>
            </a:r>
          </a:p>
          <a:p>
            <a:pPr algn="l">
              <a:buFont typeface="Wingdings" panose="05000000000000000000" pitchFamily="2" charset="2"/>
              <a:buChar char="Ø"/>
            </a:pPr>
            <a:r>
              <a:rPr lang="en-US" b="0" i="0" dirty="0">
                <a:solidFill>
                  <a:srgbClr val="343434"/>
                </a:solidFill>
                <a:effectLst/>
                <a:highlight>
                  <a:srgbClr val="FFFFFF"/>
                </a:highlight>
              </a:rPr>
              <a:t>The Nth term that is calculated by the program should be written to STDOUT.</a:t>
            </a:r>
          </a:p>
          <a:p>
            <a:pPr algn="l">
              <a:buFont typeface="Wingdings" panose="05000000000000000000" pitchFamily="2" charset="2"/>
              <a:buChar char="Ø"/>
            </a:pPr>
            <a:r>
              <a:rPr lang="en-US" b="0" i="0" dirty="0">
                <a:solidFill>
                  <a:srgbClr val="343434"/>
                </a:solidFill>
                <a:effectLst/>
                <a:highlight>
                  <a:srgbClr val="FFFFFF"/>
                </a:highlight>
              </a:rPr>
              <a:t>Other than value of nth term, no other character / string or message should be written to STDOUT.</a:t>
            </a:r>
          </a:p>
          <a:p>
            <a:pPr algn="l">
              <a:buFont typeface="Wingdings" panose="05000000000000000000" pitchFamily="2" charset="2"/>
              <a:buChar char="Ø"/>
            </a:pPr>
            <a:r>
              <a:rPr lang="en-US" b="0" i="0" dirty="0">
                <a:solidFill>
                  <a:srgbClr val="343434"/>
                </a:solidFill>
                <a:effectLst/>
                <a:highlight>
                  <a:srgbClr val="FFFFFF"/>
                </a:highlight>
              </a:rPr>
              <a:t>For example , if N=16, the 16th term in the series is 2187, so only value 2187 should be printed to STDOUT.</a:t>
            </a:r>
          </a:p>
          <a:p>
            <a:pPr algn="l">
              <a:buFont typeface="Wingdings" panose="05000000000000000000" pitchFamily="2" charset="2"/>
              <a:buChar char="Ø"/>
            </a:pPr>
            <a:r>
              <a:rPr lang="en-US" b="0" i="0" dirty="0">
                <a:solidFill>
                  <a:srgbClr val="343434"/>
                </a:solidFill>
                <a:effectLst/>
                <a:highlight>
                  <a:srgbClr val="FFFFFF"/>
                </a:highlight>
              </a:rPr>
              <a:t>You can assume that N will not exceed 30.</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1128065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666750"/>
            <a:ext cx="10515600" cy="5510213"/>
          </a:xfrm>
        </p:spPr>
        <p:txBody>
          <a:bodyPr>
            <a:normAutofit/>
          </a:bodyPr>
          <a:lstStyle/>
          <a:p>
            <a:pPr marL="0" indent="0" algn="l">
              <a:buNone/>
            </a:pPr>
            <a:r>
              <a:rPr lang="en-US" sz="2600" b="1" i="0" dirty="0">
                <a:solidFill>
                  <a:srgbClr val="343434"/>
                </a:solidFill>
                <a:effectLst/>
                <a:highlight>
                  <a:srgbClr val="FFFFFF"/>
                </a:highlight>
              </a:rPr>
              <a:t>Test Case 1</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Input- 16</a:t>
            </a:r>
          </a:p>
          <a:p>
            <a:pPr marL="0" indent="0" algn="l">
              <a:buNone/>
            </a:pPr>
            <a:r>
              <a:rPr lang="en-US" sz="2600" b="0" i="0" dirty="0">
                <a:solidFill>
                  <a:srgbClr val="343434"/>
                </a:solidFill>
                <a:effectLst/>
                <a:highlight>
                  <a:srgbClr val="FFFFFF"/>
                </a:highlight>
              </a:rPr>
              <a:t>Expected Output – 2187</a:t>
            </a:r>
          </a:p>
          <a:p>
            <a:pPr marL="0" indent="0" algn="l">
              <a:buNone/>
            </a:pPr>
            <a:r>
              <a:rPr lang="en-US" sz="2600" b="1" i="0" dirty="0">
                <a:solidFill>
                  <a:srgbClr val="343434"/>
                </a:solidFill>
                <a:effectLst/>
                <a:highlight>
                  <a:srgbClr val="FFFFFF"/>
                </a:highlight>
              </a:rPr>
              <a:t>Test Case 2</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Input- 13</a:t>
            </a:r>
          </a:p>
          <a:p>
            <a:pPr marL="0" indent="0" algn="l">
              <a:buNone/>
            </a:pPr>
            <a:r>
              <a:rPr lang="en-US" sz="2600" b="0" i="0" dirty="0">
                <a:solidFill>
                  <a:srgbClr val="343434"/>
                </a:solidFill>
                <a:effectLst/>
                <a:highlight>
                  <a:srgbClr val="FFFFFF"/>
                </a:highlight>
              </a:rPr>
              <a:t>Expected Output – 64</a:t>
            </a:r>
          </a:p>
        </p:txBody>
      </p:sp>
    </p:spTree>
    <p:extLst>
      <p:ext uri="{BB962C8B-B14F-4D97-AF65-F5344CB8AC3E}">
        <p14:creationId xmlns:p14="http://schemas.microsoft.com/office/powerpoint/2010/main" val="43480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438150"/>
            <a:ext cx="10515600" cy="5738813"/>
          </a:xfrm>
        </p:spPr>
        <p:txBody>
          <a:bodyPr>
            <a:normAutofit/>
          </a:bodyPr>
          <a:lstStyle/>
          <a:p>
            <a:pPr marL="0" indent="0" algn="l">
              <a:buNone/>
            </a:pPr>
            <a:r>
              <a:rPr lang="en-US" sz="2600" b="1" i="0" dirty="0">
                <a:solidFill>
                  <a:srgbClr val="FF5C5C"/>
                </a:solidFill>
                <a:effectLst/>
                <a:highlight>
                  <a:srgbClr val="F5F5F5"/>
                </a:highlight>
              </a:rPr>
              <a:t>Explanation</a:t>
            </a:r>
          </a:p>
          <a:p>
            <a:pPr algn="l">
              <a:buFont typeface="Wingdings" panose="05000000000000000000" pitchFamily="2" charset="2"/>
              <a:buChar char="Ø"/>
            </a:pPr>
            <a:r>
              <a:rPr lang="en-US" sz="2600" b="0" i="0" dirty="0">
                <a:solidFill>
                  <a:srgbClr val="343434"/>
                </a:solidFill>
                <a:effectLst/>
                <a:highlight>
                  <a:srgbClr val="FFFFFF"/>
                </a:highlight>
              </a:rPr>
              <a:t>1, 1, 2, 3, 4, 9, 8, 27, 16, 81, 32, 243,64, 729, 128, 2187 can represented as :</a:t>
            </a:r>
          </a:p>
          <a:p>
            <a:pPr algn="l">
              <a:buFont typeface="Wingdings" panose="05000000000000000000" pitchFamily="2" charset="2"/>
              <a:buChar char="Ø"/>
            </a:pP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(0)</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(0)</a:t>
            </a: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(1)</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(1)</a:t>
            </a: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(2)</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(2)</a:t>
            </a: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(3)</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(3)</a:t>
            </a: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(4)</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(4)</a:t>
            </a: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(5)</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(5)</a:t>
            </a:r>
            <a:r>
              <a:rPr lang="en-US" sz="2600" b="0" i="0" dirty="0">
                <a:solidFill>
                  <a:srgbClr val="343434"/>
                </a:solidFill>
                <a:effectLst/>
                <a:highlight>
                  <a:srgbClr val="FFFFFF"/>
                </a:highlight>
              </a:rPr>
              <a:t>,2</a:t>
            </a:r>
            <a:r>
              <a:rPr lang="en-US" sz="2600" b="0" i="0" baseline="30000" dirty="0">
                <a:solidFill>
                  <a:srgbClr val="343434"/>
                </a:solidFill>
                <a:effectLst/>
                <a:highlight>
                  <a:srgbClr val="FFFFFF"/>
                </a:highlight>
              </a:rPr>
              <a:t>(6)</a:t>
            </a:r>
            <a:r>
              <a:rPr lang="en-US" sz="2600" b="0" i="0" dirty="0">
                <a:solidFill>
                  <a:srgbClr val="343434"/>
                </a:solidFill>
                <a:effectLst/>
                <a:highlight>
                  <a:srgbClr val="FFFFFF"/>
                </a:highlight>
              </a:rPr>
              <a:t>, 3</a:t>
            </a:r>
            <a:r>
              <a:rPr lang="en-US" sz="2600" b="0" i="0" baseline="30000" dirty="0">
                <a:solidFill>
                  <a:srgbClr val="343434"/>
                </a:solidFill>
                <a:effectLst/>
                <a:highlight>
                  <a:srgbClr val="FFFFFF"/>
                </a:highlight>
              </a:rPr>
              <a:t>(6) </a:t>
            </a:r>
            <a:r>
              <a:rPr lang="en-US" sz="2600" b="0" i="0" dirty="0">
                <a:solidFill>
                  <a:srgbClr val="343434"/>
                </a:solidFill>
                <a:effectLst/>
                <a:highlight>
                  <a:srgbClr val="FFFFFF"/>
                </a:highlight>
              </a:rPr>
              <a:t>….</a:t>
            </a:r>
          </a:p>
          <a:p>
            <a:pPr algn="l">
              <a:buFont typeface="Wingdings" panose="05000000000000000000" pitchFamily="2" charset="2"/>
              <a:buChar char="Ø"/>
            </a:pPr>
            <a:r>
              <a:rPr lang="en-US" sz="2600" b="0" i="0" dirty="0">
                <a:solidFill>
                  <a:srgbClr val="343434"/>
                </a:solidFill>
                <a:effectLst/>
                <a:highlight>
                  <a:srgbClr val="FFFFFF"/>
                </a:highlight>
              </a:rPr>
              <a:t>There are two consecutive sub GP’s at even and odd positions</a:t>
            </a:r>
          </a:p>
          <a:p>
            <a:pPr algn="l">
              <a:buFont typeface="Wingdings" panose="05000000000000000000" pitchFamily="2" charset="2"/>
              <a:buChar char="Ø"/>
            </a:pPr>
            <a:r>
              <a:rPr lang="en-US" sz="2600" b="1" i="0" dirty="0">
                <a:solidFill>
                  <a:srgbClr val="343434"/>
                </a:solidFill>
                <a:effectLst/>
                <a:highlight>
                  <a:srgbClr val="FFFFFF"/>
                </a:highlight>
              </a:rPr>
              <a:t>(GP-1) At Odd Positions (Powers of 2)</a:t>
            </a:r>
            <a:r>
              <a:rPr lang="en-US" sz="2600" b="0" i="0" dirty="0">
                <a:solidFill>
                  <a:srgbClr val="343434"/>
                </a:solidFill>
                <a:effectLst/>
                <a:highlight>
                  <a:srgbClr val="FFFFFF"/>
                </a:highlight>
              </a:rPr>
              <a:t> – 1, 2, 4, 8, 16, 32, 64, 128</a:t>
            </a:r>
          </a:p>
          <a:p>
            <a:pPr algn="l">
              <a:buFont typeface="Wingdings" panose="05000000000000000000" pitchFamily="2" charset="2"/>
              <a:buChar char="Ø"/>
            </a:pPr>
            <a:r>
              <a:rPr lang="en-US" sz="2600" b="1" i="0" dirty="0">
                <a:solidFill>
                  <a:srgbClr val="343434"/>
                </a:solidFill>
                <a:effectLst/>
                <a:highlight>
                  <a:srgbClr val="FFFFFF"/>
                </a:highlight>
              </a:rPr>
              <a:t>(GP-2) At Even Positions (Powers of 3) –</a:t>
            </a:r>
            <a:r>
              <a:rPr lang="en-US" sz="2600" b="0" i="0" dirty="0">
                <a:solidFill>
                  <a:srgbClr val="343434"/>
                </a:solidFill>
                <a:effectLst/>
                <a:highlight>
                  <a:srgbClr val="FFFFFF"/>
                </a:highlight>
              </a:rPr>
              <a:t> 1, 3, 9, 27, 81, 243, 729, 2187</a:t>
            </a:r>
          </a:p>
          <a:p>
            <a:pPr algn="l">
              <a:buFont typeface="Wingdings" panose="05000000000000000000" pitchFamily="2" charset="2"/>
              <a:buChar char="Ø"/>
            </a:pPr>
            <a:r>
              <a:rPr lang="en-US" sz="2600" b="0" i="0" dirty="0">
                <a:solidFill>
                  <a:srgbClr val="343434"/>
                </a:solidFill>
                <a:effectLst/>
                <a:highlight>
                  <a:srgbClr val="FFFFFF"/>
                </a:highlight>
              </a:rPr>
              <a:t>Clearly, for calculating Nth position value</a:t>
            </a:r>
          </a:p>
          <a:p>
            <a:pPr algn="l">
              <a:buFont typeface="Wingdings" panose="05000000000000000000" pitchFamily="2" charset="2"/>
              <a:buChar char="Ø"/>
            </a:pPr>
            <a:r>
              <a:rPr lang="en-US" sz="2600" b="0" i="0" dirty="0">
                <a:solidFill>
                  <a:srgbClr val="343434"/>
                </a:solidFill>
                <a:effectLst/>
                <a:highlight>
                  <a:srgbClr val="FFFFFF"/>
                </a:highlight>
              </a:rPr>
              <a:t>If N is Even, Find (N/2) position in sub GP – 2</a:t>
            </a:r>
          </a:p>
          <a:p>
            <a:pPr algn="l">
              <a:buFont typeface="Wingdings" panose="05000000000000000000" pitchFamily="2" charset="2"/>
              <a:buChar char="Ø"/>
            </a:pPr>
            <a:r>
              <a:rPr lang="en-US" sz="2600" b="0" i="0" dirty="0">
                <a:solidFill>
                  <a:srgbClr val="343434"/>
                </a:solidFill>
                <a:effectLst/>
                <a:highlight>
                  <a:srgbClr val="FFFFFF"/>
                </a:highlight>
              </a:rPr>
              <a:t>If N is Odd, Find (N/2 + 1) position in sub GP – 1</a:t>
            </a:r>
          </a:p>
          <a:p>
            <a:pPr>
              <a:buFont typeface="Wingdings" panose="05000000000000000000" pitchFamily="2" charset="2"/>
              <a:buChar char="Ø"/>
            </a:pPr>
            <a:endParaRPr lang="en-IN" sz="2600" dirty="0"/>
          </a:p>
        </p:txBody>
      </p:sp>
    </p:spTree>
    <p:extLst>
      <p:ext uri="{BB962C8B-B14F-4D97-AF65-F5344CB8AC3E}">
        <p14:creationId xmlns:p14="http://schemas.microsoft.com/office/powerpoint/2010/main" val="121477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437843"/>
            <a:ext cx="10515600" cy="5424488"/>
          </a:xfrm>
        </p:spPr>
        <p:txBody>
          <a:bodyPr>
            <a:normAutofit/>
          </a:bodyPr>
          <a:lstStyle/>
          <a:p>
            <a:pPr marL="0" indent="0">
              <a:buNone/>
            </a:pPr>
            <a:endParaRPr lang="pt-BR" sz="2600" b="1" dirty="0"/>
          </a:p>
          <a:p>
            <a:pPr marL="0" indent="0">
              <a:buNone/>
            </a:pPr>
            <a:endParaRPr lang="pt-BR" sz="2600" b="1" dirty="0"/>
          </a:p>
          <a:p>
            <a:pPr marL="0" indent="0">
              <a:buNone/>
            </a:pPr>
            <a:r>
              <a:rPr lang="pt-BR" sz="2600" b="1" dirty="0"/>
              <a:t>num = int(input())</a:t>
            </a:r>
          </a:p>
          <a:p>
            <a:pPr marL="0" indent="0">
              <a:buNone/>
            </a:pPr>
            <a:r>
              <a:rPr lang="pt-BR" sz="2600" b="1" dirty="0"/>
              <a:t>if(num%2==0):</a:t>
            </a:r>
          </a:p>
          <a:p>
            <a:pPr marL="0" indent="0">
              <a:buNone/>
            </a:pPr>
            <a:r>
              <a:rPr lang="pt-BR" sz="2600" b="1" dirty="0"/>
              <a:t>    num = num // 2</a:t>
            </a:r>
          </a:p>
          <a:p>
            <a:pPr marL="0" indent="0">
              <a:buNone/>
            </a:pPr>
            <a:r>
              <a:rPr lang="pt-BR" sz="2600" b="1" dirty="0"/>
              <a:t>    print(3**(num-1))</a:t>
            </a:r>
          </a:p>
          <a:p>
            <a:pPr marL="0" indent="0">
              <a:buNone/>
            </a:pPr>
            <a:r>
              <a:rPr lang="pt-BR" sz="2600" b="1" dirty="0"/>
              <a:t>else:</a:t>
            </a:r>
          </a:p>
          <a:p>
            <a:pPr marL="0" indent="0">
              <a:buNone/>
            </a:pPr>
            <a:r>
              <a:rPr lang="pt-BR" sz="2600" b="1" dirty="0"/>
              <a:t>    num = num // 2 + 1</a:t>
            </a:r>
          </a:p>
          <a:p>
            <a:pPr marL="0" indent="0">
              <a:buNone/>
            </a:pPr>
            <a:r>
              <a:rPr lang="pt-BR" sz="2600" b="1" dirty="0"/>
              <a:t>    print(2**(num-1))</a:t>
            </a:r>
          </a:p>
          <a:p>
            <a:pPr marL="0" indent="0">
              <a:buNone/>
            </a:pPr>
            <a:endParaRPr lang="en-IN" sz="2600" b="1" dirty="0"/>
          </a:p>
        </p:txBody>
      </p:sp>
    </p:spTree>
    <p:extLst>
      <p:ext uri="{BB962C8B-B14F-4D97-AF65-F5344CB8AC3E}">
        <p14:creationId xmlns:p14="http://schemas.microsoft.com/office/powerpoint/2010/main" val="3080494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838200" y="365125"/>
            <a:ext cx="10515600" cy="558800"/>
          </a:xfrm>
        </p:spPr>
        <p:txBody>
          <a:bodyPr>
            <a:noAutofit/>
          </a:bodyPr>
          <a:lstStyle/>
          <a:p>
            <a:r>
              <a:rPr lang="en-US" sz="3000" b="1" dirty="0">
                <a:solidFill>
                  <a:srgbClr val="FF0000"/>
                </a:solidFill>
                <a:latin typeface="+mn-lt"/>
              </a:rPr>
              <a:t>Problem Statement 4</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1266825"/>
            <a:ext cx="10515600" cy="4910138"/>
          </a:xfrm>
        </p:spPr>
        <p:txBody>
          <a:bodyPr>
            <a:normAutofit/>
          </a:bodyPr>
          <a:lstStyle/>
          <a:p>
            <a:pPr algn="l">
              <a:buFont typeface="Wingdings" panose="05000000000000000000" pitchFamily="2" charset="2"/>
              <a:buChar char="Ø"/>
            </a:pPr>
            <a:r>
              <a:rPr lang="en-US" sz="2600" b="0" i="0" dirty="0">
                <a:solidFill>
                  <a:srgbClr val="343434"/>
                </a:solidFill>
                <a:effectLst/>
                <a:highlight>
                  <a:srgbClr val="FFFFFF"/>
                </a:highlight>
              </a:rPr>
              <a:t>The program will receive 3 English words inputs from STDIN</a:t>
            </a:r>
          </a:p>
          <a:p>
            <a:pPr>
              <a:buFont typeface="Wingdings" panose="05000000000000000000" pitchFamily="2" charset="2"/>
              <a:buChar char="Ø"/>
            </a:pPr>
            <a:r>
              <a:rPr lang="en-US" sz="2600" b="0" i="0" dirty="0">
                <a:solidFill>
                  <a:srgbClr val="343434"/>
                </a:solidFill>
                <a:effectLst/>
                <a:highlight>
                  <a:srgbClr val="FFFFFF"/>
                </a:highlight>
              </a:rPr>
              <a:t>These three words will be read one at a time, in three separate line</a:t>
            </a:r>
          </a:p>
          <a:p>
            <a:pPr>
              <a:buFont typeface="Wingdings" panose="05000000000000000000" pitchFamily="2" charset="2"/>
              <a:buChar char="Ø"/>
            </a:pPr>
            <a:r>
              <a:rPr lang="en-US" sz="2600" b="0" i="0" dirty="0">
                <a:solidFill>
                  <a:srgbClr val="343434"/>
                </a:solidFill>
                <a:effectLst/>
                <a:highlight>
                  <a:srgbClr val="FFFFFF"/>
                </a:highlight>
              </a:rPr>
              <a:t>The first word should be changed like all vowels should be replaced by *</a:t>
            </a:r>
          </a:p>
          <a:p>
            <a:pPr>
              <a:buFont typeface="Wingdings" panose="05000000000000000000" pitchFamily="2" charset="2"/>
              <a:buChar char="Ø"/>
            </a:pPr>
            <a:r>
              <a:rPr lang="en-US" sz="2600" b="0" i="0" dirty="0">
                <a:solidFill>
                  <a:srgbClr val="343434"/>
                </a:solidFill>
                <a:effectLst/>
                <a:highlight>
                  <a:srgbClr val="FFFFFF"/>
                </a:highlight>
              </a:rPr>
              <a:t>The second word should be changed like all consonants should be replaced by @</a:t>
            </a:r>
          </a:p>
          <a:p>
            <a:pPr>
              <a:buFont typeface="Wingdings" panose="05000000000000000000" pitchFamily="2" charset="2"/>
              <a:buChar char="Ø"/>
            </a:pPr>
            <a:r>
              <a:rPr lang="en-US" sz="2600" b="0" i="0" dirty="0">
                <a:solidFill>
                  <a:srgbClr val="343434"/>
                </a:solidFill>
                <a:effectLst/>
                <a:highlight>
                  <a:srgbClr val="FFFFFF"/>
                </a:highlight>
              </a:rPr>
              <a:t>The third word should be changed like all char should be converted to upper case</a:t>
            </a:r>
          </a:p>
          <a:p>
            <a:pPr>
              <a:buFont typeface="Wingdings" panose="05000000000000000000" pitchFamily="2" charset="2"/>
              <a:buChar char="Ø"/>
            </a:pPr>
            <a:r>
              <a:rPr lang="en-US" sz="2600" b="0" i="0" dirty="0">
                <a:solidFill>
                  <a:srgbClr val="343434"/>
                </a:solidFill>
                <a:effectLst/>
                <a:highlight>
                  <a:srgbClr val="FFFFFF"/>
                </a:highlight>
              </a:rPr>
              <a:t>Then concatenate the three words and print them</a:t>
            </a:r>
          </a:p>
        </p:txBody>
      </p:sp>
    </p:spTree>
    <p:extLst>
      <p:ext uri="{BB962C8B-B14F-4D97-AF65-F5344CB8AC3E}">
        <p14:creationId xmlns:p14="http://schemas.microsoft.com/office/powerpoint/2010/main" val="3376398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809625"/>
            <a:ext cx="10515600" cy="5367338"/>
          </a:xfrm>
        </p:spPr>
        <p:txBody>
          <a:bodyPr>
            <a:noAutofit/>
          </a:bodyPr>
          <a:lstStyle/>
          <a:p>
            <a:pPr marL="0" indent="0" algn="l">
              <a:spcBef>
                <a:spcPts val="600"/>
              </a:spcBef>
              <a:buNone/>
            </a:pPr>
            <a:r>
              <a:rPr lang="en-US" sz="2600" b="1" i="0" dirty="0">
                <a:solidFill>
                  <a:srgbClr val="FF5C5C"/>
                </a:solidFill>
                <a:effectLst/>
                <a:highlight>
                  <a:srgbClr val="F5F5F5"/>
                </a:highlight>
              </a:rPr>
              <a:t>Test Cases</a:t>
            </a:r>
          </a:p>
          <a:p>
            <a:pPr marL="0" indent="0" algn="l">
              <a:spcBef>
                <a:spcPts val="600"/>
              </a:spcBef>
              <a:buNone/>
            </a:pPr>
            <a:r>
              <a:rPr lang="en-US" sz="2600" i="0" u="sng" dirty="0">
                <a:solidFill>
                  <a:srgbClr val="343434"/>
                </a:solidFill>
                <a:effectLst/>
                <a:highlight>
                  <a:srgbClr val="FFFFFF"/>
                </a:highlight>
              </a:rPr>
              <a:t>Case 1</a:t>
            </a:r>
          </a:p>
          <a:p>
            <a:pPr marL="0" indent="0" algn="l">
              <a:spcBef>
                <a:spcPts val="600"/>
              </a:spcBef>
              <a:buNone/>
            </a:pPr>
            <a:r>
              <a:rPr lang="en-US" sz="2600" b="1" i="0" dirty="0">
                <a:solidFill>
                  <a:srgbClr val="343434"/>
                </a:solidFill>
                <a:effectLst/>
                <a:highlight>
                  <a:srgbClr val="FFFFFF"/>
                </a:highlight>
              </a:rPr>
              <a:t>Input</a:t>
            </a:r>
            <a:endParaRPr lang="en-US" sz="2600" i="0" dirty="0">
              <a:solidFill>
                <a:srgbClr val="343434"/>
              </a:solidFill>
              <a:effectLst/>
              <a:highlight>
                <a:srgbClr val="FFFFFF"/>
              </a:highlight>
            </a:endParaRPr>
          </a:p>
          <a:p>
            <a:pPr marL="0" indent="0" algn="l">
              <a:spcBef>
                <a:spcPts val="600"/>
              </a:spcBef>
              <a:buNone/>
            </a:pPr>
            <a:r>
              <a:rPr lang="en-US" sz="2600" i="0" dirty="0">
                <a:solidFill>
                  <a:srgbClr val="343434"/>
                </a:solidFill>
                <a:effectLst/>
                <a:highlight>
                  <a:srgbClr val="FFFFFF"/>
                </a:highlight>
              </a:rPr>
              <a:t>how</a:t>
            </a:r>
          </a:p>
          <a:p>
            <a:pPr marL="0" indent="0" algn="l">
              <a:spcBef>
                <a:spcPts val="600"/>
              </a:spcBef>
              <a:buNone/>
            </a:pPr>
            <a:r>
              <a:rPr lang="en-US" sz="2600" i="0" dirty="0">
                <a:solidFill>
                  <a:srgbClr val="343434"/>
                </a:solidFill>
                <a:effectLst/>
                <a:highlight>
                  <a:srgbClr val="FFFFFF"/>
                </a:highlight>
              </a:rPr>
              <a:t>are</a:t>
            </a:r>
          </a:p>
          <a:p>
            <a:pPr marL="0" indent="0" algn="l">
              <a:spcBef>
                <a:spcPts val="600"/>
              </a:spcBef>
              <a:buNone/>
            </a:pPr>
            <a:r>
              <a:rPr lang="en-US" sz="2600" i="0" dirty="0">
                <a:solidFill>
                  <a:srgbClr val="343434"/>
                </a:solidFill>
                <a:effectLst/>
                <a:highlight>
                  <a:srgbClr val="FFFFFF"/>
                </a:highlight>
              </a:rPr>
              <a:t>you</a:t>
            </a:r>
          </a:p>
          <a:p>
            <a:pPr marL="0" indent="0" algn="l">
              <a:spcBef>
                <a:spcPts val="600"/>
              </a:spcBef>
              <a:buNone/>
            </a:pPr>
            <a:r>
              <a:rPr lang="en-US" sz="2600" b="1" i="0" dirty="0">
                <a:solidFill>
                  <a:srgbClr val="343434"/>
                </a:solidFill>
                <a:effectLst/>
                <a:highlight>
                  <a:srgbClr val="FFFFFF"/>
                </a:highlight>
              </a:rPr>
              <a:t>Expected Output :</a:t>
            </a:r>
            <a:r>
              <a:rPr lang="en-US" sz="2600" i="0" dirty="0">
                <a:solidFill>
                  <a:srgbClr val="343434"/>
                </a:solidFill>
                <a:effectLst/>
                <a:highlight>
                  <a:srgbClr val="FFFFFF"/>
                </a:highlight>
              </a:rPr>
              <a:t> h*</a:t>
            </a:r>
            <a:r>
              <a:rPr lang="en-US" sz="2600" i="0" dirty="0" err="1">
                <a:solidFill>
                  <a:srgbClr val="343434"/>
                </a:solidFill>
                <a:effectLst/>
                <a:highlight>
                  <a:srgbClr val="FFFFFF"/>
                </a:highlight>
              </a:rPr>
              <a:t>wa@eYOU</a:t>
            </a:r>
            <a:endParaRPr lang="en-US" sz="2600" i="0" dirty="0">
              <a:solidFill>
                <a:srgbClr val="343434"/>
              </a:solidFill>
              <a:effectLst/>
              <a:highlight>
                <a:srgbClr val="FFFFFF"/>
              </a:highlight>
            </a:endParaRPr>
          </a:p>
          <a:p>
            <a:pPr marL="0" indent="0" algn="l">
              <a:spcBef>
                <a:spcPts val="600"/>
              </a:spcBef>
              <a:buNone/>
            </a:pPr>
            <a:r>
              <a:rPr lang="en-US" sz="2600" i="0" u="sng" dirty="0">
                <a:solidFill>
                  <a:srgbClr val="343434"/>
                </a:solidFill>
                <a:effectLst/>
                <a:highlight>
                  <a:srgbClr val="FFFFFF"/>
                </a:highlight>
              </a:rPr>
              <a:t>Case 2</a:t>
            </a:r>
          </a:p>
          <a:p>
            <a:pPr marL="0" indent="0" algn="l">
              <a:spcBef>
                <a:spcPts val="600"/>
              </a:spcBef>
              <a:buNone/>
            </a:pPr>
            <a:r>
              <a:rPr lang="en-US" sz="2600" b="1" i="0" dirty="0">
                <a:solidFill>
                  <a:srgbClr val="343434"/>
                </a:solidFill>
                <a:effectLst/>
                <a:highlight>
                  <a:srgbClr val="FFFFFF"/>
                </a:highlight>
              </a:rPr>
              <a:t>Input</a:t>
            </a:r>
            <a:endParaRPr lang="en-US" sz="2600" i="0" dirty="0">
              <a:solidFill>
                <a:srgbClr val="343434"/>
              </a:solidFill>
              <a:effectLst/>
              <a:highlight>
                <a:srgbClr val="FFFFFF"/>
              </a:highlight>
            </a:endParaRPr>
          </a:p>
          <a:p>
            <a:pPr marL="0" indent="0" algn="l">
              <a:spcBef>
                <a:spcPts val="600"/>
              </a:spcBef>
              <a:buNone/>
            </a:pPr>
            <a:r>
              <a:rPr lang="en-US" sz="2600" i="0" dirty="0">
                <a:solidFill>
                  <a:srgbClr val="343434"/>
                </a:solidFill>
                <a:effectLst/>
                <a:highlight>
                  <a:srgbClr val="FFFFFF"/>
                </a:highlight>
              </a:rPr>
              <a:t>how</a:t>
            </a:r>
          </a:p>
          <a:p>
            <a:pPr marL="0" indent="0" algn="l">
              <a:spcBef>
                <a:spcPts val="600"/>
              </a:spcBef>
              <a:buNone/>
            </a:pPr>
            <a:r>
              <a:rPr lang="en-US" sz="2600" i="0" dirty="0">
                <a:solidFill>
                  <a:srgbClr val="343434"/>
                </a:solidFill>
                <a:effectLst/>
                <a:highlight>
                  <a:srgbClr val="FFFFFF"/>
                </a:highlight>
              </a:rPr>
              <a:t>999</a:t>
            </a:r>
          </a:p>
          <a:p>
            <a:pPr marL="0" indent="0" algn="l">
              <a:spcBef>
                <a:spcPts val="600"/>
              </a:spcBef>
              <a:buNone/>
            </a:pPr>
            <a:r>
              <a:rPr lang="en-US" sz="2600" i="0" dirty="0">
                <a:solidFill>
                  <a:srgbClr val="343434"/>
                </a:solidFill>
                <a:effectLst/>
                <a:highlight>
                  <a:srgbClr val="FFFFFF"/>
                </a:highlight>
              </a:rPr>
              <a:t>you</a:t>
            </a:r>
          </a:p>
          <a:p>
            <a:pPr marL="0" indent="0" algn="l">
              <a:spcBef>
                <a:spcPts val="600"/>
              </a:spcBef>
              <a:buNone/>
            </a:pPr>
            <a:r>
              <a:rPr lang="en-US" sz="2600" b="1" i="0" dirty="0">
                <a:solidFill>
                  <a:srgbClr val="343434"/>
                </a:solidFill>
                <a:effectLst/>
                <a:highlight>
                  <a:srgbClr val="FFFFFF"/>
                </a:highlight>
              </a:rPr>
              <a:t>Expected Output :</a:t>
            </a:r>
            <a:r>
              <a:rPr lang="en-US" sz="2600" i="0" dirty="0">
                <a:solidFill>
                  <a:srgbClr val="343434"/>
                </a:solidFill>
                <a:effectLst/>
                <a:highlight>
                  <a:srgbClr val="FFFFFF"/>
                </a:highlight>
              </a:rPr>
              <a:t> h*w999YOU</a:t>
            </a:r>
          </a:p>
          <a:p>
            <a:pPr marL="0" indent="0">
              <a:spcBef>
                <a:spcPts val="600"/>
              </a:spcBef>
              <a:buNone/>
            </a:pPr>
            <a:endParaRPr lang="en-IN" sz="2600" dirty="0"/>
          </a:p>
        </p:txBody>
      </p:sp>
    </p:spTree>
    <p:extLst>
      <p:ext uri="{BB962C8B-B14F-4D97-AF65-F5344CB8AC3E}">
        <p14:creationId xmlns:p14="http://schemas.microsoft.com/office/powerpoint/2010/main" val="567134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DF9178-BDBB-EF6C-ED09-E604CD2A6245}"/>
              </a:ext>
            </a:extLst>
          </p:cNvPr>
          <p:cNvSpPr>
            <a:spLocks noGrp="1"/>
          </p:cNvSpPr>
          <p:nvPr>
            <p:ph idx="1"/>
          </p:nvPr>
        </p:nvSpPr>
        <p:spPr>
          <a:xfrm>
            <a:off x="838200" y="0"/>
            <a:ext cx="10515600" cy="6858000"/>
          </a:xfrm>
        </p:spPr>
        <p:txBody>
          <a:bodyPr>
            <a:noAutofit/>
          </a:bodyPr>
          <a:lstStyle/>
          <a:p>
            <a:pPr marL="0" indent="0">
              <a:spcBef>
                <a:spcPts val="0"/>
              </a:spcBef>
              <a:buNone/>
            </a:pPr>
            <a:r>
              <a:rPr lang="en-IN" sz="1800" b="1" dirty="0"/>
              <a:t>def </a:t>
            </a:r>
            <a:r>
              <a:rPr lang="en-IN" sz="1800" b="1" dirty="0" err="1"/>
              <a:t>replace_vowels_with_at</a:t>
            </a:r>
            <a:r>
              <a:rPr lang="en-IN" sz="1800" b="1" dirty="0"/>
              <a:t>(string):</a:t>
            </a:r>
          </a:p>
          <a:p>
            <a:pPr marL="0" indent="0">
              <a:spcBef>
                <a:spcPts val="0"/>
              </a:spcBef>
              <a:buNone/>
            </a:pPr>
            <a:r>
              <a:rPr lang="en-IN" sz="1800" b="1" dirty="0">
                <a:solidFill>
                  <a:srgbClr val="FF0000"/>
                </a:solidFill>
              </a:rPr>
              <a:t>    vowels = '</a:t>
            </a:r>
            <a:r>
              <a:rPr lang="en-IN" sz="1800" b="1" dirty="0" err="1">
                <a:solidFill>
                  <a:srgbClr val="FF0000"/>
                </a:solidFill>
              </a:rPr>
              <a:t>aeiouAEIOU</a:t>
            </a:r>
            <a:r>
              <a:rPr lang="en-IN" sz="1800" b="1" dirty="0">
                <a:solidFill>
                  <a:srgbClr val="FF0000"/>
                </a:solidFill>
              </a:rPr>
              <a:t>'</a:t>
            </a:r>
          </a:p>
          <a:p>
            <a:pPr marL="0" indent="0">
              <a:spcBef>
                <a:spcPts val="0"/>
              </a:spcBef>
              <a:buNone/>
            </a:pPr>
            <a:r>
              <a:rPr lang="en-IN" sz="1800" b="1" dirty="0">
                <a:solidFill>
                  <a:srgbClr val="FF0000"/>
                </a:solidFill>
              </a:rPr>
              <a:t>    result = ''</a:t>
            </a:r>
          </a:p>
          <a:p>
            <a:pPr marL="0" indent="0">
              <a:spcBef>
                <a:spcPts val="0"/>
              </a:spcBef>
              <a:buNone/>
            </a:pPr>
            <a:r>
              <a:rPr lang="en-IN" sz="1800" b="1" dirty="0">
                <a:solidFill>
                  <a:srgbClr val="FF0000"/>
                </a:solidFill>
              </a:rPr>
              <a:t>    for char in string:</a:t>
            </a:r>
          </a:p>
          <a:p>
            <a:pPr marL="0" indent="0">
              <a:spcBef>
                <a:spcPts val="0"/>
              </a:spcBef>
              <a:buNone/>
            </a:pPr>
            <a:r>
              <a:rPr lang="en-IN" sz="1800" b="1" dirty="0">
                <a:solidFill>
                  <a:srgbClr val="FF0000"/>
                </a:solidFill>
              </a:rPr>
              <a:t>        if char in vowels:</a:t>
            </a:r>
          </a:p>
          <a:p>
            <a:pPr marL="0" indent="0">
              <a:spcBef>
                <a:spcPts val="0"/>
              </a:spcBef>
              <a:buNone/>
            </a:pPr>
            <a:r>
              <a:rPr lang="en-IN" sz="1800" b="1" dirty="0">
                <a:solidFill>
                  <a:srgbClr val="FF0000"/>
                </a:solidFill>
              </a:rPr>
              <a:t>            result += '*'</a:t>
            </a:r>
          </a:p>
          <a:p>
            <a:pPr marL="0" indent="0">
              <a:spcBef>
                <a:spcPts val="0"/>
              </a:spcBef>
              <a:buNone/>
            </a:pPr>
            <a:r>
              <a:rPr lang="en-IN" sz="1800" b="1" dirty="0">
                <a:solidFill>
                  <a:srgbClr val="FF0000"/>
                </a:solidFill>
              </a:rPr>
              <a:t>        else:</a:t>
            </a:r>
          </a:p>
          <a:p>
            <a:pPr marL="0" indent="0">
              <a:spcBef>
                <a:spcPts val="0"/>
              </a:spcBef>
              <a:buNone/>
            </a:pPr>
            <a:r>
              <a:rPr lang="en-IN" sz="1800" b="1" dirty="0">
                <a:solidFill>
                  <a:srgbClr val="FF0000"/>
                </a:solidFill>
              </a:rPr>
              <a:t>            result += char</a:t>
            </a:r>
          </a:p>
          <a:p>
            <a:pPr marL="0" indent="0">
              <a:spcBef>
                <a:spcPts val="0"/>
              </a:spcBef>
              <a:buNone/>
            </a:pPr>
            <a:r>
              <a:rPr lang="en-IN" sz="1800" b="1" dirty="0">
                <a:solidFill>
                  <a:srgbClr val="FF0000"/>
                </a:solidFill>
              </a:rPr>
              <a:t>    return result</a:t>
            </a:r>
          </a:p>
          <a:p>
            <a:pPr marL="0" indent="0">
              <a:spcBef>
                <a:spcPts val="0"/>
              </a:spcBef>
              <a:buNone/>
            </a:pPr>
            <a:r>
              <a:rPr lang="en-IN" sz="1800" b="1" dirty="0"/>
              <a:t>a="hello"</a:t>
            </a:r>
          </a:p>
          <a:p>
            <a:pPr marL="0" indent="0">
              <a:spcBef>
                <a:spcPts val="0"/>
              </a:spcBef>
              <a:buNone/>
            </a:pPr>
            <a:r>
              <a:rPr lang="en-IN" sz="1800" b="1" dirty="0"/>
              <a:t>a=</a:t>
            </a:r>
            <a:r>
              <a:rPr lang="en-IN" sz="1800" b="1" dirty="0" err="1"/>
              <a:t>replace_vowels_with_at</a:t>
            </a:r>
            <a:r>
              <a:rPr lang="en-IN" sz="1800" b="1" dirty="0"/>
              <a:t>(a)</a:t>
            </a:r>
          </a:p>
          <a:p>
            <a:pPr marL="0" indent="0">
              <a:spcBef>
                <a:spcPts val="0"/>
              </a:spcBef>
              <a:buNone/>
            </a:pPr>
            <a:r>
              <a:rPr lang="en-IN" sz="1800" b="1" dirty="0"/>
              <a:t>def </a:t>
            </a:r>
            <a:r>
              <a:rPr lang="en-IN" sz="1800" b="1" dirty="0" err="1"/>
              <a:t>replace_consonants_with_at</a:t>
            </a:r>
            <a:r>
              <a:rPr lang="en-IN" sz="1800" b="1" dirty="0"/>
              <a:t>(string):</a:t>
            </a:r>
          </a:p>
          <a:p>
            <a:pPr marL="0" indent="0">
              <a:spcBef>
                <a:spcPts val="0"/>
              </a:spcBef>
              <a:buNone/>
            </a:pPr>
            <a:r>
              <a:rPr lang="en-IN" sz="1800" b="1" dirty="0">
                <a:solidFill>
                  <a:srgbClr val="00B050"/>
                </a:solidFill>
              </a:rPr>
              <a:t>    consonants = '</a:t>
            </a:r>
            <a:r>
              <a:rPr lang="en-IN" sz="1800" b="1" dirty="0" err="1">
                <a:solidFill>
                  <a:srgbClr val="00B050"/>
                </a:solidFill>
              </a:rPr>
              <a:t>bcdfghjklmnpqrstvwxyzBCDFGHJKLMNPQRSTVWXYZ</a:t>
            </a:r>
            <a:r>
              <a:rPr lang="en-IN" sz="1800" b="1" dirty="0">
                <a:solidFill>
                  <a:srgbClr val="00B050"/>
                </a:solidFill>
              </a:rPr>
              <a:t>'</a:t>
            </a:r>
          </a:p>
          <a:p>
            <a:pPr marL="0" indent="0">
              <a:spcBef>
                <a:spcPts val="0"/>
              </a:spcBef>
              <a:buNone/>
            </a:pPr>
            <a:r>
              <a:rPr lang="en-IN" sz="1800" b="1" dirty="0">
                <a:solidFill>
                  <a:srgbClr val="00B050"/>
                </a:solidFill>
              </a:rPr>
              <a:t>    result = ''</a:t>
            </a:r>
          </a:p>
          <a:p>
            <a:pPr marL="0" indent="0">
              <a:spcBef>
                <a:spcPts val="0"/>
              </a:spcBef>
              <a:buNone/>
            </a:pPr>
            <a:r>
              <a:rPr lang="en-IN" sz="1800" b="1" dirty="0">
                <a:solidFill>
                  <a:srgbClr val="00B050"/>
                </a:solidFill>
              </a:rPr>
              <a:t>    for char in string:</a:t>
            </a:r>
          </a:p>
          <a:p>
            <a:pPr marL="0" indent="0">
              <a:spcBef>
                <a:spcPts val="0"/>
              </a:spcBef>
              <a:buNone/>
            </a:pPr>
            <a:r>
              <a:rPr lang="en-IN" sz="1800" b="1" dirty="0">
                <a:solidFill>
                  <a:srgbClr val="00B050"/>
                </a:solidFill>
              </a:rPr>
              <a:t>        if char in consonants:</a:t>
            </a:r>
          </a:p>
          <a:p>
            <a:pPr marL="0" indent="0">
              <a:spcBef>
                <a:spcPts val="0"/>
              </a:spcBef>
              <a:buNone/>
            </a:pPr>
            <a:r>
              <a:rPr lang="en-IN" sz="1800" b="1" dirty="0">
                <a:solidFill>
                  <a:srgbClr val="00B050"/>
                </a:solidFill>
              </a:rPr>
              <a:t>            result += '@'</a:t>
            </a:r>
          </a:p>
          <a:p>
            <a:pPr marL="0" indent="0">
              <a:spcBef>
                <a:spcPts val="0"/>
              </a:spcBef>
              <a:buNone/>
            </a:pPr>
            <a:r>
              <a:rPr lang="en-IN" sz="1800" b="1" dirty="0">
                <a:solidFill>
                  <a:srgbClr val="00B050"/>
                </a:solidFill>
              </a:rPr>
              <a:t>        else:</a:t>
            </a:r>
          </a:p>
          <a:p>
            <a:pPr marL="0" indent="0">
              <a:spcBef>
                <a:spcPts val="0"/>
              </a:spcBef>
              <a:buNone/>
            </a:pPr>
            <a:r>
              <a:rPr lang="en-IN" sz="1800" b="1" dirty="0">
                <a:solidFill>
                  <a:srgbClr val="00B050"/>
                </a:solidFill>
              </a:rPr>
              <a:t>            result += char</a:t>
            </a:r>
          </a:p>
          <a:p>
            <a:pPr marL="0" indent="0">
              <a:spcBef>
                <a:spcPts val="0"/>
              </a:spcBef>
              <a:buNone/>
            </a:pPr>
            <a:r>
              <a:rPr lang="en-IN" sz="1800" b="1" dirty="0">
                <a:solidFill>
                  <a:srgbClr val="00B050"/>
                </a:solidFill>
              </a:rPr>
              <a:t>    return result</a:t>
            </a:r>
          </a:p>
          <a:p>
            <a:pPr marL="0" indent="0">
              <a:spcBef>
                <a:spcPts val="0"/>
              </a:spcBef>
              <a:buNone/>
            </a:pPr>
            <a:r>
              <a:rPr lang="en-IN" sz="1800" b="1" dirty="0"/>
              <a:t>b="hello"</a:t>
            </a:r>
          </a:p>
          <a:p>
            <a:pPr marL="0" indent="0">
              <a:spcBef>
                <a:spcPts val="0"/>
              </a:spcBef>
              <a:buNone/>
            </a:pPr>
            <a:r>
              <a:rPr lang="en-IN" sz="1800" b="1" dirty="0"/>
              <a:t>b=</a:t>
            </a:r>
            <a:r>
              <a:rPr lang="en-IN" sz="1800" b="1" dirty="0" err="1"/>
              <a:t>replace_consonants_with_at</a:t>
            </a:r>
            <a:r>
              <a:rPr lang="en-IN" sz="1800" b="1" dirty="0"/>
              <a:t>(b)</a:t>
            </a:r>
          </a:p>
          <a:p>
            <a:pPr marL="0" indent="0">
              <a:spcBef>
                <a:spcPts val="0"/>
              </a:spcBef>
              <a:buNone/>
            </a:pPr>
            <a:r>
              <a:rPr lang="en-IN" sz="1800" b="1" dirty="0"/>
              <a:t>def </a:t>
            </a:r>
            <a:r>
              <a:rPr lang="en-IN" sz="1800" b="1" dirty="0" err="1"/>
              <a:t>convert_to_uppercase</a:t>
            </a:r>
            <a:r>
              <a:rPr lang="en-IN" sz="1800" b="1" dirty="0"/>
              <a:t>(string):</a:t>
            </a:r>
          </a:p>
          <a:p>
            <a:pPr marL="0" indent="0">
              <a:spcBef>
                <a:spcPts val="0"/>
              </a:spcBef>
              <a:buNone/>
            </a:pPr>
            <a:r>
              <a:rPr lang="en-IN" sz="1800" b="1" dirty="0"/>
              <a:t>    return </a:t>
            </a:r>
            <a:r>
              <a:rPr lang="en-IN" sz="1800" b="1" dirty="0" err="1"/>
              <a:t>string.upper</a:t>
            </a:r>
            <a:r>
              <a:rPr lang="en-IN" sz="1800" b="1" dirty="0"/>
              <a:t>()</a:t>
            </a:r>
          </a:p>
          <a:p>
            <a:pPr marL="0" indent="0">
              <a:spcBef>
                <a:spcPts val="0"/>
              </a:spcBef>
              <a:buNone/>
            </a:pPr>
            <a:r>
              <a:rPr lang="en-IN" sz="1800" b="1" dirty="0"/>
              <a:t>c="hello"</a:t>
            </a:r>
          </a:p>
          <a:p>
            <a:pPr marL="0" indent="0">
              <a:spcBef>
                <a:spcPts val="0"/>
              </a:spcBef>
              <a:buNone/>
            </a:pPr>
            <a:r>
              <a:rPr lang="en-IN" sz="1800" b="1" dirty="0"/>
              <a:t>c=</a:t>
            </a:r>
            <a:r>
              <a:rPr lang="en-IN" sz="1800" b="1" dirty="0" err="1"/>
              <a:t>convert_to_uppercase</a:t>
            </a:r>
            <a:r>
              <a:rPr lang="en-IN" sz="1800" b="1" dirty="0"/>
              <a:t>(b)</a:t>
            </a:r>
          </a:p>
          <a:p>
            <a:pPr marL="0" indent="0">
              <a:spcBef>
                <a:spcPts val="0"/>
              </a:spcBef>
              <a:buNone/>
            </a:pPr>
            <a:r>
              <a:rPr lang="en-IN" sz="1800" b="1" dirty="0"/>
              <a:t>print(</a:t>
            </a:r>
            <a:r>
              <a:rPr lang="en-IN" sz="1800" b="1" dirty="0" err="1"/>
              <a:t>a+b+c</a:t>
            </a:r>
            <a:r>
              <a:rPr lang="en-IN" sz="1800" b="1" dirty="0"/>
              <a:t>)</a:t>
            </a:r>
          </a:p>
        </p:txBody>
      </p:sp>
    </p:spTree>
    <p:extLst>
      <p:ext uri="{BB962C8B-B14F-4D97-AF65-F5344CB8AC3E}">
        <p14:creationId xmlns:p14="http://schemas.microsoft.com/office/powerpoint/2010/main" val="3808656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628650"/>
            <a:ext cx="10515600" cy="5548313"/>
          </a:xfrm>
        </p:spPr>
        <p:txBody>
          <a:bodyPr>
            <a:normAutofit fontScale="92500" lnSpcReduction="10000"/>
          </a:bodyPr>
          <a:lstStyle/>
          <a:p>
            <a:pPr marL="0" indent="0">
              <a:buNone/>
            </a:pPr>
            <a:r>
              <a:rPr lang="en-IN" b="1" dirty="0"/>
              <a:t>import string</a:t>
            </a:r>
          </a:p>
          <a:p>
            <a:pPr marL="0" indent="0">
              <a:buNone/>
            </a:pPr>
            <a:endParaRPr lang="en-IN" b="1" dirty="0"/>
          </a:p>
          <a:p>
            <a:pPr marL="0" indent="0">
              <a:buNone/>
            </a:pPr>
            <a:r>
              <a:rPr lang="en-IN" b="1" dirty="0"/>
              <a:t>a = input()</a:t>
            </a:r>
          </a:p>
          <a:p>
            <a:pPr marL="0" indent="0">
              <a:buNone/>
            </a:pPr>
            <a:r>
              <a:rPr lang="en-IN" b="1" dirty="0"/>
              <a:t>b = input()</a:t>
            </a:r>
          </a:p>
          <a:p>
            <a:pPr marL="0" indent="0">
              <a:buNone/>
            </a:pPr>
            <a:r>
              <a:rPr lang="en-IN" b="1" dirty="0"/>
              <a:t>c = input()</a:t>
            </a:r>
          </a:p>
          <a:p>
            <a:pPr marL="0" indent="0">
              <a:buNone/>
            </a:pPr>
            <a:endParaRPr lang="en-IN" b="1" dirty="0"/>
          </a:p>
          <a:p>
            <a:pPr marL="0" indent="0">
              <a:buNone/>
            </a:pPr>
            <a:r>
              <a:rPr lang="en-IN" b="1" dirty="0"/>
              <a:t>a = ''.join(['*' if char in '</a:t>
            </a:r>
            <a:r>
              <a:rPr lang="en-IN" b="1" dirty="0" err="1"/>
              <a:t>aeiouAEIOU</a:t>
            </a:r>
            <a:r>
              <a:rPr lang="en-IN" b="1" dirty="0"/>
              <a:t>' else char for char in a])</a:t>
            </a:r>
          </a:p>
          <a:p>
            <a:pPr marL="0" indent="0">
              <a:buNone/>
            </a:pPr>
            <a:r>
              <a:rPr lang="en-IN" b="1" dirty="0"/>
              <a:t>b = ''.join(['@' if </a:t>
            </a:r>
            <a:r>
              <a:rPr lang="en-IN" b="1" dirty="0" err="1"/>
              <a:t>char.isalpha</a:t>
            </a:r>
            <a:r>
              <a:rPr lang="en-IN" b="1" dirty="0"/>
              <a:t>() and </a:t>
            </a:r>
            <a:r>
              <a:rPr lang="en-IN" b="1" dirty="0" err="1"/>
              <a:t>char.lower</a:t>
            </a:r>
            <a:r>
              <a:rPr lang="en-IN" b="1" dirty="0"/>
              <a:t>() not in '</a:t>
            </a:r>
            <a:r>
              <a:rPr lang="en-IN" b="1" dirty="0" err="1"/>
              <a:t>aeiou</a:t>
            </a:r>
            <a:r>
              <a:rPr lang="en-IN" b="1" dirty="0"/>
              <a:t>' else char for char in b])</a:t>
            </a:r>
          </a:p>
          <a:p>
            <a:pPr marL="0" indent="0">
              <a:buNone/>
            </a:pPr>
            <a:r>
              <a:rPr lang="en-IN" b="1" dirty="0"/>
              <a:t>c = ''.join([</a:t>
            </a:r>
            <a:r>
              <a:rPr lang="en-IN" b="1" dirty="0" err="1"/>
              <a:t>char.upper</a:t>
            </a:r>
            <a:r>
              <a:rPr lang="en-IN" b="1" dirty="0"/>
              <a:t>() if </a:t>
            </a:r>
            <a:r>
              <a:rPr lang="en-IN" b="1" dirty="0" err="1"/>
              <a:t>char.islower</a:t>
            </a:r>
            <a:r>
              <a:rPr lang="en-IN" b="1" dirty="0"/>
              <a:t>() else char for char in c])</a:t>
            </a:r>
          </a:p>
          <a:p>
            <a:pPr marL="0" indent="0">
              <a:buNone/>
            </a:pPr>
            <a:endParaRPr lang="en-IN" b="1" dirty="0"/>
          </a:p>
          <a:p>
            <a:pPr marL="0" indent="0">
              <a:buNone/>
            </a:pPr>
            <a:r>
              <a:rPr lang="en-IN" b="1" dirty="0"/>
              <a:t>print(a + b + c)</a:t>
            </a:r>
          </a:p>
          <a:p>
            <a:pPr marL="0" indent="0">
              <a:buNone/>
            </a:pPr>
            <a:endParaRPr lang="en-IN" b="1" dirty="0"/>
          </a:p>
          <a:p>
            <a:pPr marL="0" indent="0">
              <a:buNone/>
            </a:pPr>
            <a:endParaRPr lang="en-IN" b="1" dirty="0"/>
          </a:p>
        </p:txBody>
      </p:sp>
    </p:spTree>
    <p:extLst>
      <p:ext uri="{BB962C8B-B14F-4D97-AF65-F5344CB8AC3E}">
        <p14:creationId xmlns:p14="http://schemas.microsoft.com/office/powerpoint/2010/main" val="2302158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838200" y="228601"/>
            <a:ext cx="10515600" cy="571500"/>
          </a:xfrm>
        </p:spPr>
        <p:txBody>
          <a:bodyPr>
            <a:normAutofit/>
          </a:bodyPr>
          <a:lstStyle/>
          <a:p>
            <a:r>
              <a:rPr lang="en-US" sz="3000" b="1" dirty="0">
                <a:solidFill>
                  <a:srgbClr val="FF0000"/>
                </a:solidFill>
                <a:latin typeface="+mn-lt"/>
              </a:rPr>
              <a:t>Problem Statement 5</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1000125"/>
            <a:ext cx="10515600" cy="5176838"/>
          </a:xfrm>
        </p:spPr>
        <p:txBody>
          <a:bodyPr>
            <a:normAutofit/>
          </a:bodyPr>
          <a:lstStyle/>
          <a:p>
            <a:pPr marL="0" indent="0" algn="l">
              <a:buNone/>
            </a:pPr>
            <a:r>
              <a:rPr lang="en-US" sz="2600" b="1" i="0" dirty="0">
                <a:solidFill>
                  <a:srgbClr val="343434"/>
                </a:solidFill>
                <a:effectLst/>
                <a:highlight>
                  <a:srgbClr val="FFFFFF"/>
                </a:highlight>
              </a:rPr>
              <a:t>Consider the below series :</a:t>
            </a:r>
            <a:endParaRPr lang="en-US" sz="2600" i="0" dirty="0">
              <a:solidFill>
                <a:srgbClr val="343434"/>
              </a:solidFill>
              <a:effectLst/>
              <a:highlight>
                <a:srgbClr val="FFFFFF"/>
              </a:highlight>
            </a:endParaRPr>
          </a:p>
          <a:p>
            <a:pPr marL="0" indent="0" algn="ctr">
              <a:buNone/>
            </a:pPr>
            <a:r>
              <a:rPr lang="en-US" sz="2600" b="1" i="0" dirty="0">
                <a:solidFill>
                  <a:srgbClr val="343434"/>
                </a:solidFill>
                <a:effectLst/>
                <a:highlight>
                  <a:srgbClr val="FFFFFF"/>
                </a:highlight>
              </a:rPr>
              <a:t>0,0,2,1,4,2,6,3,8,4,10,5,12,6,14,7,16,8</a:t>
            </a:r>
          </a:p>
          <a:p>
            <a:pPr algn="l">
              <a:buFont typeface="Arial" panose="020B0604020202020204" pitchFamily="34" charset="0"/>
              <a:buChar char="•"/>
            </a:pPr>
            <a:r>
              <a:rPr lang="en-US" sz="2600" i="0" dirty="0">
                <a:solidFill>
                  <a:srgbClr val="343434"/>
                </a:solidFill>
                <a:effectLst/>
                <a:highlight>
                  <a:srgbClr val="FFFFFF"/>
                </a:highlight>
              </a:rPr>
              <a:t>This series is a mixture of 2 series all the odd terms in this series form even numbers in ascending order</a:t>
            </a:r>
          </a:p>
          <a:p>
            <a:pPr algn="l">
              <a:buFont typeface="Arial" panose="020B0604020202020204" pitchFamily="34" charset="0"/>
              <a:buChar char="•"/>
            </a:pPr>
            <a:r>
              <a:rPr lang="en-US" sz="2600" i="0" dirty="0">
                <a:solidFill>
                  <a:srgbClr val="343434"/>
                </a:solidFill>
                <a:effectLst/>
                <a:highlight>
                  <a:srgbClr val="FFFFFF"/>
                </a:highlight>
              </a:rPr>
              <a:t>Every even terms is derived from the previous  term using the formula (x/2)</a:t>
            </a:r>
          </a:p>
          <a:p>
            <a:pPr marL="0" indent="0" algn="l">
              <a:buNone/>
            </a:pPr>
            <a:r>
              <a:rPr lang="en-US" sz="2600" b="1" i="0" dirty="0">
                <a:solidFill>
                  <a:srgbClr val="343434"/>
                </a:solidFill>
                <a:effectLst/>
                <a:highlight>
                  <a:srgbClr val="FFFFFF"/>
                </a:highlight>
              </a:rPr>
              <a:t>Write a program to find the nth term in this series.</a:t>
            </a:r>
            <a:endParaRPr lang="en-US" sz="2600" i="0" dirty="0">
              <a:solidFill>
                <a:srgbClr val="343434"/>
              </a:solidFill>
              <a:effectLst/>
              <a:highlight>
                <a:srgbClr val="FFFFFF"/>
              </a:highlight>
            </a:endParaRPr>
          </a:p>
          <a:p>
            <a:pPr algn="l">
              <a:buFont typeface="+mj-lt"/>
              <a:buAutoNum type="arabicPeriod"/>
            </a:pPr>
            <a:r>
              <a:rPr lang="en-US" sz="2600" i="0" dirty="0">
                <a:solidFill>
                  <a:srgbClr val="343434"/>
                </a:solidFill>
                <a:effectLst/>
                <a:highlight>
                  <a:srgbClr val="FFFFFF"/>
                </a:highlight>
              </a:rPr>
              <a:t>The value n in a positive integer that should be read from STDIN the nth term that is calculated by the program should be written to STDOUT.</a:t>
            </a:r>
          </a:p>
          <a:p>
            <a:pPr algn="l">
              <a:buFont typeface="+mj-lt"/>
              <a:buAutoNum type="arabicPeriod"/>
            </a:pPr>
            <a:r>
              <a:rPr lang="en-US" sz="2600" i="0" dirty="0">
                <a:solidFill>
                  <a:srgbClr val="343434"/>
                </a:solidFill>
                <a:effectLst/>
                <a:highlight>
                  <a:srgbClr val="FFFFFF"/>
                </a:highlight>
              </a:rPr>
              <a:t>Other than the value of the nth term no other characters /strings or message should be written to STDOUT.</a:t>
            </a:r>
          </a:p>
          <a:p>
            <a:endParaRPr lang="en-IN" sz="2600" dirty="0"/>
          </a:p>
        </p:txBody>
      </p:sp>
    </p:spTree>
    <p:extLst>
      <p:ext uri="{BB962C8B-B14F-4D97-AF65-F5344CB8AC3E}">
        <p14:creationId xmlns:p14="http://schemas.microsoft.com/office/powerpoint/2010/main" val="1274578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p:txBody>
          <a:bodyPr>
            <a:normAutofit/>
          </a:bodyPr>
          <a:lstStyle/>
          <a:p>
            <a:pPr marL="0" indent="0" algn="just">
              <a:buNone/>
            </a:pPr>
            <a:r>
              <a:rPr lang="en-US" sz="2600" b="1" i="0" dirty="0">
                <a:solidFill>
                  <a:srgbClr val="343434"/>
                </a:solidFill>
                <a:effectLst/>
                <a:highlight>
                  <a:srgbClr val="FFFFFF"/>
                </a:highlight>
              </a:rPr>
              <a:t>For example</a:t>
            </a:r>
            <a:endParaRPr lang="en-US" sz="2600" b="0" i="0" dirty="0">
              <a:solidFill>
                <a:srgbClr val="343434"/>
              </a:solidFill>
              <a:effectLst/>
              <a:highlight>
                <a:srgbClr val="FFFFFF"/>
              </a:highlight>
            </a:endParaRPr>
          </a:p>
          <a:p>
            <a:pPr marL="0" indent="0" algn="just">
              <a:buNone/>
            </a:pPr>
            <a:r>
              <a:rPr lang="en-US" sz="2600" b="0" i="0" dirty="0">
                <a:solidFill>
                  <a:srgbClr val="343434"/>
                </a:solidFill>
                <a:effectLst/>
                <a:highlight>
                  <a:srgbClr val="FFFFFF"/>
                </a:highlight>
              </a:rPr>
              <a:t>if n=10,the 10 </a:t>
            </a:r>
            <a:r>
              <a:rPr lang="en-US" sz="2600" b="0" i="0" dirty="0" err="1">
                <a:solidFill>
                  <a:srgbClr val="343434"/>
                </a:solidFill>
                <a:effectLst/>
                <a:highlight>
                  <a:srgbClr val="FFFFFF"/>
                </a:highlight>
              </a:rPr>
              <a:t>th</a:t>
            </a:r>
            <a:r>
              <a:rPr lang="en-US" sz="2600" b="0" i="0" dirty="0">
                <a:solidFill>
                  <a:srgbClr val="343434"/>
                </a:solidFill>
                <a:effectLst/>
                <a:highlight>
                  <a:srgbClr val="FFFFFF"/>
                </a:highlight>
              </a:rPr>
              <a:t> term in the series is to be derived from the 9th term in the series. The 9th term is 8 so the 10th term is (8/2)=4. Only the value 4 should be printed to STDOUT.</a:t>
            </a:r>
          </a:p>
          <a:p>
            <a:pPr marL="0" indent="0" algn="just">
              <a:buNone/>
            </a:pPr>
            <a:r>
              <a:rPr lang="en-US" sz="2600" b="0" i="0" dirty="0">
                <a:solidFill>
                  <a:srgbClr val="343434"/>
                </a:solidFill>
                <a:effectLst/>
                <a:highlight>
                  <a:srgbClr val="FFFFFF"/>
                </a:highlight>
              </a:rPr>
              <a:t>You can assume that the n will not exceed 20,000.</a:t>
            </a:r>
          </a:p>
          <a:p>
            <a:pPr marL="0" indent="0" algn="just">
              <a:buNone/>
            </a:pPr>
            <a:endParaRPr lang="en-IN" sz="2600" dirty="0"/>
          </a:p>
        </p:txBody>
      </p:sp>
    </p:spTree>
    <p:extLst>
      <p:ext uri="{BB962C8B-B14F-4D97-AF65-F5344CB8AC3E}">
        <p14:creationId xmlns:p14="http://schemas.microsoft.com/office/powerpoint/2010/main" val="514089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A1FAB-C850-34BA-E9CB-B8C91110D7FE}"/>
              </a:ext>
            </a:extLst>
          </p:cNvPr>
          <p:cNvSpPr>
            <a:spLocks noGrp="1"/>
          </p:cNvSpPr>
          <p:nvPr>
            <p:ph idx="1"/>
          </p:nvPr>
        </p:nvSpPr>
        <p:spPr/>
        <p:txBody>
          <a:bodyPr>
            <a:normAutofit lnSpcReduction="10000"/>
          </a:bodyPr>
          <a:lstStyle/>
          <a:p>
            <a:pPr marL="0" indent="0">
              <a:buNone/>
            </a:pPr>
            <a:r>
              <a:rPr lang="en-US" b="1" dirty="0"/>
              <a:t>def nth(n):</a:t>
            </a:r>
          </a:p>
          <a:p>
            <a:pPr marL="0" indent="0">
              <a:buNone/>
            </a:pPr>
            <a:r>
              <a:rPr lang="en-US" b="1" dirty="0"/>
              <a:t>    if n % 2 == 0:</a:t>
            </a:r>
          </a:p>
          <a:p>
            <a:pPr marL="0" indent="0">
              <a:buNone/>
            </a:pPr>
            <a:r>
              <a:rPr lang="en-US" b="1" dirty="0"/>
              <a:t>        return ((n-2) // 2)</a:t>
            </a:r>
          </a:p>
          <a:p>
            <a:pPr marL="0" indent="0">
              <a:buNone/>
            </a:pPr>
            <a:r>
              <a:rPr lang="en-US" b="1" dirty="0"/>
              <a:t>    else:</a:t>
            </a:r>
          </a:p>
          <a:p>
            <a:pPr marL="0" indent="0">
              <a:buNone/>
            </a:pPr>
            <a:r>
              <a:rPr lang="en-US" b="1" dirty="0"/>
              <a:t>        return (n-1)</a:t>
            </a:r>
          </a:p>
          <a:p>
            <a:pPr marL="0" indent="0">
              <a:buNone/>
            </a:pPr>
            <a:endParaRPr lang="en-US" b="1" dirty="0"/>
          </a:p>
          <a:p>
            <a:pPr marL="0" indent="0">
              <a:buNone/>
            </a:pPr>
            <a:r>
              <a:rPr lang="en-US" b="1" dirty="0"/>
              <a:t>n = 10</a:t>
            </a:r>
          </a:p>
          <a:p>
            <a:pPr marL="0" indent="0">
              <a:buNone/>
            </a:pPr>
            <a:r>
              <a:rPr lang="en-US" b="1" dirty="0" err="1"/>
              <a:t>nth_term</a:t>
            </a:r>
            <a:r>
              <a:rPr lang="en-US" b="1" dirty="0"/>
              <a:t>= nth(n)</a:t>
            </a:r>
          </a:p>
          <a:p>
            <a:pPr marL="0" indent="0">
              <a:buNone/>
            </a:pPr>
            <a:r>
              <a:rPr lang="en-US" b="1" dirty="0"/>
              <a:t>print(</a:t>
            </a:r>
            <a:r>
              <a:rPr lang="en-US" b="1" dirty="0" err="1"/>
              <a:t>nth_term</a:t>
            </a:r>
            <a:r>
              <a:rPr lang="en-US" b="1" dirty="0"/>
              <a:t>)</a:t>
            </a:r>
          </a:p>
          <a:p>
            <a:pPr marL="0" indent="0">
              <a:buNone/>
            </a:pPr>
            <a:endParaRPr lang="en-IN" b="1" dirty="0"/>
          </a:p>
        </p:txBody>
      </p:sp>
    </p:spTree>
    <p:extLst>
      <p:ext uri="{BB962C8B-B14F-4D97-AF65-F5344CB8AC3E}">
        <p14:creationId xmlns:p14="http://schemas.microsoft.com/office/powerpoint/2010/main" val="2341078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266700"/>
            <a:ext cx="10515600" cy="5910263"/>
          </a:xfrm>
        </p:spPr>
        <p:txBody>
          <a:bodyPr>
            <a:noAutofit/>
          </a:bodyPr>
          <a:lstStyle/>
          <a:p>
            <a:pPr marL="0" indent="0">
              <a:buNone/>
            </a:pPr>
            <a:r>
              <a:rPr lang="en-US" sz="2600" b="1" dirty="0"/>
              <a:t>n = int(input('enter the number:'))</a:t>
            </a:r>
          </a:p>
          <a:p>
            <a:pPr marL="0" indent="0">
              <a:buNone/>
            </a:pPr>
            <a:r>
              <a:rPr lang="en-US" sz="2600" b="1" dirty="0"/>
              <a:t>a=0</a:t>
            </a:r>
          </a:p>
          <a:p>
            <a:pPr marL="0" indent="0">
              <a:buNone/>
            </a:pPr>
            <a:r>
              <a:rPr lang="en-US" sz="2600" b="1" dirty="0"/>
              <a:t>b=0</a:t>
            </a:r>
          </a:p>
          <a:p>
            <a:pPr marL="0" indent="0">
              <a:buNone/>
            </a:pPr>
            <a:r>
              <a:rPr lang="en-US" sz="2600" b="1" dirty="0"/>
              <a:t>for </a:t>
            </a:r>
            <a:r>
              <a:rPr lang="en-US" sz="2600" b="1" dirty="0" err="1"/>
              <a:t>i</a:t>
            </a:r>
            <a:r>
              <a:rPr lang="en-US" sz="2600" b="1" dirty="0"/>
              <a:t> in range(1,n+1):</a:t>
            </a:r>
          </a:p>
          <a:p>
            <a:pPr marL="0" indent="0">
              <a:buNone/>
            </a:pPr>
            <a:r>
              <a:rPr lang="en-US" sz="2600" b="1" dirty="0"/>
              <a:t>    if(i%2!=0):</a:t>
            </a:r>
          </a:p>
          <a:p>
            <a:pPr marL="0" indent="0">
              <a:buNone/>
            </a:pPr>
            <a:r>
              <a:rPr lang="en-US" sz="2600" b="1" dirty="0"/>
              <a:t>        a= a+2</a:t>
            </a:r>
          </a:p>
          <a:p>
            <a:pPr marL="0" indent="0">
              <a:buNone/>
            </a:pPr>
            <a:r>
              <a:rPr lang="en-US" sz="2600" b="1" dirty="0"/>
              <a:t>    else:</a:t>
            </a:r>
          </a:p>
          <a:p>
            <a:pPr marL="0" indent="0">
              <a:buNone/>
            </a:pPr>
            <a:r>
              <a:rPr lang="en-US" sz="2600" b="1" dirty="0"/>
              <a:t>        b= b+1</a:t>
            </a:r>
          </a:p>
          <a:p>
            <a:pPr marL="0" indent="0">
              <a:buNone/>
            </a:pPr>
            <a:endParaRPr lang="en-US" sz="2600" b="1" dirty="0"/>
          </a:p>
          <a:p>
            <a:pPr marL="0" indent="0">
              <a:buNone/>
            </a:pPr>
            <a:r>
              <a:rPr lang="en-US" sz="2600" b="1" dirty="0"/>
              <a:t>if(n%2!=0):</a:t>
            </a:r>
          </a:p>
          <a:p>
            <a:pPr marL="0" indent="0">
              <a:buNone/>
            </a:pPr>
            <a:r>
              <a:rPr lang="en-US" sz="2600" b="1" dirty="0"/>
              <a:t>    print('{}'.format(a-2))</a:t>
            </a:r>
          </a:p>
          <a:p>
            <a:pPr marL="0" indent="0">
              <a:buNone/>
            </a:pPr>
            <a:r>
              <a:rPr lang="en-US" sz="2600" b="1" dirty="0"/>
              <a:t>else:</a:t>
            </a:r>
          </a:p>
          <a:p>
            <a:pPr marL="0" indent="0">
              <a:buNone/>
            </a:pPr>
            <a:r>
              <a:rPr lang="en-US" sz="2600" b="1" dirty="0"/>
              <a:t>    print('{}'.format(b-1))</a:t>
            </a:r>
          </a:p>
          <a:p>
            <a:pPr marL="0" indent="0">
              <a:buNone/>
            </a:pPr>
            <a:endParaRPr lang="en-IN" sz="2600" b="1" dirty="0"/>
          </a:p>
        </p:txBody>
      </p:sp>
    </p:spTree>
    <p:extLst>
      <p:ext uri="{BB962C8B-B14F-4D97-AF65-F5344CB8AC3E}">
        <p14:creationId xmlns:p14="http://schemas.microsoft.com/office/powerpoint/2010/main" val="236960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0F07-1853-0388-2FD0-CEA82A439131}"/>
              </a:ext>
            </a:extLst>
          </p:cNvPr>
          <p:cNvSpPr>
            <a:spLocks noGrp="1"/>
          </p:cNvSpPr>
          <p:nvPr>
            <p:ph type="title"/>
          </p:nvPr>
        </p:nvSpPr>
        <p:spPr>
          <a:xfrm>
            <a:off x="838200" y="365126"/>
            <a:ext cx="10515600" cy="315911"/>
          </a:xfrm>
        </p:spPr>
        <p:txBody>
          <a:bodyPr>
            <a:noAutofit/>
          </a:bodyPr>
          <a:lstStyle/>
          <a:p>
            <a:r>
              <a:rPr lang="en-US" sz="3000" b="1" dirty="0">
                <a:solidFill>
                  <a:srgbClr val="FF0000"/>
                </a:solidFill>
                <a:latin typeface="+mn-lt"/>
              </a:rPr>
              <a:t>Problem Statement 6</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1019175"/>
            <a:ext cx="10515600" cy="5157788"/>
          </a:xfrm>
        </p:spPr>
        <p:txBody>
          <a:bodyPr>
            <a:noAutofit/>
          </a:bodyPr>
          <a:lstStyle/>
          <a:p>
            <a:pPr>
              <a:spcBef>
                <a:spcPts val="600"/>
              </a:spcBef>
              <a:buFont typeface="Wingdings" panose="05000000000000000000" pitchFamily="2" charset="2"/>
              <a:buChar char="Ø"/>
            </a:pPr>
            <a:r>
              <a:rPr lang="en-US" sz="2600" b="1" dirty="0"/>
              <a:t> GIVEN some strings in that we need to print the strings which does not contain more than one vowels in it</a:t>
            </a:r>
          </a:p>
          <a:p>
            <a:pPr>
              <a:spcBef>
                <a:spcPts val="600"/>
              </a:spcBef>
              <a:buFont typeface="Wingdings" panose="05000000000000000000" pitchFamily="2" charset="2"/>
              <a:buChar char="Ø"/>
            </a:pPr>
            <a:r>
              <a:rPr lang="en-US" sz="2600" b="1" dirty="0"/>
              <a:t>  take list of strings as input and create a function </a:t>
            </a:r>
            <a:r>
              <a:rPr lang="en-US" sz="2600" b="1" dirty="0" err="1"/>
              <a:t>vowelString</a:t>
            </a:r>
            <a:r>
              <a:rPr lang="en-US" sz="2600" b="1" dirty="0"/>
              <a:t>()</a:t>
            </a:r>
          </a:p>
          <a:p>
            <a:pPr>
              <a:spcBef>
                <a:spcPts val="600"/>
              </a:spcBef>
              <a:buFont typeface="Wingdings" panose="05000000000000000000" pitchFamily="2" charset="2"/>
              <a:buChar char="Ø"/>
            </a:pPr>
            <a:r>
              <a:rPr lang="en-US" sz="2600" b="1" dirty="0"/>
              <a:t>  that will return list of strings where strings have one or no vowels in it.</a:t>
            </a:r>
          </a:p>
          <a:p>
            <a:pPr marL="0" indent="0">
              <a:spcBef>
                <a:spcPts val="600"/>
              </a:spcBef>
              <a:buNone/>
            </a:pPr>
            <a:r>
              <a:rPr lang="en-US" sz="2600" b="1" dirty="0">
                <a:solidFill>
                  <a:srgbClr val="FF0000"/>
                </a:solidFill>
              </a:rPr>
              <a:t>Input:</a:t>
            </a:r>
          </a:p>
          <a:p>
            <a:pPr marL="0" indent="0">
              <a:spcBef>
                <a:spcPts val="600"/>
              </a:spcBef>
              <a:buNone/>
            </a:pPr>
            <a:r>
              <a:rPr lang="en-US" sz="2600" b="1" dirty="0"/>
              <a:t>3</a:t>
            </a:r>
          </a:p>
          <a:p>
            <a:pPr marL="0" indent="0">
              <a:spcBef>
                <a:spcPts val="600"/>
              </a:spcBef>
              <a:buNone/>
            </a:pPr>
            <a:r>
              <a:rPr lang="en-US" sz="2600" b="1" dirty="0" err="1"/>
              <a:t>aeroplane</a:t>
            </a:r>
            <a:endParaRPr lang="en-US" sz="2600" b="1" dirty="0"/>
          </a:p>
          <a:p>
            <a:pPr marL="0" indent="0">
              <a:spcBef>
                <a:spcPts val="600"/>
              </a:spcBef>
              <a:buNone/>
            </a:pPr>
            <a:r>
              <a:rPr lang="en-US" sz="2600" b="1" dirty="0"/>
              <a:t>cfm</a:t>
            </a:r>
          </a:p>
          <a:p>
            <a:pPr marL="0" indent="0">
              <a:spcBef>
                <a:spcPts val="600"/>
              </a:spcBef>
              <a:buNone/>
            </a:pPr>
            <a:r>
              <a:rPr lang="en-US" sz="2600" b="1" dirty="0"/>
              <a:t>art</a:t>
            </a:r>
          </a:p>
          <a:p>
            <a:pPr marL="0" indent="0">
              <a:spcBef>
                <a:spcPts val="600"/>
              </a:spcBef>
              <a:buNone/>
            </a:pPr>
            <a:r>
              <a:rPr lang="en-US" sz="2600" b="1" dirty="0">
                <a:solidFill>
                  <a:srgbClr val="FF0000"/>
                </a:solidFill>
              </a:rPr>
              <a:t>output</a:t>
            </a:r>
          </a:p>
          <a:p>
            <a:pPr marL="0" indent="0">
              <a:spcBef>
                <a:spcPts val="600"/>
              </a:spcBef>
              <a:buNone/>
            </a:pPr>
            <a:r>
              <a:rPr lang="en-US" sz="2600" b="1" dirty="0"/>
              <a:t>cfm(no vowel)</a:t>
            </a:r>
          </a:p>
          <a:p>
            <a:pPr marL="0" indent="0">
              <a:spcBef>
                <a:spcPts val="600"/>
              </a:spcBef>
              <a:buNone/>
            </a:pPr>
            <a:r>
              <a:rPr lang="en-US" sz="2600" b="1" dirty="0"/>
              <a:t>art(one vowel)</a:t>
            </a:r>
            <a:endParaRPr lang="en-IN" sz="2600" b="1" dirty="0"/>
          </a:p>
        </p:txBody>
      </p:sp>
    </p:spTree>
    <p:extLst>
      <p:ext uri="{BB962C8B-B14F-4D97-AF65-F5344CB8AC3E}">
        <p14:creationId xmlns:p14="http://schemas.microsoft.com/office/powerpoint/2010/main" val="3790375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276224"/>
            <a:ext cx="10515600" cy="6257925"/>
          </a:xfrm>
        </p:spPr>
        <p:txBody>
          <a:bodyPr>
            <a:noAutofit/>
          </a:bodyPr>
          <a:lstStyle/>
          <a:p>
            <a:pPr marL="0" indent="0">
              <a:spcBef>
                <a:spcPts val="0"/>
              </a:spcBef>
              <a:buNone/>
            </a:pPr>
            <a:r>
              <a:rPr lang="en-IN" sz="2400" b="1" dirty="0"/>
              <a:t>def </a:t>
            </a:r>
            <a:r>
              <a:rPr lang="en-IN" sz="2400" b="1" dirty="0" err="1"/>
              <a:t>vowelString</a:t>
            </a:r>
            <a:r>
              <a:rPr lang="en-IN" sz="2400" b="1" dirty="0"/>
              <a:t>(</a:t>
            </a:r>
            <a:r>
              <a:rPr lang="en-IN" sz="2400" b="1" dirty="0" err="1"/>
              <a:t>lis</a:t>
            </a:r>
            <a:r>
              <a:rPr lang="en-IN" sz="2400" b="1" dirty="0"/>
              <a:t>):</a:t>
            </a:r>
          </a:p>
          <a:p>
            <a:pPr marL="0" indent="0">
              <a:spcBef>
                <a:spcPts val="0"/>
              </a:spcBef>
              <a:buNone/>
            </a:pPr>
            <a:r>
              <a:rPr lang="en-IN" sz="2400" b="1" dirty="0"/>
              <a:t>    </a:t>
            </a:r>
            <a:r>
              <a:rPr lang="en-IN" sz="2400" b="1" dirty="0" err="1"/>
              <a:t>st</a:t>
            </a:r>
            <a:r>
              <a:rPr lang="en-IN" sz="2400" b="1" dirty="0"/>
              <a:t> = '</a:t>
            </a:r>
            <a:r>
              <a:rPr lang="en-IN" sz="2400" b="1" dirty="0" err="1"/>
              <a:t>aeiou</a:t>
            </a:r>
            <a:r>
              <a:rPr lang="en-IN" sz="2400" b="1" dirty="0"/>
              <a:t>'</a:t>
            </a:r>
          </a:p>
          <a:p>
            <a:pPr marL="0" indent="0">
              <a:spcBef>
                <a:spcPts val="0"/>
              </a:spcBef>
              <a:buNone/>
            </a:pPr>
            <a:r>
              <a:rPr lang="en-IN" sz="2400" b="1" dirty="0"/>
              <a:t>    </a:t>
            </a:r>
            <a:r>
              <a:rPr lang="en-IN" sz="2400" b="1" dirty="0" err="1"/>
              <a:t>vowel_lis</a:t>
            </a:r>
            <a:r>
              <a:rPr lang="en-IN" sz="2400" b="1" dirty="0"/>
              <a:t> = []</a:t>
            </a:r>
          </a:p>
          <a:p>
            <a:pPr marL="0" indent="0">
              <a:spcBef>
                <a:spcPts val="0"/>
              </a:spcBef>
              <a:buNone/>
            </a:pPr>
            <a:r>
              <a:rPr lang="en-IN" sz="2400" b="1" dirty="0"/>
              <a:t>    for str in </a:t>
            </a:r>
            <a:r>
              <a:rPr lang="en-IN" sz="2400" b="1" dirty="0" err="1"/>
              <a:t>lis</a:t>
            </a:r>
            <a:r>
              <a:rPr lang="en-IN" sz="2400" b="1" dirty="0"/>
              <a:t>:</a:t>
            </a:r>
          </a:p>
          <a:p>
            <a:pPr marL="0" indent="0">
              <a:spcBef>
                <a:spcPts val="0"/>
              </a:spcBef>
              <a:buNone/>
            </a:pPr>
            <a:r>
              <a:rPr lang="en-IN" sz="2400" b="1" dirty="0"/>
              <a:t>        count = 0</a:t>
            </a:r>
          </a:p>
          <a:p>
            <a:pPr marL="0" indent="0">
              <a:spcBef>
                <a:spcPts val="0"/>
              </a:spcBef>
              <a:buNone/>
            </a:pPr>
            <a:r>
              <a:rPr lang="en-IN" sz="2400" b="1" dirty="0"/>
              <a:t>        for let in str:</a:t>
            </a:r>
          </a:p>
          <a:p>
            <a:pPr marL="0" indent="0">
              <a:spcBef>
                <a:spcPts val="0"/>
              </a:spcBef>
              <a:buNone/>
            </a:pPr>
            <a:r>
              <a:rPr lang="en-IN" sz="2400" b="1" dirty="0"/>
              <a:t>            if let in </a:t>
            </a:r>
            <a:r>
              <a:rPr lang="en-IN" sz="2400" b="1" dirty="0" err="1"/>
              <a:t>st</a:t>
            </a:r>
            <a:r>
              <a:rPr lang="en-IN" sz="2400" b="1" dirty="0"/>
              <a:t>:</a:t>
            </a:r>
          </a:p>
          <a:p>
            <a:pPr marL="0" indent="0">
              <a:spcBef>
                <a:spcPts val="0"/>
              </a:spcBef>
              <a:buNone/>
            </a:pPr>
            <a:r>
              <a:rPr lang="en-IN" sz="2400" b="1" dirty="0"/>
              <a:t>                count = count + 1</a:t>
            </a:r>
          </a:p>
          <a:p>
            <a:pPr marL="0" indent="0">
              <a:spcBef>
                <a:spcPts val="0"/>
              </a:spcBef>
              <a:buNone/>
            </a:pPr>
            <a:r>
              <a:rPr lang="en-IN" sz="2400" b="1" dirty="0"/>
              <a:t>        if count &lt;= 1:</a:t>
            </a:r>
          </a:p>
          <a:p>
            <a:pPr marL="0" indent="0">
              <a:spcBef>
                <a:spcPts val="0"/>
              </a:spcBef>
              <a:buNone/>
            </a:pPr>
            <a:r>
              <a:rPr lang="en-IN" sz="2400" b="1" dirty="0"/>
              <a:t>            </a:t>
            </a:r>
            <a:r>
              <a:rPr lang="en-IN" sz="2400" b="1" dirty="0" err="1"/>
              <a:t>vowel_lis.append</a:t>
            </a:r>
            <a:r>
              <a:rPr lang="en-IN" sz="2400" b="1" dirty="0"/>
              <a:t>(str)</a:t>
            </a:r>
          </a:p>
          <a:p>
            <a:pPr marL="0" indent="0">
              <a:spcBef>
                <a:spcPts val="0"/>
              </a:spcBef>
              <a:buNone/>
            </a:pPr>
            <a:r>
              <a:rPr lang="en-IN" sz="2400" b="1" dirty="0"/>
              <a:t>    return </a:t>
            </a:r>
            <a:r>
              <a:rPr lang="en-IN" sz="2400" b="1" dirty="0" err="1"/>
              <a:t>vowel_lis</a:t>
            </a:r>
            <a:endParaRPr lang="en-IN" sz="2400" b="1" dirty="0"/>
          </a:p>
          <a:p>
            <a:pPr marL="0" indent="0">
              <a:spcBef>
                <a:spcPts val="0"/>
              </a:spcBef>
              <a:buNone/>
            </a:pPr>
            <a:endParaRPr lang="en-IN" sz="2400" b="1" dirty="0"/>
          </a:p>
          <a:p>
            <a:pPr marL="0" indent="0">
              <a:spcBef>
                <a:spcPts val="0"/>
              </a:spcBef>
              <a:buNone/>
            </a:pPr>
            <a:r>
              <a:rPr lang="en-IN" sz="2400" b="1" dirty="0" err="1"/>
              <a:t>lis</a:t>
            </a:r>
            <a:r>
              <a:rPr lang="en-IN" sz="2400" b="1" dirty="0"/>
              <a:t> = []</a:t>
            </a:r>
          </a:p>
          <a:p>
            <a:pPr marL="0" indent="0">
              <a:spcBef>
                <a:spcPts val="0"/>
              </a:spcBef>
              <a:buNone/>
            </a:pPr>
            <a:r>
              <a:rPr lang="en-IN" sz="2400" b="1" dirty="0"/>
              <a:t>for _ in range(int(input())):</a:t>
            </a:r>
          </a:p>
          <a:p>
            <a:pPr marL="0" indent="0">
              <a:spcBef>
                <a:spcPts val="0"/>
              </a:spcBef>
              <a:buNone/>
            </a:pPr>
            <a:r>
              <a:rPr lang="en-IN" sz="2400" b="1" dirty="0"/>
              <a:t>    </a:t>
            </a:r>
            <a:r>
              <a:rPr lang="en-IN" sz="2400" b="1" dirty="0" err="1"/>
              <a:t>lis.append</a:t>
            </a:r>
            <a:r>
              <a:rPr lang="en-IN" sz="2400" b="1" dirty="0"/>
              <a:t>(input())</a:t>
            </a:r>
          </a:p>
          <a:p>
            <a:pPr marL="0" indent="0">
              <a:spcBef>
                <a:spcPts val="0"/>
              </a:spcBef>
              <a:buNone/>
            </a:pPr>
            <a:endParaRPr lang="en-IN" sz="2400" b="1" dirty="0"/>
          </a:p>
          <a:p>
            <a:pPr marL="0" indent="0">
              <a:spcBef>
                <a:spcPts val="0"/>
              </a:spcBef>
              <a:buNone/>
            </a:pPr>
            <a:r>
              <a:rPr lang="en-IN" sz="2400" b="1" dirty="0"/>
              <a:t>for </a:t>
            </a:r>
            <a:r>
              <a:rPr lang="en-IN" sz="2400" b="1" dirty="0" err="1"/>
              <a:t>i</a:t>
            </a:r>
            <a:r>
              <a:rPr lang="en-IN" sz="2400" b="1" dirty="0"/>
              <a:t> in </a:t>
            </a:r>
            <a:r>
              <a:rPr lang="en-IN" sz="2400" b="1" dirty="0" err="1"/>
              <a:t>vowelString</a:t>
            </a:r>
            <a:r>
              <a:rPr lang="en-IN" sz="2400" b="1" dirty="0"/>
              <a:t>(</a:t>
            </a:r>
            <a:r>
              <a:rPr lang="en-IN" sz="2400" b="1" dirty="0" err="1"/>
              <a:t>lis</a:t>
            </a:r>
            <a:r>
              <a:rPr lang="en-IN" sz="2400" b="1" dirty="0"/>
              <a:t>):</a:t>
            </a:r>
          </a:p>
          <a:p>
            <a:pPr marL="0" indent="0">
              <a:spcBef>
                <a:spcPts val="0"/>
              </a:spcBef>
              <a:buNone/>
            </a:pPr>
            <a:r>
              <a:rPr lang="en-IN" sz="2400" b="1" dirty="0"/>
              <a:t>    print(</a:t>
            </a:r>
            <a:r>
              <a:rPr lang="en-IN" sz="2400" b="1" dirty="0" err="1"/>
              <a:t>i</a:t>
            </a:r>
            <a:r>
              <a:rPr lang="en-IN" sz="2400" b="1" dirty="0"/>
              <a:t>)</a:t>
            </a:r>
          </a:p>
          <a:p>
            <a:pPr marL="0" indent="0">
              <a:spcBef>
                <a:spcPts val="0"/>
              </a:spcBef>
              <a:buNone/>
            </a:pPr>
            <a:endParaRPr lang="en-IN" sz="2400" b="1" dirty="0"/>
          </a:p>
        </p:txBody>
      </p:sp>
    </p:spTree>
    <p:extLst>
      <p:ext uri="{BB962C8B-B14F-4D97-AF65-F5344CB8AC3E}">
        <p14:creationId xmlns:p14="http://schemas.microsoft.com/office/powerpoint/2010/main" val="3135458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838200" y="104775"/>
            <a:ext cx="10515600" cy="476251"/>
          </a:xfrm>
        </p:spPr>
        <p:txBody>
          <a:bodyPr>
            <a:noAutofit/>
          </a:bodyPr>
          <a:lstStyle/>
          <a:p>
            <a:r>
              <a:rPr lang="en-US" sz="3000" b="1" dirty="0">
                <a:solidFill>
                  <a:srgbClr val="FF0000"/>
                </a:solidFill>
                <a:latin typeface="+mn-lt"/>
              </a:rPr>
              <a:t>Problem Statement 7</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781050"/>
            <a:ext cx="10515600" cy="5395913"/>
          </a:xfrm>
        </p:spPr>
        <p:txBody>
          <a:bodyPr>
            <a:normAutofit fontScale="92500" lnSpcReduction="20000"/>
          </a:bodyPr>
          <a:lstStyle/>
          <a:p>
            <a:pPr algn="just">
              <a:buFont typeface="Wingdings" panose="05000000000000000000" pitchFamily="2" charset="2"/>
              <a:buChar char="Ø"/>
            </a:pPr>
            <a:r>
              <a:rPr lang="en-US" b="0" i="0" dirty="0">
                <a:solidFill>
                  <a:srgbClr val="343434"/>
                </a:solidFill>
                <a:effectLst/>
                <a:highlight>
                  <a:srgbClr val="FFFFFF"/>
                </a:highlight>
              </a:rPr>
              <a:t>Reddington has invested his money in stock of N companies, but lately, he realized that he has invested money in a very random manner. He wants to restructure the money he invested. He decided on an integer K which he will use to modify the amount invested either by putting k more amount for a particular company or withdrawing the same K amount. He will withdraw from one company by selling a stock) and will invest the same amount of K in another company (by buying stock). For more than one transaction (either buy or sell) of stock in the same company have some charges per month, such that he will not do more than one transaction of a particular company means either he will buy or sell the stock of amount K for a company or he will not do any transaction for that company. But he can do as many transactions as he wants to be provided that in one company he will do only one transaction. As you are his best friend so he reached out to you o for help.</a:t>
            </a:r>
          </a:p>
          <a:p>
            <a:pPr marL="0" indent="0" algn="just">
              <a:buNone/>
            </a:pPr>
            <a:endParaRPr lang="en-US" b="0" i="0" dirty="0">
              <a:solidFill>
                <a:srgbClr val="343434"/>
              </a:solidFill>
              <a:effectLst/>
              <a:highlight>
                <a:srgbClr val="FFFFFF"/>
              </a:highlight>
            </a:endParaRPr>
          </a:p>
          <a:p>
            <a:pPr algn="just">
              <a:buFont typeface="Wingdings" panose="05000000000000000000" pitchFamily="2" charset="2"/>
              <a:buChar char="Ø"/>
            </a:pPr>
            <a:r>
              <a:rPr lang="en-US" b="0" i="0" dirty="0">
                <a:solidFill>
                  <a:srgbClr val="343434"/>
                </a:solidFill>
                <a:effectLst/>
                <a:highlight>
                  <a:srgbClr val="FFFFFF"/>
                </a:highlight>
              </a:rPr>
              <a:t>Reddington wants to keep the difference between the smallest and largest invested amount minimal, can you please help him to get this minimum difference?</a:t>
            </a:r>
          </a:p>
          <a:p>
            <a:pPr algn="just">
              <a:buFont typeface="Wingdings" panose="05000000000000000000" pitchFamily="2" charset="2"/>
              <a:buChar char="Ø"/>
            </a:pPr>
            <a:endParaRPr lang="en-IN" dirty="0"/>
          </a:p>
        </p:txBody>
      </p:sp>
    </p:spTree>
    <p:extLst>
      <p:ext uri="{BB962C8B-B14F-4D97-AF65-F5344CB8AC3E}">
        <p14:creationId xmlns:p14="http://schemas.microsoft.com/office/powerpoint/2010/main" val="376886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257176"/>
            <a:ext cx="10515600" cy="5919788"/>
          </a:xfrm>
        </p:spPr>
        <p:txBody>
          <a:bodyPr>
            <a:noAutofit/>
          </a:bodyPr>
          <a:lstStyle/>
          <a:p>
            <a:pPr marL="0" indent="0" algn="l">
              <a:spcBef>
                <a:spcPts val="600"/>
              </a:spcBef>
              <a:buNone/>
            </a:pPr>
            <a:r>
              <a:rPr lang="en-US" sz="2400" b="1" i="0" dirty="0">
                <a:solidFill>
                  <a:srgbClr val="343434"/>
                </a:solidFill>
                <a:effectLst/>
                <a:highlight>
                  <a:srgbClr val="FFFFFF"/>
                </a:highlight>
              </a:rPr>
              <a:t>NOTE:</a:t>
            </a:r>
            <a:r>
              <a:rPr lang="en-US" sz="2400" b="0" i="0" dirty="0">
                <a:solidFill>
                  <a:srgbClr val="343434"/>
                </a:solidFill>
                <a:effectLst/>
                <a:highlight>
                  <a:srgbClr val="FFFFFF"/>
                </a:highlight>
              </a:rPr>
              <a:t> Reddington can sell the stock of K from a particular company only if the invested amount value for that particular company is higher than k.</a:t>
            </a:r>
          </a:p>
          <a:p>
            <a:pPr marL="0" indent="0" algn="l">
              <a:spcBef>
                <a:spcPts val="600"/>
              </a:spcBef>
              <a:buNone/>
            </a:pPr>
            <a:r>
              <a:rPr lang="en-US" sz="2400" b="1" i="0" dirty="0">
                <a:solidFill>
                  <a:srgbClr val="343434"/>
                </a:solidFill>
                <a:effectLst/>
                <a:highlight>
                  <a:srgbClr val="FFFFFF"/>
                </a:highlight>
              </a:rPr>
              <a:t>Hint:</a:t>
            </a:r>
            <a:r>
              <a:rPr lang="en-US" sz="2400" b="0" i="0" dirty="0">
                <a:solidFill>
                  <a:srgbClr val="343434"/>
                </a:solidFill>
                <a:effectLst/>
                <a:highlight>
                  <a:srgbClr val="FFFFFF"/>
                </a:highlight>
              </a:rPr>
              <a:t> To keep the difference minimum, if any transaction is needed then he needs to sell the stock of amount from the company with the highest invested amount and invest the same in the company with the smallest invested amount</a:t>
            </a:r>
          </a:p>
          <a:p>
            <a:pPr marL="0" indent="0" algn="l">
              <a:spcBef>
                <a:spcPts val="600"/>
              </a:spcBef>
              <a:buNone/>
            </a:pPr>
            <a:r>
              <a:rPr lang="en-US" sz="2400" b="1" i="0" dirty="0">
                <a:solidFill>
                  <a:srgbClr val="FF0000"/>
                </a:solidFill>
                <a:effectLst/>
                <a:highlight>
                  <a:srgbClr val="FFFFFF"/>
                </a:highlight>
              </a:rPr>
              <a:t>Example 1:</a:t>
            </a:r>
            <a:endParaRPr lang="en-US" sz="2400" b="0" i="0" dirty="0">
              <a:solidFill>
                <a:srgbClr val="FF0000"/>
              </a:solidFill>
              <a:effectLst/>
              <a:highlight>
                <a:srgbClr val="FFFFFF"/>
              </a:highlight>
            </a:endParaRPr>
          </a:p>
          <a:p>
            <a:pPr marL="0" indent="0" algn="l">
              <a:spcBef>
                <a:spcPts val="600"/>
              </a:spcBef>
              <a:buNone/>
            </a:pPr>
            <a:r>
              <a:rPr lang="en-US" sz="2400" b="1" i="0" dirty="0">
                <a:solidFill>
                  <a:srgbClr val="343434"/>
                </a:solidFill>
                <a:effectLst/>
                <a:highlight>
                  <a:srgbClr val="FFFFFF"/>
                </a:highlight>
              </a:rPr>
              <a:t>Input:</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2100 &gt; N=100, K=100</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100 1000 -&gt; Invested amount for each company</a:t>
            </a:r>
          </a:p>
          <a:p>
            <a:pPr marL="0" indent="0" algn="l">
              <a:spcBef>
                <a:spcPts val="600"/>
              </a:spcBef>
              <a:buNone/>
            </a:pPr>
            <a:r>
              <a:rPr lang="en-US" sz="2400" b="1" i="0" dirty="0">
                <a:solidFill>
                  <a:srgbClr val="343434"/>
                </a:solidFill>
                <a:effectLst/>
                <a:highlight>
                  <a:srgbClr val="FFFFFF"/>
                </a:highlight>
              </a:rPr>
              <a:t>Output:</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700</a:t>
            </a:r>
          </a:p>
          <a:p>
            <a:pPr marL="0" indent="0" algn="l">
              <a:spcBef>
                <a:spcPts val="600"/>
              </a:spcBef>
              <a:buNone/>
            </a:pPr>
            <a:r>
              <a:rPr lang="en-US" sz="2400" b="1" i="0" dirty="0">
                <a:solidFill>
                  <a:srgbClr val="FF0000"/>
                </a:solidFill>
                <a:effectLst/>
                <a:highlight>
                  <a:srgbClr val="FFFFFF"/>
                </a:highlight>
              </a:rPr>
              <a:t>Explanation:</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Two companies C1 and C2 have invested amounts of 100 and 1000. From the company, C2 Reddington will sell the stock of 100(K) units and buy the stock of company C2. So, now the invested amount will be 200 and 900, and now Reddington can’t do more transactions, so the minimum difference will be 900-200 = 700.</a:t>
            </a:r>
          </a:p>
          <a:p>
            <a:pPr marL="0" indent="0">
              <a:spcBef>
                <a:spcPts val="600"/>
              </a:spcBef>
              <a:buNone/>
            </a:pPr>
            <a:endParaRPr lang="en-IN" sz="2400" dirty="0"/>
          </a:p>
        </p:txBody>
      </p:sp>
    </p:spTree>
    <p:extLst>
      <p:ext uri="{BB962C8B-B14F-4D97-AF65-F5344CB8AC3E}">
        <p14:creationId xmlns:p14="http://schemas.microsoft.com/office/powerpoint/2010/main" val="3682652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466725"/>
            <a:ext cx="10515600" cy="5710238"/>
          </a:xfrm>
        </p:spPr>
        <p:txBody>
          <a:bodyPr>
            <a:normAutofit/>
          </a:bodyPr>
          <a:lstStyle/>
          <a:p>
            <a:pPr marL="0" indent="0">
              <a:buNone/>
            </a:pPr>
            <a:r>
              <a:rPr lang="en-US" sz="2600" b="1" i="0" dirty="0">
                <a:solidFill>
                  <a:srgbClr val="FF0000"/>
                </a:solidFill>
                <a:effectLst/>
                <a:highlight>
                  <a:srgbClr val="FFFFFF"/>
                </a:highlight>
              </a:rPr>
              <a:t>Example 2:</a:t>
            </a:r>
            <a:endParaRPr lang="en-US" sz="2600" b="0" i="0" dirty="0">
              <a:solidFill>
                <a:srgbClr val="FF0000"/>
              </a:solidFill>
              <a:effectLst/>
              <a:highlight>
                <a:srgbClr val="FFFFFF"/>
              </a:highlight>
            </a:endParaRPr>
          </a:p>
          <a:p>
            <a:pPr marL="0" indent="0">
              <a:buNone/>
            </a:pPr>
            <a:r>
              <a:rPr lang="en-US" sz="2600" b="1" i="0" dirty="0">
                <a:solidFill>
                  <a:srgbClr val="343434"/>
                </a:solidFill>
                <a:effectLst/>
                <a:highlight>
                  <a:srgbClr val="FFFFFF"/>
                </a:highlight>
              </a:rPr>
              <a:t>Input:</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5 100 -&gt; N=5, K=100</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100 200 300 400 500 -&gt; Invested amount for each</a:t>
            </a:r>
          </a:p>
          <a:p>
            <a:pPr marL="0" indent="0">
              <a:buNone/>
            </a:pPr>
            <a:r>
              <a:rPr lang="en-US" sz="2600" b="1" i="0" dirty="0">
                <a:solidFill>
                  <a:srgbClr val="343434"/>
                </a:solidFill>
                <a:effectLst/>
                <a:highlight>
                  <a:srgbClr val="FFFFFF"/>
                </a:highlight>
              </a:rPr>
              <a:t>Output: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200</a:t>
            </a:r>
          </a:p>
          <a:p>
            <a:pPr marL="0" indent="0">
              <a:buNone/>
            </a:pPr>
            <a:r>
              <a:rPr lang="en-US" sz="2600" b="1" i="0" dirty="0">
                <a:solidFill>
                  <a:srgbClr val="FF0000"/>
                </a:solidFill>
                <a:effectLst/>
                <a:highlight>
                  <a:srgbClr val="FFFFFF"/>
                </a:highlight>
              </a:rPr>
              <a:t>Explanation:</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Five companies C1, C2, C3, C4, and C4 having invested amounts as 100, 200, 300, and 400,500 Reddington will sell the stock of C5 of 100 units and put it in C1. So, the invested amount will be 200, 200, 300, 400, 400, Now Reddington will sell the stock of C4 and put it in C2, then the invested amount will be 200, 300, 300, 300,02 400. Reddington can’t do more transactions now, so the minimum difference will be 400 – 200 = 200.</a:t>
            </a:r>
          </a:p>
          <a:p>
            <a:pPr marL="0" indent="0">
              <a:buNone/>
            </a:pPr>
            <a:endParaRPr lang="en-IN" sz="2600" dirty="0"/>
          </a:p>
        </p:txBody>
      </p:sp>
    </p:spTree>
    <p:extLst>
      <p:ext uri="{BB962C8B-B14F-4D97-AF65-F5344CB8AC3E}">
        <p14:creationId xmlns:p14="http://schemas.microsoft.com/office/powerpoint/2010/main" val="2917398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685800"/>
            <a:ext cx="10515600" cy="5491163"/>
          </a:xfrm>
        </p:spPr>
        <p:txBody>
          <a:bodyPr>
            <a:noAutofit/>
          </a:bodyPr>
          <a:lstStyle/>
          <a:p>
            <a:pPr marL="0" indent="0">
              <a:buNone/>
            </a:pPr>
            <a:r>
              <a:rPr lang="en-IN" sz="2400" b="1" dirty="0"/>
              <a:t>def fun(n, k, </a:t>
            </a:r>
            <a:r>
              <a:rPr lang="en-IN" sz="2400" b="1" dirty="0" err="1"/>
              <a:t>arr</a:t>
            </a:r>
            <a:r>
              <a:rPr lang="en-IN" sz="2400" b="1" dirty="0"/>
              <a:t>):</a:t>
            </a:r>
          </a:p>
          <a:p>
            <a:pPr marL="0" indent="0">
              <a:buNone/>
            </a:pPr>
            <a:r>
              <a:rPr lang="en-IN" sz="2400" b="1" dirty="0"/>
              <a:t>    c = (max(</a:t>
            </a:r>
            <a:r>
              <a:rPr lang="en-IN" sz="2400" b="1" dirty="0" err="1"/>
              <a:t>arr</a:t>
            </a:r>
            <a:r>
              <a:rPr lang="en-IN" sz="2400" b="1" dirty="0"/>
              <a:t>) + min(</a:t>
            </a:r>
            <a:r>
              <a:rPr lang="en-IN" sz="2400" b="1" dirty="0" err="1"/>
              <a:t>arr</a:t>
            </a:r>
            <a:r>
              <a:rPr lang="en-IN" sz="2400" b="1" dirty="0"/>
              <a:t>)) // 2</a:t>
            </a:r>
          </a:p>
          <a:p>
            <a:pPr marL="0" indent="0">
              <a:buNone/>
            </a:pPr>
            <a:r>
              <a:rPr lang="en-IN" sz="2400" b="1" dirty="0"/>
              <a:t>    for </a:t>
            </a:r>
            <a:r>
              <a:rPr lang="en-IN" sz="2400" b="1" dirty="0" err="1"/>
              <a:t>i</a:t>
            </a:r>
            <a:r>
              <a:rPr lang="en-IN" sz="2400" b="1" dirty="0"/>
              <a:t> in range(n):</a:t>
            </a:r>
          </a:p>
          <a:p>
            <a:pPr marL="0" indent="0">
              <a:buNone/>
            </a:pPr>
            <a:r>
              <a:rPr lang="en-IN" sz="2400" b="1" dirty="0"/>
              <a:t>        if </a:t>
            </a:r>
            <a:r>
              <a:rPr lang="en-IN" sz="2400" b="1" dirty="0" err="1"/>
              <a:t>arr</a:t>
            </a:r>
            <a:r>
              <a:rPr lang="en-IN" sz="2400" b="1" dirty="0"/>
              <a:t>[</a:t>
            </a:r>
            <a:r>
              <a:rPr lang="en-IN" sz="2400" b="1" dirty="0" err="1"/>
              <a:t>i</a:t>
            </a:r>
            <a:r>
              <a:rPr lang="en-IN" sz="2400" b="1" dirty="0"/>
              <a:t>] &lt; c:</a:t>
            </a:r>
          </a:p>
          <a:p>
            <a:pPr marL="0" indent="0">
              <a:buNone/>
            </a:pPr>
            <a:r>
              <a:rPr lang="en-IN" sz="2400" b="1" dirty="0"/>
              <a:t>            </a:t>
            </a:r>
            <a:r>
              <a:rPr lang="en-IN" sz="2400" b="1" dirty="0" err="1"/>
              <a:t>arr</a:t>
            </a:r>
            <a:r>
              <a:rPr lang="en-IN" sz="2400" b="1" dirty="0"/>
              <a:t>[</a:t>
            </a:r>
            <a:r>
              <a:rPr lang="en-IN" sz="2400" b="1" dirty="0" err="1"/>
              <a:t>i</a:t>
            </a:r>
            <a:r>
              <a:rPr lang="en-IN" sz="2400" b="1" dirty="0"/>
              <a:t>] += k     </a:t>
            </a:r>
          </a:p>
          <a:p>
            <a:pPr marL="0" indent="0">
              <a:buNone/>
            </a:pPr>
            <a:r>
              <a:rPr lang="en-IN" sz="2400" b="1" dirty="0"/>
              <a:t>        </a:t>
            </a:r>
            <a:r>
              <a:rPr lang="en-IN" sz="2400" b="1" dirty="0" err="1"/>
              <a:t>elif</a:t>
            </a:r>
            <a:r>
              <a:rPr lang="en-IN" sz="2400" b="1" dirty="0"/>
              <a:t> </a:t>
            </a:r>
            <a:r>
              <a:rPr lang="en-IN" sz="2400" b="1" dirty="0" err="1"/>
              <a:t>arr</a:t>
            </a:r>
            <a:r>
              <a:rPr lang="en-IN" sz="2400" b="1" dirty="0"/>
              <a:t>[</a:t>
            </a:r>
            <a:r>
              <a:rPr lang="en-IN" sz="2400" b="1" dirty="0" err="1"/>
              <a:t>i</a:t>
            </a:r>
            <a:r>
              <a:rPr lang="en-IN" sz="2400" b="1" dirty="0"/>
              <a:t>] &gt; c:</a:t>
            </a:r>
          </a:p>
          <a:p>
            <a:pPr marL="0" indent="0">
              <a:buNone/>
            </a:pPr>
            <a:r>
              <a:rPr lang="en-IN" sz="2400" b="1" dirty="0"/>
              <a:t>            </a:t>
            </a:r>
            <a:r>
              <a:rPr lang="en-IN" sz="2400" b="1" dirty="0" err="1"/>
              <a:t>arr</a:t>
            </a:r>
            <a:r>
              <a:rPr lang="en-IN" sz="2400" b="1" dirty="0"/>
              <a:t>[</a:t>
            </a:r>
            <a:r>
              <a:rPr lang="en-IN" sz="2400" b="1" dirty="0" err="1"/>
              <a:t>i</a:t>
            </a:r>
            <a:r>
              <a:rPr lang="en-IN" sz="2400" b="1" dirty="0"/>
              <a:t>] -= k</a:t>
            </a:r>
          </a:p>
          <a:p>
            <a:pPr marL="0" indent="0">
              <a:buNone/>
            </a:pPr>
            <a:r>
              <a:rPr lang="en-IN" sz="2400" b="1" dirty="0"/>
              <a:t>    return max(</a:t>
            </a:r>
            <a:r>
              <a:rPr lang="en-IN" sz="2400" b="1" dirty="0" err="1"/>
              <a:t>arr</a:t>
            </a:r>
            <a:r>
              <a:rPr lang="en-IN" sz="2400" b="1" dirty="0"/>
              <a:t>) - min(</a:t>
            </a:r>
            <a:r>
              <a:rPr lang="en-IN" sz="2400" b="1" dirty="0" err="1"/>
              <a:t>arr</a:t>
            </a:r>
            <a:r>
              <a:rPr lang="en-IN" sz="2400" b="1" dirty="0"/>
              <a:t>)</a:t>
            </a:r>
          </a:p>
          <a:p>
            <a:pPr marL="0" indent="0">
              <a:buNone/>
            </a:pPr>
            <a:endParaRPr lang="en-IN" sz="2400" b="1" dirty="0"/>
          </a:p>
          <a:p>
            <a:pPr marL="0" indent="0">
              <a:buNone/>
            </a:pPr>
            <a:r>
              <a:rPr lang="en-IN" sz="2400" b="1" dirty="0"/>
              <a:t>N, K = map(int, input().split())</a:t>
            </a:r>
          </a:p>
          <a:p>
            <a:pPr marL="0" indent="0">
              <a:buNone/>
            </a:pPr>
            <a:r>
              <a:rPr lang="en-IN" sz="2400" b="1" dirty="0" err="1"/>
              <a:t>ar</a:t>
            </a:r>
            <a:r>
              <a:rPr lang="en-IN" sz="2400" b="1" dirty="0"/>
              <a:t> = list(map(int, input().split()))</a:t>
            </a:r>
          </a:p>
          <a:p>
            <a:pPr marL="0" indent="0">
              <a:buNone/>
            </a:pPr>
            <a:r>
              <a:rPr lang="en-IN" sz="2400" b="1" dirty="0"/>
              <a:t>print(fun(N, K, </a:t>
            </a:r>
            <a:r>
              <a:rPr lang="en-IN" sz="2400" b="1" dirty="0" err="1"/>
              <a:t>ar</a:t>
            </a:r>
            <a:r>
              <a:rPr lang="en-IN" sz="2400" b="1" dirty="0"/>
              <a:t>))</a:t>
            </a:r>
          </a:p>
          <a:p>
            <a:pPr marL="0" indent="0">
              <a:buNone/>
            </a:pPr>
            <a:endParaRPr lang="en-IN" sz="2400" b="1" dirty="0"/>
          </a:p>
        </p:txBody>
      </p:sp>
    </p:spTree>
    <p:extLst>
      <p:ext uri="{BB962C8B-B14F-4D97-AF65-F5344CB8AC3E}">
        <p14:creationId xmlns:p14="http://schemas.microsoft.com/office/powerpoint/2010/main" val="3231223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0F07-1853-0388-2FD0-CEA82A439131}"/>
              </a:ext>
            </a:extLst>
          </p:cNvPr>
          <p:cNvSpPr>
            <a:spLocks noGrp="1"/>
          </p:cNvSpPr>
          <p:nvPr>
            <p:ph type="title"/>
          </p:nvPr>
        </p:nvSpPr>
        <p:spPr>
          <a:xfrm>
            <a:off x="838200" y="365124"/>
            <a:ext cx="10515600" cy="473075"/>
          </a:xfrm>
        </p:spPr>
        <p:txBody>
          <a:bodyPr>
            <a:noAutofit/>
          </a:bodyPr>
          <a:lstStyle/>
          <a:p>
            <a:r>
              <a:rPr lang="en-US" sz="3000" b="1" i="0" dirty="0">
                <a:solidFill>
                  <a:srgbClr val="FF0000"/>
                </a:solidFill>
                <a:effectLst/>
                <a:highlight>
                  <a:srgbClr val="FFFFFF"/>
                </a:highlight>
                <a:latin typeface="+mn-lt"/>
              </a:rPr>
              <a:t>Problem Statement 8</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990600"/>
            <a:ext cx="10515600" cy="5186363"/>
          </a:xfrm>
        </p:spPr>
        <p:txBody>
          <a:bodyPr>
            <a:normAutofit/>
          </a:bodyPr>
          <a:lstStyle/>
          <a:p>
            <a:pPr algn="just">
              <a:buFont typeface="Wingdings" panose="05000000000000000000" pitchFamily="2" charset="2"/>
              <a:buChar char="Ø"/>
            </a:pPr>
            <a:r>
              <a:rPr lang="en-US" sz="2600" b="1" i="0" dirty="0">
                <a:solidFill>
                  <a:srgbClr val="343434"/>
                </a:solidFill>
                <a:effectLst/>
                <a:highlight>
                  <a:srgbClr val="FFFFFF"/>
                </a:highlight>
              </a:rPr>
              <a:t>One person hands over the list of digits to Mr. String, But Mr. String understands only strings. Within strings also he understands only vowels. Mr. String needs your help to find the total number of pairs that add up to a certain digit D.</a:t>
            </a:r>
          </a:p>
          <a:p>
            <a:pPr algn="just">
              <a:buFont typeface="Wingdings" panose="05000000000000000000" pitchFamily="2" charset="2"/>
              <a:buChar char="Ø"/>
            </a:pPr>
            <a:r>
              <a:rPr lang="en-US" sz="2600" b="1" i="0" dirty="0">
                <a:solidFill>
                  <a:srgbClr val="343434"/>
                </a:solidFill>
                <a:effectLst/>
                <a:highlight>
                  <a:srgbClr val="FFFFFF"/>
                </a:highlight>
              </a:rPr>
              <a:t>The rules to calculate digit D are as follows</a:t>
            </a:r>
          </a:p>
          <a:p>
            <a:pPr algn="just">
              <a:buFont typeface="Wingdings" panose="05000000000000000000" pitchFamily="2" charset="2"/>
              <a:buChar char="Ø"/>
            </a:pPr>
            <a:r>
              <a:rPr lang="en-US" sz="2600" b="1" i="0" dirty="0">
                <a:solidFill>
                  <a:srgbClr val="343434"/>
                </a:solidFill>
                <a:effectLst/>
                <a:highlight>
                  <a:srgbClr val="FFFFFF"/>
                </a:highlight>
              </a:rPr>
              <a:t>Take all digits and convert them into their textual representation</a:t>
            </a:r>
          </a:p>
          <a:p>
            <a:pPr algn="just">
              <a:buFont typeface="Wingdings" panose="05000000000000000000" pitchFamily="2" charset="2"/>
              <a:buChar char="Ø"/>
            </a:pPr>
            <a:r>
              <a:rPr lang="en-US" sz="2600" b="1" i="0" dirty="0">
                <a:solidFill>
                  <a:srgbClr val="343434"/>
                </a:solidFill>
                <a:effectLst/>
                <a:highlight>
                  <a:srgbClr val="FFFFFF"/>
                </a:highlight>
              </a:rPr>
              <a:t>Next, sum up the number of vowels i.e. {a, e, </a:t>
            </a:r>
            <a:r>
              <a:rPr lang="en-US" sz="2600" b="1" i="0" dirty="0" err="1">
                <a:solidFill>
                  <a:srgbClr val="343434"/>
                </a:solidFill>
                <a:effectLst/>
                <a:highlight>
                  <a:srgbClr val="FFFFFF"/>
                </a:highlight>
              </a:rPr>
              <a:t>i</a:t>
            </a:r>
            <a:r>
              <a:rPr lang="en-US" sz="2600" b="1" i="0" dirty="0">
                <a:solidFill>
                  <a:srgbClr val="343434"/>
                </a:solidFill>
                <a:effectLst/>
                <a:highlight>
                  <a:srgbClr val="FFFFFF"/>
                </a:highlight>
              </a:rPr>
              <a:t>, o, u} from all textual representation</a:t>
            </a:r>
          </a:p>
          <a:p>
            <a:pPr algn="just">
              <a:buFont typeface="Wingdings" panose="05000000000000000000" pitchFamily="2" charset="2"/>
              <a:buChar char="Ø"/>
            </a:pPr>
            <a:r>
              <a:rPr lang="en-US" sz="2600" b="1" i="0" dirty="0">
                <a:solidFill>
                  <a:srgbClr val="343434"/>
                </a:solidFill>
                <a:effectLst/>
                <a:highlight>
                  <a:srgbClr val="FFFFFF"/>
                </a:highlight>
              </a:rPr>
              <a:t>This sum is digit D</a:t>
            </a:r>
          </a:p>
          <a:p>
            <a:pPr algn="just">
              <a:buFont typeface="Wingdings" panose="05000000000000000000" pitchFamily="2" charset="2"/>
              <a:buChar char="Ø"/>
            </a:pPr>
            <a:r>
              <a:rPr lang="en-US" sz="2600" b="1" i="0" dirty="0">
                <a:solidFill>
                  <a:srgbClr val="343434"/>
                </a:solidFill>
                <a:effectLst/>
                <a:highlight>
                  <a:srgbClr val="FFFFFF"/>
                </a:highlight>
              </a:rPr>
              <a:t>Now, once digit D is known find out all unordered pairs of numbers in input whose sum is equal to D. Refer example section for better understanding.</a:t>
            </a:r>
          </a:p>
        </p:txBody>
      </p:sp>
    </p:spTree>
    <p:extLst>
      <p:ext uri="{BB962C8B-B14F-4D97-AF65-F5344CB8AC3E}">
        <p14:creationId xmlns:p14="http://schemas.microsoft.com/office/powerpoint/2010/main" val="2398649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733425" y="396875"/>
            <a:ext cx="10515600" cy="4351338"/>
          </a:xfrm>
        </p:spPr>
        <p:txBody>
          <a:bodyPr>
            <a:normAutofit/>
          </a:bodyPr>
          <a:lstStyle/>
          <a:p>
            <a:pPr marL="0" indent="0" algn="l">
              <a:buNone/>
            </a:pPr>
            <a:r>
              <a:rPr lang="en-US" sz="2600" b="1" i="0" dirty="0">
                <a:solidFill>
                  <a:srgbClr val="343434"/>
                </a:solidFill>
                <a:effectLst/>
                <a:highlight>
                  <a:srgbClr val="FFFFFF"/>
                </a:highlight>
              </a:rPr>
              <a:t>Input</a:t>
            </a:r>
          </a:p>
          <a:p>
            <a:pPr marL="0" indent="0" algn="l">
              <a:buNone/>
            </a:pPr>
            <a:r>
              <a:rPr lang="en-US" sz="2600" b="0" i="0" dirty="0">
                <a:solidFill>
                  <a:srgbClr val="343434"/>
                </a:solidFill>
                <a:effectLst/>
                <a:highlight>
                  <a:srgbClr val="FFFFFF"/>
                </a:highlight>
              </a:rPr>
              <a:t>the First line contains an integer N which represents the number of elements to be processed as input</a:t>
            </a:r>
          </a:p>
          <a:p>
            <a:pPr marL="0" indent="0" algn="l">
              <a:buNone/>
            </a:pPr>
            <a:r>
              <a:rPr lang="en-US" sz="2600" b="0" i="0" dirty="0">
                <a:solidFill>
                  <a:srgbClr val="343434"/>
                </a:solidFill>
                <a:effectLst/>
                <a:highlight>
                  <a:srgbClr val="FFFFFF"/>
                </a:highlight>
              </a:rPr>
              <a:t>the Second line contains N numbers separated by space</a:t>
            </a:r>
          </a:p>
          <a:p>
            <a:pPr marL="0" indent="0" algn="l">
              <a:buNone/>
            </a:pPr>
            <a:r>
              <a:rPr lang="en-US" sz="2600" b="1" i="0" dirty="0">
                <a:solidFill>
                  <a:srgbClr val="343434"/>
                </a:solidFill>
                <a:effectLst/>
                <a:highlight>
                  <a:srgbClr val="FFFFFF"/>
                </a:highlight>
              </a:rPr>
              <a:t>Output</a:t>
            </a:r>
          </a:p>
          <a:p>
            <a:pPr marL="0" indent="0" algn="l">
              <a:buNone/>
            </a:pPr>
            <a:r>
              <a:rPr lang="en-US" sz="2600" b="0" i="0" dirty="0">
                <a:solidFill>
                  <a:srgbClr val="343434"/>
                </a:solidFill>
                <a:effectLst/>
                <a:highlight>
                  <a:srgbClr val="FFFFFF"/>
                </a:highlight>
              </a:rPr>
              <a:t>Lower case representation of a textual representation of the number of pairs in input that sum up to digit D</a:t>
            </a:r>
          </a:p>
          <a:p>
            <a:pPr marL="0" indent="0" algn="l">
              <a:buNone/>
            </a:pPr>
            <a:r>
              <a:rPr lang="en-US" sz="2600" b="0" i="0" dirty="0">
                <a:solidFill>
                  <a:srgbClr val="343434"/>
                </a:solidFill>
                <a:effectLst/>
                <a:highlight>
                  <a:srgbClr val="FFFFFF"/>
                </a:highlight>
              </a:rPr>
              <a:t>Note: – (If the count exceeds 100 print “greater 100”)</a:t>
            </a:r>
          </a:p>
          <a:p>
            <a:pPr marL="0" indent="0">
              <a:buNone/>
            </a:pPr>
            <a:endParaRPr lang="en-IN" sz="2600" dirty="0"/>
          </a:p>
        </p:txBody>
      </p:sp>
    </p:spTree>
    <p:extLst>
      <p:ext uri="{BB962C8B-B14F-4D97-AF65-F5344CB8AC3E}">
        <p14:creationId xmlns:p14="http://schemas.microsoft.com/office/powerpoint/2010/main" val="138231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333376" y="111125"/>
            <a:ext cx="11553824" cy="6489700"/>
          </a:xfrm>
        </p:spPr>
        <p:txBody>
          <a:bodyPr>
            <a:noAutofit/>
          </a:bodyPr>
          <a:lstStyle/>
          <a:p>
            <a:pPr marL="0" indent="0">
              <a:spcBef>
                <a:spcPts val="0"/>
              </a:spcBef>
              <a:buNone/>
            </a:pPr>
            <a:r>
              <a:rPr lang="en-US" sz="2400" b="1" i="0" dirty="0">
                <a:solidFill>
                  <a:srgbClr val="343434"/>
                </a:solidFill>
                <a:effectLst/>
                <a:highlight>
                  <a:srgbClr val="FFFFFF"/>
                </a:highlight>
              </a:rPr>
              <a:t>Input</a:t>
            </a:r>
            <a:br>
              <a:rPr lang="en-US" sz="2400" b="1" i="0" dirty="0">
                <a:solidFill>
                  <a:srgbClr val="343434"/>
                </a:solidFill>
                <a:effectLst/>
                <a:highlight>
                  <a:srgbClr val="FFFFFF"/>
                </a:highlight>
              </a:rPr>
            </a:br>
            <a:r>
              <a:rPr lang="en-US" sz="2400" b="0" i="0" dirty="0">
                <a:solidFill>
                  <a:srgbClr val="343434"/>
                </a:solidFill>
                <a:effectLst/>
                <a:highlight>
                  <a:srgbClr val="FFFFFF"/>
                </a:highlight>
              </a:rPr>
              <a:t>5</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1 2 3 4 5</a:t>
            </a:r>
          </a:p>
          <a:p>
            <a:pPr marL="0" indent="0">
              <a:spcBef>
                <a:spcPts val="0"/>
              </a:spcBef>
              <a:buNone/>
            </a:pPr>
            <a:r>
              <a:rPr lang="en-US" sz="2400" b="1" i="0" dirty="0">
                <a:solidFill>
                  <a:srgbClr val="343434"/>
                </a:solidFill>
                <a:effectLst/>
                <a:highlight>
                  <a:srgbClr val="FFFFFF"/>
                </a:highlight>
              </a:rPr>
              <a:t>Output</a:t>
            </a:r>
            <a:br>
              <a:rPr lang="en-US" sz="2400" b="1" i="0" dirty="0">
                <a:solidFill>
                  <a:srgbClr val="343434"/>
                </a:solidFill>
                <a:effectLst/>
                <a:highlight>
                  <a:srgbClr val="FFFFFF"/>
                </a:highlight>
              </a:rPr>
            </a:br>
            <a:r>
              <a:rPr lang="en-US" sz="2400" b="0" i="0" dirty="0">
                <a:solidFill>
                  <a:srgbClr val="343434"/>
                </a:solidFill>
                <a:effectLst/>
                <a:highlight>
                  <a:srgbClr val="FFFFFF"/>
                </a:highlight>
              </a:rPr>
              <a:t>one</a:t>
            </a:r>
          </a:p>
          <a:p>
            <a:pPr marL="0" indent="0">
              <a:spcBef>
                <a:spcPts val="0"/>
              </a:spcBef>
              <a:buNone/>
            </a:pPr>
            <a:r>
              <a:rPr lang="en-US" sz="2400" b="1" i="0" dirty="0">
                <a:solidFill>
                  <a:srgbClr val="FF0000"/>
                </a:solidFill>
                <a:effectLst/>
                <a:highlight>
                  <a:srgbClr val="FFFFFF"/>
                </a:highlight>
              </a:rPr>
              <a:t>Explanation</a:t>
            </a:r>
            <a:br>
              <a:rPr lang="en-US" sz="2400" b="1" i="0" dirty="0">
                <a:solidFill>
                  <a:srgbClr val="343434"/>
                </a:solidFill>
                <a:effectLst/>
                <a:highlight>
                  <a:srgbClr val="FFFFFF"/>
                </a:highlight>
              </a:rPr>
            </a:br>
            <a:r>
              <a:rPr lang="en-US" sz="2400" b="0" i="0" dirty="0">
                <a:solidFill>
                  <a:srgbClr val="343434"/>
                </a:solidFill>
                <a:effectLst/>
                <a:highlight>
                  <a:srgbClr val="FFFFFF"/>
                </a:highlight>
              </a:rPr>
              <a:t>1 -&gt; one -&gt; o, e</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2 -&gt; two -&gt; o</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3 -&gt; three -&gt; e, e</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4 -&gt; four -&gt; o, u</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5 -&gt; five – &gt; </a:t>
            </a:r>
            <a:r>
              <a:rPr lang="en-US" sz="2400" b="0" i="0" dirty="0" err="1">
                <a:solidFill>
                  <a:srgbClr val="343434"/>
                </a:solidFill>
                <a:effectLst/>
                <a:highlight>
                  <a:srgbClr val="FFFFFF"/>
                </a:highlight>
              </a:rPr>
              <a:t>i</a:t>
            </a:r>
            <a:r>
              <a:rPr lang="en-US" sz="2400" b="0" i="0" dirty="0">
                <a:solidFill>
                  <a:srgbClr val="343434"/>
                </a:solidFill>
                <a:effectLst/>
                <a:highlight>
                  <a:srgbClr val="FFFFFF"/>
                </a:highlight>
              </a:rPr>
              <a:t>, e</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Thus, count of vowels in textual representation of numbers in input = {2 + 1 + 2 + 2 + 2} = 9. Number 9 is the digit D referred to in the section above.</a:t>
            </a:r>
            <a:br>
              <a:rPr lang="en-US" sz="2400" b="0" i="0" dirty="0">
                <a:solidFill>
                  <a:srgbClr val="343434"/>
                </a:solidFill>
                <a:effectLst/>
                <a:highlight>
                  <a:srgbClr val="FFFFFF"/>
                </a:highlight>
              </a:rPr>
            </a:br>
            <a:r>
              <a:rPr lang="en-US" sz="2400" b="0" i="0" dirty="0">
                <a:solidFill>
                  <a:srgbClr val="343434"/>
                </a:solidFill>
                <a:effectLst/>
                <a:highlight>
                  <a:srgbClr val="FFFFFF"/>
                </a:highlight>
              </a:rPr>
              <a:t>Now from the given list of numbers {1,2,3,4,5} -&gt; find all pairs that sum up to 9.</a:t>
            </a:r>
          </a:p>
          <a:p>
            <a:pPr marL="0">
              <a:spcBef>
                <a:spcPts val="0"/>
              </a:spcBef>
            </a:pPr>
            <a:r>
              <a:rPr lang="en-US" sz="2400" b="0" i="0" dirty="0">
                <a:solidFill>
                  <a:srgbClr val="343434"/>
                </a:solidFill>
                <a:effectLst/>
                <a:highlight>
                  <a:srgbClr val="FFFFFF"/>
                </a:highlight>
              </a:rPr>
              <a:t>Upon processing this we know that only a single unordered pair {4, 5} sum up to 9. Hence the answer is 1. However, output specification requires you to print textual representation of number 1 which is one. Hence the output is one.</a:t>
            </a:r>
          </a:p>
          <a:p>
            <a:pPr marL="0">
              <a:spcBef>
                <a:spcPts val="0"/>
              </a:spcBef>
            </a:pPr>
            <a:r>
              <a:rPr lang="en-US" sz="2400" b="0" i="0" dirty="0">
                <a:solidFill>
                  <a:srgbClr val="343434"/>
                </a:solidFill>
                <a:effectLst/>
                <a:highlight>
                  <a:srgbClr val="FFFFFF"/>
                </a:highlight>
              </a:rPr>
              <a:t>Note: – Pairs {4, 5} or {5, 4} both sum up to 9. But since we are asking to count only unordered pairs, the number of unordered pairs in this combination is only one.</a:t>
            </a:r>
          </a:p>
        </p:txBody>
      </p:sp>
    </p:spTree>
    <p:extLst>
      <p:ext uri="{BB962C8B-B14F-4D97-AF65-F5344CB8AC3E}">
        <p14:creationId xmlns:p14="http://schemas.microsoft.com/office/powerpoint/2010/main" val="2035432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533400" y="549275"/>
            <a:ext cx="10515600" cy="5727700"/>
          </a:xfrm>
        </p:spPr>
        <p:txBody>
          <a:bodyPr>
            <a:noAutofit/>
          </a:bodyPr>
          <a:lstStyle/>
          <a:p>
            <a:pPr marL="0" indent="0" algn="l">
              <a:buNone/>
            </a:pPr>
            <a:r>
              <a:rPr lang="en-US" sz="2600" b="1" i="0" dirty="0">
                <a:solidFill>
                  <a:srgbClr val="343434"/>
                </a:solidFill>
                <a:effectLst/>
                <a:highlight>
                  <a:srgbClr val="FFFFFF"/>
                </a:highlight>
              </a:rPr>
              <a:t>Input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3</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7 4 2</a:t>
            </a:r>
          </a:p>
          <a:p>
            <a:pPr marL="0" indent="0" algn="l">
              <a:buNone/>
            </a:pPr>
            <a:r>
              <a:rPr lang="en-US" sz="2600" b="1" i="0" dirty="0">
                <a:solidFill>
                  <a:srgbClr val="343434"/>
                </a:solidFill>
                <a:effectLst/>
                <a:highlight>
                  <a:srgbClr val="FFFFFF"/>
                </a:highlight>
              </a:rPr>
              <a:t>Output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zero</a:t>
            </a:r>
          </a:p>
          <a:p>
            <a:pPr marL="0" indent="0" algn="l">
              <a:buNone/>
            </a:pPr>
            <a:r>
              <a:rPr lang="en-US" sz="2600" b="1" i="0" dirty="0">
                <a:solidFill>
                  <a:srgbClr val="FF0000"/>
                </a:solidFill>
                <a:effectLst/>
                <a:highlight>
                  <a:srgbClr val="FFFFFF"/>
                </a:highlight>
              </a:rPr>
              <a:t>Explanation</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7 -&gt; seven -&gt; e, e</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4 -&gt; four -&gt; o, u</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2 -&gt; two -&gt; o</a:t>
            </a:r>
          </a:p>
          <a:p>
            <a:pPr marL="0" indent="0" algn="l">
              <a:buNone/>
            </a:pPr>
            <a:r>
              <a:rPr lang="en-US" sz="2600" b="0" i="0" dirty="0">
                <a:solidFill>
                  <a:srgbClr val="343434"/>
                </a:solidFill>
                <a:effectLst/>
                <a:highlight>
                  <a:srgbClr val="FFFFFF"/>
                </a:highlight>
              </a:rPr>
              <a:t>Thus, count of vowels in textual representation of numbers in input = {2 + 2 + 1} = 5. Number 5 is the digit D referred to in the section above.</a:t>
            </a:r>
          </a:p>
          <a:p>
            <a:pPr marL="0" indent="0" algn="l">
              <a:buNone/>
            </a:pPr>
            <a:r>
              <a:rPr lang="en-US" sz="2600" b="0" i="0" dirty="0">
                <a:solidFill>
                  <a:srgbClr val="343434"/>
                </a:solidFill>
                <a:effectLst/>
                <a:highlight>
                  <a:srgbClr val="FFFFFF"/>
                </a:highlight>
              </a:rPr>
              <a:t>Since no pairs add up to 5, the answer is 0. The textual representation of 0 is zero. Hence the output is zero.</a:t>
            </a:r>
          </a:p>
          <a:p>
            <a:pPr marL="0" indent="0">
              <a:buNone/>
            </a:pPr>
            <a:endParaRPr lang="en-IN" sz="2600" dirty="0"/>
          </a:p>
        </p:txBody>
      </p:sp>
    </p:spTree>
    <p:extLst>
      <p:ext uri="{BB962C8B-B14F-4D97-AF65-F5344CB8AC3E}">
        <p14:creationId xmlns:p14="http://schemas.microsoft.com/office/powerpoint/2010/main" val="1522256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419100" y="314325"/>
            <a:ext cx="10934700" cy="5862638"/>
          </a:xfrm>
        </p:spPr>
        <p:txBody>
          <a:bodyPr>
            <a:noAutofit/>
          </a:bodyPr>
          <a:lstStyle/>
          <a:p>
            <a:pPr marL="0" indent="0">
              <a:spcBef>
                <a:spcPts val="0"/>
              </a:spcBef>
              <a:buNone/>
            </a:pPr>
            <a:r>
              <a:rPr lang="en-IN" sz="2400" b="1" dirty="0" err="1"/>
              <a:t>nums</a:t>
            </a:r>
            <a:r>
              <a:rPr lang="en-IN" sz="2400" b="1" dirty="0"/>
              <a:t> = ["zero", "one", "two", "three", "four", "five", "six", "seven", "eight", "nine"]</a:t>
            </a:r>
          </a:p>
          <a:p>
            <a:pPr marL="0" indent="0">
              <a:spcBef>
                <a:spcPts val="0"/>
              </a:spcBef>
              <a:buNone/>
            </a:pPr>
            <a:r>
              <a:rPr lang="en-IN" sz="2400" b="1" dirty="0" err="1"/>
              <a:t>numVowels</a:t>
            </a:r>
            <a:r>
              <a:rPr lang="en-IN" sz="2400" b="1" dirty="0"/>
              <a:t> = [2, 2, 1, 2, 2, 2, 1, 2, 2, 2]</a:t>
            </a:r>
          </a:p>
          <a:p>
            <a:pPr marL="0" indent="0">
              <a:spcBef>
                <a:spcPts val="0"/>
              </a:spcBef>
              <a:buNone/>
            </a:pPr>
            <a:r>
              <a:rPr lang="en-IN" sz="2400" b="1" dirty="0"/>
              <a:t>n = int(input())</a:t>
            </a:r>
          </a:p>
          <a:p>
            <a:pPr marL="0" indent="0">
              <a:spcBef>
                <a:spcPts val="0"/>
              </a:spcBef>
              <a:buNone/>
            </a:pPr>
            <a:r>
              <a:rPr lang="en-IN" sz="2400" b="1" dirty="0" err="1"/>
              <a:t>arr</a:t>
            </a:r>
            <a:r>
              <a:rPr lang="en-IN" sz="2400" b="1" dirty="0"/>
              <a:t> = list(map(int, input().strip().split()))</a:t>
            </a:r>
          </a:p>
          <a:p>
            <a:pPr marL="0" indent="0">
              <a:spcBef>
                <a:spcPts val="0"/>
              </a:spcBef>
              <a:buNone/>
            </a:pPr>
            <a:r>
              <a:rPr lang="en-IN" sz="2400" b="1" dirty="0"/>
              <a:t>s = 0</a:t>
            </a:r>
          </a:p>
          <a:p>
            <a:pPr marL="0" indent="0">
              <a:spcBef>
                <a:spcPts val="0"/>
              </a:spcBef>
              <a:buNone/>
            </a:pPr>
            <a:r>
              <a:rPr lang="en-IN" sz="2400" b="1" dirty="0"/>
              <a:t>for </a:t>
            </a:r>
            <a:r>
              <a:rPr lang="en-IN" sz="2400" b="1" dirty="0" err="1"/>
              <a:t>i</a:t>
            </a:r>
            <a:r>
              <a:rPr lang="en-IN" sz="2400" b="1" dirty="0"/>
              <a:t> in range(n):</a:t>
            </a:r>
          </a:p>
          <a:p>
            <a:pPr marL="0" indent="0">
              <a:spcBef>
                <a:spcPts val="0"/>
              </a:spcBef>
              <a:buNone/>
            </a:pPr>
            <a:r>
              <a:rPr lang="en-IN" sz="2400" b="1" dirty="0"/>
              <a:t>  for </a:t>
            </a:r>
            <a:r>
              <a:rPr lang="en-IN" sz="2400" b="1" dirty="0" err="1"/>
              <a:t>num</a:t>
            </a:r>
            <a:r>
              <a:rPr lang="en-IN" sz="2400" b="1" dirty="0"/>
              <a:t> in str(</a:t>
            </a:r>
            <a:r>
              <a:rPr lang="en-IN" sz="2400" b="1" dirty="0" err="1"/>
              <a:t>arr</a:t>
            </a:r>
            <a:r>
              <a:rPr lang="en-IN" sz="2400" b="1" dirty="0"/>
              <a:t>[</a:t>
            </a:r>
            <a:r>
              <a:rPr lang="en-IN" sz="2400" b="1" dirty="0" err="1"/>
              <a:t>i</a:t>
            </a:r>
            <a:r>
              <a:rPr lang="en-IN" sz="2400" b="1" dirty="0"/>
              <a:t>]):</a:t>
            </a:r>
          </a:p>
          <a:p>
            <a:pPr marL="0" indent="0">
              <a:spcBef>
                <a:spcPts val="0"/>
              </a:spcBef>
              <a:buNone/>
            </a:pPr>
            <a:r>
              <a:rPr lang="en-IN" sz="2400" b="1" dirty="0"/>
              <a:t>      s = s + </a:t>
            </a:r>
            <a:r>
              <a:rPr lang="en-IN" sz="2400" b="1" dirty="0" err="1"/>
              <a:t>numVowels</a:t>
            </a:r>
            <a:r>
              <a:rPr lang="en-IN" sz="2400" b="1" dirty="0"/>
              <a:t>[int(</a:t>
            </a:r>
            <a:r>
              <a:rPr lang="en-IN" sz="2400" b="1" dirty="0" err="1"/>
              <a:t>num</a:t>
            </a:r>
            <a:r>
              <a:rPr lang="en-IN" sz="2400" b="1" dirty="0"/>
              <a:t>)]</a:t>
            </a:r>
          </a:p>
          <a:p>
            <a:pPr marL="0" indent="0">
              <a:spcBef>
                <a:spcPts val="0"/>
              </a:spcBef>
              <a:buNone/>
            </a:pPr>
            <a:r>
              <a:rPr lang="en-IN" sz="2400" b="1" dirty="0" err="1"/>
              <a:t>ans</a:t>
            </a:r>
            <a:r>
              <a:rPr lang="en-IN" sz="2400" b="1" dirty="0"/>
              <a:t> = 0</a:t>
            </a:r>
          </a:p>
          <a:p>
            <a:pPr marL="0" indent="0">
              <a:spcBef>
                <a:spcPts val="0"/>
              </a:spcBef>
              <a:buNone/>
            </a:pPr>
            <a:r>
              <a:rPr lang="en-IN" sz="2400" b="1" dirty="0"/>
              <a:t>for </a:t>
            </a:r>
            <a:r>
              <a:rPr lang="en-IN" sz="2400" b="1" dirty="0" err="1"/>
              <a:t>i</a:t>
            </a:r>
            <a:r>
              <a:rPr lang="en-IN" sz="2400" b="1" dirty="0"/>
              <a:t> in range(n-1):</a:t>
            </a:r>
          </a:p>
          <a:p>
            <a:pPr marL="0" indent="0">
              <a:spcBef>
                <a:spcPts val="0"/>
              </a:spcBef>
              <a:buNone/>
            </a:pPr>
            <a:r>
              <a:rPr lang="en-IN" sz="2400" b="1" dirty="0"/>
              <a:t>  for j in range(i+1,n):</a:t>
            </a:r>
          </a:p>
          <a:p>
            <a:pPr marL="0" indent="0">
              <a:spcBef>
                <a:spcPts val="0"/>
              </a:spcBef>
              <a:buNone/>
            </a:pPr>
            <a:r>
              <a:rPr lang="en-IN" sz="2400" b="1" dirty="0"/>
              <a:t>      if </a:t>
            </a:r>
            <a:r>
              <a:rPr lang="en-IN" sz="2400" b="1" dirty="0" err="1"/>
              <a:t>arr</a:t>
            </a:r>
            <a:r>
              <a:rPr lang="en-IN" sz="2400" b="1" dirty="0"/>
              <a:t>[</a:t>
            </a:r>
            <a:r>
              <a:rPr lang="en-IN" sz="2400" b="1" dirty="0" err="1"/>
              <a:t>i</a:t>
            </a:r>
            <a:r>
              <a:rPr lang="en-IN" sz="2400" b="1" dirty="0"/>
              <a:t>] + </a:t>
            </a:r>
            <a:r>
              <a:rPr lang="en-IN" sz="2400" b="1" dirty="0" err="1"/>
              <a:t>arr</a:t>
            </a:r>
            <a:r>
              <a:rPr lang="en-IN" sz="2400" b="1" dirty="0"/>
              <a:t>[j] == s:</a:t>
            </a:r>
          </a:p>
          <a:p>
            <a:pPr marL="0" indent="0">
              <a:spcBef>
                <a:spcPts val="0"/>
              </a:spcBef>
              <a:buNone/>
            </a:pPr>
            <a:r>
              <a:rPr lang="en-IN" sz="2400" b="1" dirty="0"/>
              <a:t>          </a:t>
            </a:r>
            <a:r>
              <a:rPr lang="en-IN" sz="2400" b="1" dirty="0" err="1"/>
              <a:t>ans</a:t>
            </a:r>
            <a:r>
              <a:rPr lang="en-IN" sz="2400" b="1" dirty="0"/>
              <a:t> += 1</a:t>
            </a:r>
          </a:p>
          <a:p>
            <a:pPr marL="0" indent="0">
              <a:spcBef>
                <a:spcPts val="0"/>
              </a:spcBef>
              <a:buNone/>
            </a:pPr>
            <a:r>
              <a:rPr lang="en-IN" sz="2400" b="1" dirty="0"/>
              <a:t>if </a:t>
            </a:r>
            <a:r>
              <a:rPr lang="en-IN" sz="2400" b="1" dirty="0" err="1"/>
              <a:t>ans</a:t>
            </a:r>
            <a:r>
              <a:rPr lang="en-IN" sz="2400" b="1" dirty="0"/>
              <a:t> &lt;= 100:</a:t>
            </a:r>
          </a:p>
          <a:p>
            <a:pPr marL="0" indent="0">
              <a:spcBef>
                <a:spcPts val="0"/>
              </a:spcBef>
              <a:buNone/>
            </a:pPr>
            <a:r>
              <a:rPr lang="en-IN" sz="2400" b="1" dirty="0"/>
              <a:t>  print(</a:t>
            </a:r>
            <a:r>
              <a:rPr lang="en-IN" sz="2400" b="1" dirty="0" err="1"/>
              <a:t>nums</a:t>
            </a:r>
            <a:r>
              <a:rPr lang="en-IN" sz="2400" b="1" dirty="0"/>
              <a:t>[</a:t>
            </a:r>
            <a:r>
              <a:rPr lang="en-IN" sz="2400" b="1" dirty="0" err="1"/>
              <a:t>ans</a:t>
            </a:r>
            <a:r>
              <a:rPr lang="en-IN" sz="2400" b="1" dirty="0"/>
              <a:t>],end="")</a:t>
            </a:r>
          </a:p>
          <a:p>
            <a:pPr marL="0" indent="0">
              <a:spcBef>
                <a:spcPts val="0"/>
              </a:spcBef>
              <a:buNone/>
            </a:pPr>
            <a:r>
              <a:rPr lang="en-IN" sz="2400" b="1" dirty="0"/>
              <a:t>else:</a:t>
            </a:r>
          </a:p>
          <a:p>
            <a:pPr marL="0" indent="0">
              <a:spcBef>
                <a:spcPts val="0"/>
              </a:spcBef>
              <a:buNone/>
            </a:pPr>
            <a:r>
              <a:rPr lang="en-IN" sz="2400" b="1" dirty="0"/>
              <a:t>  print("greater 100",end="")</a:t>
            </a:r>
          </a:p>
          <a:p>
            <a:pPr marL="0" indent="0">
              <a:spcBef>
                <a:spcPts val="0"/>
              </a:spcBef>
              <a:buNone/>
            </a:pPr>
            <a:endParaRPr lang="en-IN" sz="2400" b="1" dirty="0"/>
          </a:p>
        </p:txBody>
      </p:sp>
    </p:spTree>
    <p:extLst>
      <p:ext uri="{BB962C8B-B14F-4D97-AF65-F5344CB8AC3E}">
        <p14:creationId xmlns:p14="http://schemas.microsoft.com/office/powerpoint/2010/main" val="3996717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838200" y="136526"/>
            <a:ext cx="10515600" cy="434974"/>
          </a:xfrm>
        </p:spPr>
        <p:txBody>
          <a:bodyPr>
            <a:noAutofit/>
          </a:bodyPr>
          <a:lstStyle/>
          <a:p>
            <a:r>
              <a:rPr lang="en-US" sz="3000" b="1" dirty="0">
                <a:solidFill>
                  <a:srgbClr val="FF0000"/>
                </a:solidFill>
                <a:latin typeface="+mn-lt"/>
              </a:rPr>
              <a:t>Problem Statement 9</a:t>
            </a:r>
            <a:endParaRPr lang="en-IN" sz="3000" b="1"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695325"/>
            <a:ext cx="10515600" cy="5481638"/>
          </a:xfrm>
        </p:spPr>
        <p:txBody>
          <a:bodyPr>
            <a:noAutofit/>
          </a:bodyPr>
          <a:lstStyle/>
          <a:p>
            <a:pPr marL="0" algn="just">
              <a:spcBef>
                <a:spcPts val="0"/>
              </a:spcBef>
              <a:buFont typeface="Wingdings" panose="05000000000000000000" pitchFamily="2" charset="2"/>
              <a:buChar char="Ø"/>
            </a:pPr>
            <a:r>
              <a:rPr lang="en-US" sz="2400" b="1" i="0" dirty="0">
                <a:solidFill>
                  <a:srgbClr val="343434"/>
                </a:solidFill>
                <a:effectLst/>
                <a:highlight>
                  <a:srgbClr val="FFFFFF"/>
                </a:highlight>
              </a:rPr>
              <a:t> </a:t>
            </a:r>
            <a:r>
              <a:rPr lang="en-US" sz="2400" b="0" i="0" dirty="0">
                <a:solidFill>
                  <a:srgbClr val="343434"/>
                </a:solidFill>
                <a:effectLst/>
                <a:highlight>
                  <a:srgbClr val="FFFFFF"/>
                </a:highlight>
              </a:rPr>
              <a:t>Jaya invented a Time Machine and wants to test it by time-traveling to visit Russia on the Day of Programmer (the 256thday of the year) during a year in the inclusive range from 1700 to 2700. From 1700 to 1917 , Russia’s official calendar was the Julian Calendar since 1919 they used the Gregorian calendar system. The transition from the Julian to Gregorian calendar system occurred in 1918 , when the next day after 31 January was February 14 . This means that in 1918, February 14 was the 32nd day of the year in Russia. In both calendar systems, February is the only month with a variable amount of days; it has 29 days during a </a:t>
            </a:r>
            <a:r>
              <a:rPr lang="en-US" sz="2400" b="0" i="1" dirty="0">
                <a:solidFill>
                  <a:srgbClr val="343434"/>
                </a:solidFill>
                <a:effectLst/>
                <a:highlight>
                  <a:srgbClr val="FFFFFF"/>
                </a:highlight>
              </a:rPr>
              <a:t>leap year</a:t>
            </a:r>
            <a:r>
              <a:rPr lang="en-US" sz="2400" b="0" i="0" dirty="0">
                <a:solidFill>
                  <a:srgbClr val="343434"/>
                </a:solidFill>
                <a:effectLst/>
                <a:highlight>
                  <a:srgbClr val="FFFFFF"/>
                </a:highlight>
              </a:rPr>
              <a:t>, and 28 days during all other years. In the Julian calendar, leap years are divisible by 4 ; in the Gregorian calendar, leap years are either of the following:</a:t>
            </a:r>
          </a:p>
          <a:p>
            <a:pPr marL="0" algn="just">
              <a:spcBef>
                <a:spcPts val="0"/>
              </a:spcBef>
              <a:buFont typeface="Wingdings" panose="05000000000000000000" pitchFamily="2" charset="2"/>
              <a:buChar char="Ø"/>
            </a:pPr>
            <a:r>
              <a:rPr lang="en-US" sz="2400" b="0" i="0" dirty="0">
                <a:solidFill>
                  <a:srgbClr val="343434"/>
                </a:solidFill>
                <a:effectLst/>
                <a:highlight>
                  <a:srgbClr val="FFFFFF"/>
                </a:highlight>
              </a:rPr>
              <a:t>Divisible by 400</a:t>
            </a:r>
          </a:p>
          <a:p>
            <a:pPr marL="0" algn="just">
              <a:spcBef>
                <a:spcPts val="0"/>
              </a:spcBef>
              <a:buFont typeface="Wingdings" panose="05000000000000000000" pitchFamily="2" charset="2"/>
              <a:buChar char="Ø"/>
            </a:pPr>
            <a:r>
              <a:rPr lang="en-US" sz="2400" b="0" i="0" dirty="0">
                <a:solidFill>
                  <a:srgbClr val="343434"/>
                </a:solidFill>
                <a:effectLst/>
                <a:highlight>
                  <a:srgbClr val="FFFFFF"/>
                </a:highlight>
              </a:rPr>
              <a:t>Divisible by 4 and not divisible by 100</a:t>
            </a:r>
          </a:p>
          <a:p>
            <a:pPr marL="0" algn="just">
              <a:spcBef>
                <a:spcPts val="0"/>
              </a:spcBef>
              <a:buFont typeface="Wingdings" panose="05000000000000000000" pitchFamily="2" charset="2"/>
              <a:buChar char="Ø"/>
            </a:pPr>
            <a:r>
              <a:rPr lang="en-US" sz="2400" b="0" i="0" dirty="0">
                <a:solidFill>
                  <a:srgbClr val="343434"/>
                </a:solidFill>
                <a:effectLst/>
                <a:highlight>
                  <a:srgbClr val="FFFFFF"/>
                </a:highlight>
              </a:rPr>
              <a:t>Given a year, y, find the date of the 256th day of that year </a:t>
            </a:r>
            <a:r>
              <a:rPr lang="en-US" sz="2400" b="0" i="1" dirty="0">
                <a:solidFill>
                  <a:srgbClr val="343434"/>
                </a:solidFill>
                <a:effectLst/>
                <a:highlight>
                  <a:srgbClr val="FFFFFF"/>
                </a:highlight>
              </a:rPr>
              <a:t>according to the official Russian calendar during that year</a:t>
            </a:r>
            <a:r>
              <a:rPr lang="en-US" sz="2400" b="0" i="0" dirty="0">
                <a:solidFill>
                  <a:srgbClr val="343434"/>
                </a:solidFill>
                <a:effectLst/>
                <a:highlight>
                  <a:srgbClr val="FFFFFF"/>
                </a:highlight>
              </a:rPr>
              <a:t>. Then print it in the format </a:t>
            </a:r>
            <a:r>
              <a:rPr lang="en-US" sz="2400" b="0" i="0" dirty="0" err="1">
                <a:solidFill>
                  <a:srgbClr val="343434"/>
                </a:solidFill>
                <a:effectLst/>
                <a:highlight>
                  <a:srgbClr val="FFFFFF"/>
                </a:highlight>
              </a:rPr>
              <a:t>dd.mm.yyyy</a:t>
            </a:r>
            <a:r>
              <a:rPr lang="en-US" sz="2400" b="0" i="0" dirty="0">
                <a:solidFill>
                  <a:srgbClr val="343434"/>
                </a:solidFill>
                <a:effectLst/>
                <a:highlight>
                  <a:srgbClr val="FFFFFF"/>
                </a:highlight>
              </a:rPr>
              <a:t>, where dd is the two-digit day, mm is the two-digit month, and </a:t>
            </a:r>
            <a:r>
              <a:rPr lang="en-US" sz="2400" b="0" i="0" dirty="0" err="1">
                <a:solidFill>
                  <a:srgbClr val="343434"/>
                </a:solidFill>
                <a:effectLst/>
                <a:highlight>
                  <a:srgbClr val="FFFFFF"/>
                </a:highlight>
              </a:rPr>
              <a:t>yyyy</a:t>
            </a:r>
            <a:r>
              <a:rPr lang="en-US" sz="2400" b="0" i="0" dirty="0">
                <a:solidFill>
                  <a:srgbClr val="343434"/>
                </a:solidFill>
                <a:effectLst/>
                <a:highlight>
                  <a:srgbClr val="FFFFFF"/>
                </a:highlight>
              </a:rPr>
              <a:t> is y.</a:t>
            </a:r>
          </a:p>
          <a:p>
            <a:pPr marL="0" algn="just">
              <a:spcBef>
                <a:spcPts val="0"/>
              </a:spcBef>
              <a:buFont typeface="Wingdings" panose="05000000000000000000" pitchFamily="2" charset="2"/>
              <a:buChar char="Ø"/>
            </a:pPr>
            <a:r>
              <a:rPr lang="en-US" sz="2400" b="0" i="0" dirty="0">
                <a:solidFill>
                  <a:srgbClr val="343434"/>
                </a:solidFill>
                <a:effectLst/>
                <a:highlight>
                  <a:srgbClr val="FFFFFF"/>
                </a:highlight>
              </a:rPr>
              <a:t>For example, the given year is 1984.1984 is divisible by 4, so it is a leap year. The 256 day of a leap year after 1918 is September 12, so the answer is 12.9.1984. </a:t>
            </a:r>
          </a:p>
          <a:p>
            <a:pPr marL="0" algn="just">
              <a:spcBef>
                <a:spcPts val="0"/>
              </a:spcBef>
              <a:buFont typeface="Wingdings" panose="05000000000000000000" pitchFamily="2" charset="2"/>
              <a:buChar char="Ø"/>
            </a:pPr>
            <a:endParaRPr lang="en-IN" sz="2400" dirty="0"/>
          </a:p>
        </p:txBody>
      </p:sp>
    </p:spTree>
    <p:extLst>
      <p:ext uri="{BB962C8B-B14F-4D97-AF65-F5344CB8AC3E}">
        <p14:creationId xmlns:p14="http://schemas.microsoft.com/office/powerpoint/2010/main" val="1326450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628650"/>
            <a:ext cx="10515600" cy="5905500"/>
          </a:xfrm>
        </p:spPr>
        <p:txBody>
          <a:bodyPr>
            <a:noAutofit/>
          </a:bodyPr>
          <a:lstStyle/>
          <a:p>
            <a:pPr marL="0" indent="0" algn="l">
              <a:buNone/>
            </a:pPr>
            <a:r>
              <a:rPr lang="en-US" sz="2400" b="1" i="0" dirty="0">
                <a:solidFill>
                  <a:srgbClr val="343434"/>
                </a:solidFill>
                <a:effectLst/>
                <a:highlight>
                  <a:srgbClr val="FFFFFF"/>
                </a:highlight>
              </a:rPr>
              <a:t>Function Description</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Complete the </a:t>
            </a:r>
            <a:r>
              <a:rPr lang="en-US" sz="2400" b="0" i="1" dirty="0">
                <a:solidFill>
                  <a:srgbClr val="343434"/>
                </a:solidFill>
                <a:effectLst/>
                <a:highlight>
                  <a:srgbClr val="FFFFFF"/>
                </a:highlight>
              </a:rPr>
              <a:t>programmer day </a:t>
            </a:r>
            <a:r>
              <a:rPr lang="en-US" sz="2400" b="0" i="0" dirty="0">
                <a:solidFill>
                  <a:srgbClr val="343434"/>
                </a:solidFill>
                <a:effectLst/>
                <a:highlight>
                  <a:srgbClr val="FFFFFF"/>
                </a:highlight>
              </a:rPr>
              <a:t>function in the editor below. It should return a string representing the date of the 256th day of the year given.</a:t>
            </a:r>
          </a:p>
          <a:p>
            <a:pPr marL="0" indent="0" algn="l">
              <a:buNone/>
            </a:pPr>
            <a:r>
              <a:rPr lang="en-US" sz="2400" b="0" i="0" dirty="0">
                <a:solidFill>
                  <a:srgbClr val="343434"/>
                </a:solidFill>
                <a:effectLst/>
                <a:highlight>
                  <a:srgbClr val="FFFFFF"/>
                </a:highlight>
              </a:rPr>
              <a:t>Programmer day has the following parameter(s):</a:t>
            </a:r>
          </a:p>
          <a:p>
            <a:pPr marL="457200" lvl="1" indent="0" algn="l">
              <a:buNone/>
            </a:pPr>
            <a:r>
              <a:rPr lang="en-US" b="0" i="0" dirty="0">
                <a:solidFill>
                  <a:srgbClr val="343434"/>
                </a:solidFill>
                <a:effectLst/>
                <a:highlight>
                  <a:srgbClr val="FFFFFF"/>
                </a:highlight>
              </a:rPr>
              <a:t>year: an integer </a:t>
            </a:r>
          </a:p>
          <a:p>
            <a:pPr marL="0" indent="0" algn="l">
              <a:buNone/>
            </a:pPr>
            <a:r>
              <a:rPr lang="en-US" sz="2400" b="1" i="0" dirty="0">
                <a:solidFill>
                  <a:srgbClr val="343434"/>
                </a:solidFill>
                <a:effectLst/>
                <a:highlight>
                  <a:srgbClr val="FFFFFF"/>
                </a:highlight>
              </a:rPr>
              <a:t>Input Format</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A single integer denoting year y.</a:t>
            </a:r>
          </a:p>
          <a:p>
            <a:pPr marL="0" indent="0" algn="l">
              <a:buNone/>
            </a:pPr>
            <a:r>
              <a:rPr lang="en-US" sz="2400" b="1" i="0" dirty="0">
                <a:solidFill>
                  <a:srgbClr val="343434"/>
                </a:solidFill>
                <a:effectLst/>
                <a:highlight>
                  <a:srgbClr val="FFFFFF"/>
                </a:highlight>
              </a:rPr>
              <a:t>Output Format</a:t>
            </a:r>
            <a:endParaRPr lang="en-US" sz="2400" b="0" i="0" dirty="0">
              <a:solidFill>
                <a:srgbClr val="343434"/>
              </a:solidFill>
              <a:effectLst/>
              <a:highlight>
                <a:srgbClr val="FFFFFF"/>
              </a:highlight>
            </a:endParaRPr>
          </a:p>
          <a:p>
            <a:pPr marL="0" indent="0" algn="l">
              <a:buNone/>
            </a:pPr>
            <a:r>
              <a:rPr lang="en-US" sz="2400" b="0" i="0" dirty="0">
                <a:solidFill>
                  <a:srgbClr val="343434"/>
                </a:solidFill>
                <a:effectLst/>
                <a:highlight>
                  <a:srgbClr val="FFFFFF"/>
                </a:highlight>
              </a:rPr>
              <a:t>Print the full date of </a:t>
            </a:r>
            <a:r>
              <a:rPr lang="en-US" sz="2400" b="0" i="0" dirty="0" err="1">
                <a:solidFill>
                  <a:srgbClr val="343434"/>
                </a:solidFill>
                <a:effectLst/>
                <a:highlight>
                  <a:srgbClr val="FFFFFF"/>
                </a:highlight>
              </a:rPr>
              <a:t>programmerday</a:t>
            </a:r>
            <a:r>
              <a:rPr lang="en-US" sz="2400" b="0" i="0" dirty="0">
                <a:solidFill>
                  <a:srgbClr val="343434"/>
                </a:solidFill>
                <a:effectLst/>
                <a:highlight>
                  <a:srgbClr val="FFFFFF"/>
                </a:highlight>
              </a:rPr>
              <a:t> during year y in the format </a:t>
            </a:r>
            <a:r>
              <a:rPr lang="en-US" sz="2400" b="0" i="0" dirty="0" err="1">
                <a:solidFill>
                  <a:srgbClr val="343434"/>
                </a:solidFill>
                <a:effectLst/>
                <a:highlight>
                  <a:srgbClr val="FFFFFF"/>
                </a:highlight>
              </a:rPr>
              <a:t>dd.mm.yyyy</a:t>
            </a:r>
            <a:r>
              <a:rPr lang="en-US" sz="2400" b="0" i="0" dirty="0">
                <a:solidFill>
                  <a:srgbClr val="343434"/>
                </a:solidFill>
                <a:effectLst/>
                <a:highlight>
                  <a:srgbClr val="FFFFFF"/>
                </a:highlight>
              </a:rPr>
              <a:t>, where dd is the two-digit day, mm is the two-digit month, and </a:t>
            </a:r>
            <a:r>
              <a:rPr lang="en-US" sz="2400" b="0" i="0" dirty="0" err="1">
                <a:solidFill>
                  <a:srgbClr val="343434"/>
                </a:solidFill>
                <a:effectLst/>
                <a:highlight>
                  <a:srgbClr val="FFFFFF"/>
                </a:highlight>
              </a:rPr>
              <a:t>yyyy</a:t>
            </a:r>
            <a:r>
              <a:rPr lang="en-US" sz="2400" b="0" i="0" dirty="0">
                <a:solidFill>
                  <a:srgbClr val="343434"/>
                </a:solidFill>
                <a:effectLst/>
                <a:highlight>
                  <a:srgbClr val="FFFFFF"/>
                </a:highlight>
              </a:rPr>
              <a:t> is y.</a:t>
            </a:r>
          </a:p>
          <a:p>
            <a:pPr marL="0" indent="0" algn="l">
              <a:buNone/>
            </a:pPr>
            <a:r>
              <a:rPr lang="en-US" sz="2400" b="1" i="0" dirty="0">
                <a:solidFill>
                  <a:srgbClr val="343434"/>
                </a:solidFill>
                <a:effectLst/>
                <a:highlight>
                  <a:srgbClr val="FFFFFF"/>
                </a:highlight>
              </a:rPr>
              <a:t>Sample Input</a:t>
            </a:r>
            <a:br>
              <a:rPr lang="en-US" sz="2400" b="1" i="0" dirty="0">
                <a:solidFill>
                  <a:srgbClr val="343434"/>
                </a:solidFill>
                <a:effectLst/>
                <a:highlight>
                  <a:srgbClr val="FFFFFF"/>
                </a:highlight>
              </a:rPr>
            </a:br>
            <a:r>
              <a:rPr lang="en-US" sz="2400" b="0" i="0" dirty="0">
                <a:solidFill>
                  <a:srgbClr val="343434"/>
                </a:solidFill>
                <a:effectLst/>
                <a:highlight>
                  <a:srgbClr val="FFFFFF"/>
                </a:highlight>
              </a:rPr>
              <a:t>2017</a:t>
            </a:r>
          </a:p>
          <a:p>
            <a:pPr marL="0" indent="0" algn="l">
              <a:buNone/>
            </a:pPr>
            <a:r>
              <a:rPr lang="en-US" sz="2400" b="1" i="0" dirty="0">
                <a:solidFill>
                  <a:srgbClr val="343434"/>
                </a:solidFill>
                <a:effectLst/>
                <a:highlight>
                  <a:srgbClr val="FFFFFF"/>
                </a:highlight>
              </a:rPr>
              <a:t>Sample Output</a:t>
            </a:r>
            <a:br>
              <a:rPr lang="en-US" sz="2400" b="1" i="0" dirty="0">
                <a:solidFill>
                  <a:srgbClr val="343434"/>
                </a:solidFill>
                <a:effectLst/>
                <a:highlight>
                  <a:srgbClr val="FFFFFF"/>
                </a:highlight>
              </a:rPr>
            </a:br>
            <a:r>
              <a:rPr lang="en-US" sz="2400" b="0" i="0" dirty="0">
                <a:solidFill>
                  <a:srgbClr val="343434"/>
                </a:solidFill>
                <a:effectLst/>
                <a:highlight>
                  <a:srgbClr val="FFFFFF"/>
                </a:highlight>
              </a:rPr>
              <a:t>13.09.2017</a:t>
            </a:r>
          </a:p>
          <a:p>
            <a:pPr marL="0" indent="0">
              <a:buNone/>
            </a:pPr>
            <a:endParaRPr lang="en-IN" sz="2400" dirty="0"/>
          </a:p>
        </p:txBody>
      </p:sp>
    </p:spTree>
    <p:extLst>
      <p:ext uri="{BB962C8B-B14F-4D97-AF65-F5344CB8AC3E}">
        <p14:creationId xmlns:p14="http://schemas.microsoft.com/office/powerpoint/2010/main" val="2035629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838200" y="445293"/>
            <a:ext cx="10515600" cy="5967413"/>
          </a:xfrm>
        </p:spPr>
        <p:txBody>
          <a:bodyPr>
            <a:noAutofit/>
          </a:bodyPr>
          <a:lstStyle/>
          <a:p>
            <a:pPr marL="0" indent="0">
              <a:spcBef>
                <a:spcPts val="0"/>
              </a:spcBef>
              <a:buNone/>
            </a:pPr>
            <a:r>
              <a:rPr lang="en-US" sz="2400" b="1" dirty="0"/>
              <a:t>def </a:t>
            </a:r>
            <a:r>
              <a:rPr lang="en-US" sz="2400" b="1" dirty="0" err="1"/>
              <a:t>dayOfProgrammer</a:t>
            </a:r>
            <a:r>
              <a:rPr lang="en-US" sz="2400" b="1" dirty="0"/>
              <a:t>(year):</a:t>
            </a:r>
          </a:p>
          <a:p>
            <a:pPr marL="0" indent="0">
              <a:spcBef>
                <a:spcPts val="0"/>
              </a:spcBef>
              <a:buNone/>
            </a:pPr>
            <a:r>
              <a:rPr lang="en-US" sz="2400" b="1" dirty="0"/>
              <a:t>    if year&gt;=1700 and year&lt;=1917:</a:t>
            </a:r>
          </a:p>
          <a:p>
            <a:pPr marL="0" indent="0">
              <a:spcBef>
                <a:spcPts val="0"/>
              </a:spcBef>
              <a:buNone/>
            </a:pPr>
            <a:r>
              <a:rPr lang="en-US" sz="2400" b="1" dirty="0"/>
              <a:t>        if year%4==0:</a:t>
            </a:r>
          </a:p>
          <a:p>
            <a:pPr marL="0" indent="0">
              <a:spcBef>
                <a:spcPts val="0"/>
              </a:spcBef>
              <a:buNone/>
            </a:pPr>
            <a:r>
              <a:rPr lang="en-US" sz="2400" b="1" dirty="0"/>
              <a:t>            return "12.09."+str(year)</a:t>
            </a:r>
          </a:p>
          <a:p>
            <a:pPr marL="0" indent="0">
              <a:spcBef>
                <a:spcPts val="0"/>
              </a:spcBef>
              <a:buNone/>
            </a:pPr>
            <a:r>
              <a:rPr lang="en-US" sz="2400" b="1" dirty="0"/>
              <a:t>        else:</a:t>
            </a:r>
          </a:p>
          <a:p>
            <a:pPr marL="0" indent="0">
              <a:spcBef>
                <a:spcPts val="0"/>
              </a:spcBef>
              <a:buNone/>
            </a:pPr>
            <a:r>
              <a:rPr lang="en-US" sz="2400" b="1" dirty="0"/>
              <a:t>            return "13.09."+str(year)</a:t>
            </a:r>
          </a:p>
          <a:p>
            <a:pPr marL="0" indent="0">
              <a:spcBef>
                <a:spcPts val="0"/>
              </a:spcBef>
              <a:buNone/>
            </a:pPr>
            <a:r>
              <a:rPr lang="en-US" sz="2400" b="1" dirty="0"/>
              <a:t>    </a:t>
            </a:r>
            <a:r>
              <a:rPr lang="en-US" sz="2400" b="1" dirty="0" err="1"/>
              <a:t>elif</a:t>
            </a:r>
            <a:r>
              <a:rPr lang="en-US" sz="2400" b="1" dirty="0"/>
              <a:t> year==1918:</a:t>
            </a:r>
          </a:p>
          <a:p>
            <a:pPr marL="0" indent="0">
              <a:spcBef>
                <a:spcPts val="0"/>
              </a:spcBef>
              <a:buNone/>
            </a:pPr>
            <a:r>
              <a:rPr lang="en-US" sz="2400" b="1" dirty="0"/>
              <a:t>        return "26.09."+str(year)</a:t>
            </a:r>
          </a:p>
          <a:p>
            <a:pPr marL="0" indent="0">
              <a:spcBef>
                <a:spcPts val="0"/>
              </a:spcBef>
              <a:buNone/>
            </a:pPr>
            <a:r>
              <a:rPr lang="en-US" sz="2400" b="1" dirty="0"/>
              <a:t>    else:</a:t>
            </a:r>
          </a:p>
          <a:p>
            <a:pPr marL="0" indent="0">
              <a:spcBef>
                <a:spcPts val="0"/>
              </a:spcBef>
              <a:buNone/>
            </a:pPr>
            <a:r>
              <a:rPr lang="en-US" sz="2400" b="1" dirty="0"/>
              <a:t>        a=not(year%100)</a:t>
            </a:r>
          </a:p>
          <a:p>
            <a:pPr marL="0" indent="0">
              <a:spcBef>
                <a:spcPts val="0"/>
              </a:spcBef>
              <a:buNone/>
            </a:pPr>
            <a:r>
              <a:rPr lang="en-US" sz="2400" b="1" dirty="0"/>
              <a:t>        if (( year%400 == 0)or (( year%4 == 0 ) and ( year%100 != 0))):</a:t>
            </a:r>
          </a:p>
          <a:p>
            <a:pPr marL="0" indent="0">
              <a:spcBef>
                <a:spcPts val="0"/>
              </a:spcBef>
              <a:buNone/>
            </a:pPr>
            <a:r>
              <a:rPr lang="en-US" sz="2400" b="1" dirty="0"/>
              <a:t>            return "12.09."+str(year)</a:t>
            </a:r>
          </a:p>
          <a:p>
            <a:pPr marL="0" indent="0">
              <a:spcBef>
                <a:spcPts val="0"/>
              </a:spcBef>
              <a:buNone/>
            </a:pPr>
            <a:r>
              <a:rPr lang="en-US" sz="2400" b="1" dirty="0"/>
              <a:t>        else:</a:t>
            </a:r>
          </a:p>
          <a:p>
            <a:pPr marL="0" indent="0">
              <a:spcBef>
                <a:spcPts val="0"/>
              </a:spcBef>
              <a:buNone/>
            </a:pPr>
            <a:r>
              <a:rPr lang="en-US" sz="2400" b="1" dirty="0"/>
              <a:t>            return "13.09."+str(year)</a:t>
            </a:r>
          </a:p>
          <a:p>
            <a:pPr marL="0" indent="0">
              <a:spcBef>
                <a:spcPts val="0"/>
              </a:spcBef>
              <a:buNone/>
            </a:pPr>
            <a:r>
              <a:rPr lang="en-US" sz="2400" b="1" dirty="0"/>
              <a:t>year = int(input().strip())</a:t>
            </a:r>
          </a:p>
          <a:p>
            <a:pPr marL="0" indent="0">
              <a:spcBef>
                <a:spcPts val="0"/>
              </a:spcBef>
              <a:buNone/>
            </a:pPr>
            <a:r>
              <a:rPr lang="en-US" sz="2400" b="1" dirty="0"/>
              <a:t>result = </a:t>
            </a:r>
            <a:r>
              <a:rPr lang="en-US" sz="2400" b="1" dirty="0" err="1"/>
              <a:t>dayOfProgrammer</a:t>
            </a:r>
            <a:r>
              <a:rPr lang="en-US" sz="2400" b="1" dirty="0"/>
              <a:t>(year)</a:t>
            </a:r>
          </a:p>
          <a:p>
            <a:pPr marL="0" indent="0">
              <a:spcBef>
                <a:spcPts val="0"/>
              </a:spcBef>
              <a:buNone/>
            </a:pPr>
            <a:r>
              <a:rPr lang="en-US" sz="2400" b="1" dirty="0"/>
              <a:t>print(result)</a:t>
            </a:r>
          </a:p>
          <a:p>
            <a:pPr marL="0" indent="0">
              <a:spcBef>
                <a:spcPts val="0"/>
              </a:spcBef>
              <a:buNone/>
            </a:pPr>
            <a:endParaRPr lang="en-IN" sz="2400" b="1" dirty="0"/>
          </a:p>
        </p:txBody>
      </p:sp>
    </p:spTree>
    <p:extLst>
      <p:ext uri="{BB962C8B-B14F-4D97-AF65-F5344CB8AC3E}">
        <p14:creationId xmlns:p14="http://schemas.microsoft.com/office/powerpoint/2010/main" val="2527313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838200" y="365126"/>
            <a:ext cx="10515600" cy="315912"/>
          </a:xfrm>
        </p:spPr>
        <p:txBody>
          <a:bodyPr>
            <a:noAutofit/>
          </a:bodyPr>
          <a:lstStyle/>
          <a:p>
            <a:r>
              <a:rPr lang="en-US" sz="3000" b="1" i="0" dirty="0">
                <a:solidFill>
                  <a:srgbClr val="FF0000"/>
                </a:solidFill>
                <a:effectLst/>
                <a:highlight>
                  <a:srgbClr val="FFFFFF"/>
                </a:highlight>
                <a:latin typeface="+mn-lt"/>
              </a:rPr>
              <a:t>Problem Statement 10</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457200" y="876300"/>
            <a:ext cx="10896600" cy="5300663"/>
          </a:xfrm>
        </p:spPr>
        <p:txBody>
          <a:bodyPr>
            <a:noAutofit/>
          </a:bodyPr>
          <a:lstStyle/>
          <a:p>
            <a:pPr marL="0" indent="0" algn="just">
              <a:spcBef>
                <a:spcPts val="0"/>
              </a:spcBef>
              <a:buNone/>
            </a:pPr>
            <a:r>
              <a:rPr lang="en-US" sz="2600" b="0" i="0" dirty="0">
                <a:solidFill>
                  <a:srgbClr val="343434"/>
                </a:solidFill>
                <a:effectLst/>
                <a:highlight>
                  <a:srgbClr val="FFFFFF"/>
                </a:highlight>
              </a:rPr>
              <a:t>Hobo’s Drawing teacher asks his class to open their books to a page number. Hobo can either start turning pages from the front of the book or from the back of the book. He always turns pages one at a time. When she opens the book, page 1 is always on the right side: When he flips page 1, he sees pages 2 and 3. Each page except the last page will always be printed on both sides. The last page may only be printed on the front, given the length of the book. If the book is n pages long, and he wants to turn to page p, what is the minimum number of pages he will turn? He can start at the beginning or the end of the book. Given n and p, find and print the minimum number of pages Hobo must turn in order to arrive at page p</a:t>
            </a:r>
          </a:p>
          <a:p>
            <a:pPr marL="0" indent="0" algn="l">
              <a:spcBef>
                <a:spcPts val="0"/>
              </a:spcBef>
              <a:buNone/>
            </a:pPr>
            <a:r>
              <a:rPr lang="en-US" sz="2600" b="1" i="0" dirty="0">
                <a:solidFill>
                  <a:srgbClr val="FF0000"/>
                </a:solidFill>
                <a:effectLst/>
                <a:highlight>
                  <a:srgbClr val="FFFFFF"/>
                </a:highlight>
              </a:rPr>
              <a:t>Function Description</a:t>
            </a:r>
            <a:endParaRPr lang="en-US" sz="2600" b="0" i="0" dirty="0">
              <a:solidFill>
                <a:srgbClr val="FF0000"/>
              </a:solidFill>
              <a:effectLst/>
              <a:highlight>
                <a:srgbClr val="FFFFFF"/>
              </a:highlight>
            </a:endParaRPr>
          </a:p>
          <a:p>
            <a:pPr marL="0" indent="0" algn="l">
              <a:spcBef>
                <a:spcPts val="0"/>
              </a:spcBef>
              <a:buNone/>
            </a:pPr>
            <a:r>
              <a:rPr lang="en-US" sz="2600" b="0" i="0" dirty="0">
                <a:solidFill>
                  <a:srgbClr val="343434"/>
                </a:solidFill>
                <a:effectLst/>
                <a:highlight>
                  <a:srgbClr val="FFFFFF"/>
                </a:highlight>
              </a:rPr>
              <a:t>Complete the </a:t>
            </a:r>
            <a:r>
              <a:rPr lang="en-US" sz="2600" b="0" i="1" dirty="0" err="1">
                <a:solidFill>
                  <a:srgbClr val="343434"/>
                </a:solidFill>
                <a:effectLst/>
                <a:highlight>
                  <a:srgbClr val="FFFFFF"/>
                </a:highlight>
              </a:rPr>
              <a:t>countpage</a:t>
            </a:r>
            <a:r>
              <a:rPr lang="en-US" sz="2600" b="0" i="1" dirty="0">
                <a:solidFill>
                  <a:srgbClr val="343434"/>
                </a:solidFill>
                <a:effectLst/>
                <a:highlight>
                  <a:srgbClr val="FFFFFF"/>
                </a:highlight>
              </a:rPr>
              <a:t> </a:t>
            </a:r>
            <a:r>
              <a:rPr lang="en-US" sz="2600" b="0" i="0" dirty="0">
                <a:solidFill>
                  <a:srgbClr val="343434"/>
                </a:solidFill>
                <a:effectLst/>
                <a:highlight>
                  <a:srgbClr val="FFFFFF"/>
                </a:highlight>
              </a:rPr>
              <a:t>function in the editor below. It should return the minimum number of pages Hobo must turn.</a:t>
            </a:r>
          </a:p>
          <a:p>
            <a:pPr marL="0" indent="0" algn="l">
              <a:spcBef>
                <a:spcPts val="0"/>
              </a:spcBef>
              <a:buNone/>
            </a:pPr>
            <a:r>
              <a:rPr lang="en-US" sz="2600" b="0" i="1" dirty="0" err="1">
                <a:solidFill>
                  <a:srgbClr val="343434"/>
                </a:solidFill>
                <a:effectLst/>
                <a:highlight>
                  <a:srgbClr val="FFFFFF"/>
                </a:highlight>
              </a:rPr>
              <a:t>countpage</a:t>
            </a:r>
            <a:r>
              <a:rPr lang="en-US" sz="2600" b="0" i="1" dirty="0">
                <a:solidFill>
                  <a:srgbClr val="343434"/>
                </a:solidFill>
                <a:effectLst/>
                <a:highlight>
                  <a:srgbClr val="FFFFFF"/>
                </a:highlight>
              </a:rPr>
              <a:t> </a:t>
            </a:r>
            <a:r>
              <a:rPr lang="en-US" sz="2600" b="0" i="0" dirty="0">
                <a:solidFill>
                  <a:srgbClr val="343434"/>
                </a:solidFill>
                <a:effectLst/>
                <a:highlight>
                  <a:srgbClr val="FFFFFF"/>
                </a:highlight>
              </a:rPr>
              <a:t>has the following parameter(s):</a:t>
            </a:r>
          </a:p>
          <a:p>
            <a:pPr marL="0" indent="0" algn="l">
              <a:spcBef>
                <a:spcPts val="0"/>
              </a:spcBef>
              <a:buNone/>
            </a:pPr>
            <a:r>
              <a:rPr lang="en-US" sz="2600" b="0" i="1" dirty="0">
                <a:solidFill>
                  <a:srgbClr val="343434"/>
                </a:solidFill>
                <a:effectLst/>
                <a:highlight>
                  <a:srgbClr val="FFFFFF"/>
                </a:highlight>
              </a:rPr>
              <a:t>n</a:t>
            </a:r>
            <a:r>
              <a:rPr lang="en-US" sz="2600" b="0" i="0" dirty="0">
                <a:solidFill>
                  <a:srgbClr val="343434"/>
                </a:solidFill>
                <a:effectLst/>
                <a:highlight>
                  <a:srgbClr val="FFFFFF"/>
                </a:highlight>
              </a:rPr>
              <a:t>: the number of pages in the book</a:t>
            </a:r>
          </a:p>
          <a:p>
            <a:pPr marL="0" indent="0" algn="l">
              <a:spcBef>
                <a:spcPts val="0"/>
              </a:spcBef>
              <a:buNone/>
            </a:pPr>
            <a:r>
              <a:rPr lang="en-US" sz="2600" b="0" i="1" dirty="0">
                <a:solidFill>
                  <a:srgbClr val="343434"/>
                </a:solidFill>
                <a:effectLst/>
                <a:highlight>
                  <a:srgbClr val="FFFFFF"/>
                </a:highlight>
              </a:rPr>
              <a:t>p</a:t>
            </a:r>
            <a:r>
              <a:rPr lang="en-US" sz="2600" b="0" i="0" dirty="0">
                <a:solidFill>
                  <a:srgbClr val="343434"/>
                </a:solidFill>
                <a:effectLst/>
                <a:highlight>
                  <a:srgbClr val="FFFFFF"/>
                </a:highlight>
              </a:rPr>
              <a:t>: the page number to turn to</a:t>
            </a:r>
          </a:p>
          <a:p>
            <a:pPr marL="0" indent="0">
              <a:spcBef>
                <a:spcPts val="0"/>
              </a:spcBef>
              <a:buNone/>
            </a:pPr>
            <a:endParaRPr lang="en-IN" sz="2600" dirty="0"/>
          </a:p>
        </p:txBody>
      </p:sp>
    </p:spTree>
    <p:extLst>
      <p:ext uri="{BB962C8B-B14F-4D97-AF65-F5344CB8AC3E}">
        <p14:creationId xmlns:p14="http://schemas.microsoft.com/office/powerpoint/2010/main" val="3656404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657225"/>
            <a:ext cx="10515600" cy="5519738"/>
          </a:xfrm>
        </p:spPr>
        <p:txBody>
          <a:bodyPr>
            <a:normAutofit/>
          </a:bodyPr>
          <a:lstStyle/>
          <a:p>
            <a:pPr marL="0" indent="0" algn="l">
              <a:buNone/>
            </a:pPr>
            <a:r>
              <a:rPr lang="en-US" sz="2600" b="1" i="0" dirty="0">
                <a:solidFill>
                  <a:srgbClr val="343434"/>
                </a:solidFill>
                <a:effectLst/>
                <a:highlight>
                  <a:srgbClr val="FFFFFF"/>
                </a:highlight>
              </a:rPr>
              <a:t>Input Format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The first line contains an integer n, the number of pages in the book.</a:t>
            </a:r>
          </a:p>
          <a:p>
            <a:pPr marL="0" indent="0" algn="l">
              <a:buNone/>
            </a:pPr>
            <a:r>
              <a:rPr lang="en-US" sz="2600" b="0" i="0" dirty="0">
                <a:solidFill>
                  <a:srgbClr val="343434"/>
                </a:solidFill>
                <a:effectLst/>
                <a:highlight>
                  <a:srgbClr val="FFFFFF"/>
                </a:highlight>
              </a:rPr>
              <a:t>The second line contains an integer, p, the page that Hobo’s teacher wants her to turn to.</a:t>
            </a:r>
          </a:p>
          <a:p>
            <a:pPr marL="0" indent="0" algn="l">
              <a:buNone/>
            </a:pPr>
            <a:r>
              <a:rPr lang="en-US" sz="2600" b="1" i="0" dirty="0">
                <a:solidFill>
                  <a:srgbClr val="343434"/>
                </a:solidFill>
                <a:effectLst/>
                <a:highlight>
                  <a:srgbClr val="FFFFFF"/>
                </a:highlight>
              </a:rPr>
              <a:t>Output Format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Print an integer denoting the minimum number of pages Hobo must turn to get to page p</a:t>
            </a:r>
          </a:p>
          <a:p>
            <a:pPr marL="0" indent="0" algn="l">
              <a:buNone/>
            </a:pPr>
            <a:r>
              <a:rPr lang="en-US" sz="2600" b="1" i="0" dirty="0">
                <a:solidFill>
                  <a:srgbClr val="343434"/>
                </a:solidFill>
                <a:effectLst/>
                <a:highlight>
                  <a:srgbClr val="FFFFFF"/>
                </a:highlight>
              </a:rPr>
              <a:t>Sample Input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6</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2</a:t>
            </a:r>
          </a:p>
          <a:p>
            <a:pPr marL="0" indent="0" algn="l">
              <a:buNone/>
            </a:pPr>
            <a:r>
              <a:rPr lang="en-US" sz="2600" b="1" i="0" dirty="0">
                <a:solidFill>
                  <a:srgbClr val="343434"/>
                </a:solidFill>
                <a:effectLst/>
                <a:highlight>
                  <a:srgbClr val="FFFFFF"/>
                </a:highlight>
              </a:rPr>
              <a:t>Sample Output </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1</a:t>
            </a:r>
          </a:p>
          <a:p>
            <a:pPr marL="0" indent="0">
              <a:buNone/>
            </a:pPr>
            <a:endParaRPr lang="en-IN" sz="2600" dirty="0"/>
          </a:p>
        </p:txBody>
      </p:sp>
    </p:spTree>
    <p:extLst>
      <p:ext uri="{BB962C8B-B14F-4D97-AF65-F5344CB8AC3E}">
        <p14:creationId xmlns:p14="http://schemas.microsoft.com/office/powerpoint/2010/main" val="1964320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609600" y="1253331"/>
            <a:ext cx="10515600" cy="4351338"/>
          </a:xfrm>
        </p:spPr>
        <p:txBody>
          <a:bodyPr>
            <a:normAutofit/>
          </a:bodyPr>
          <a:lstStyle/>
          <a:p>
            <a:pPr marL="0" indent="0">
              <a:buNone/>
            </a:pPr>
            <a:r>
              <a:rPr lang="en-IN" sz="2600" b="1" dirty="0"/>
              <a:t>def </a:t>
            </a:r>
            <a:r>
              <a:rPr lang="en-IN" sz="2600" b="1" dirty="0" err="1"/>
              <a:t>pageCount</a:t>
            </a:r>
            <a:r>
              <a:rPr lang="en-IN" sz="2600" b="1" dirty="0"/>
              <a:t>(n, p):</a:t>
            </a:r>
          </a:p>
          <a:p>
            <a:pPr marL="0" indent="0">
              <a:buNone/>
            </a:pPr>
            <a:r>
              <a:rPr lang="en-IN" sz="2600" b="1" dirty="0"/>
              <a:t>    return min(p//2, n//2 - p//2)</a:t>
            </a:r>
          </a:p>
          <a:p>
            <a:pPr marL="0" indent="0">
              <a:buNone/>
            </a:pPr>
            <a:r>
              <a:rPr lang="en-IN" sz="2600" b="1" dirty="0"/>
              <a:t>n = int(input())</a:t>
            </a:r>
          </a:p>
          <a:p>
            <a:pPr marL="0" indent="0">
              <a:buNone/>
            </a:pPr>
            <a:r>
              <a:rPr lang="en-IN" sz="2600" b="1" dirty="0"/>
              <a:t>p = int(input())</a:t>
            </a:r>
          </a:p>
          <a:p>
            <a:pPr marL="0" indent="0">
              <a:buNone/>
            </a:pPr>
            <a:r>
              <a:rPr lang="en-IN" sz="2600" b="1" dirty="0"/>
              <a:t>result = </a:t>
            </a:r>
            <a:r>
              <a:rPr lang="en-IN" sz="2600" b="1" dirty="0" err="1"/>
              <a:t>pageCount</a:t>
            </a:r>
            <a:r>
              <a:rPr lang="en-IN" sz="2600" b="1" dirty="0"/>
              <a:t>(n, p)</a:t>
            </a:r>
          </a:p>
          <a:p>
            <a:pPr marL="0" indent="0">
              <a:buNone/>
            </a:pPr>
            <a:r>
              <a:rPr lang="en-IN" sz="2600" b="1" dirty="0"/>
              <a:t>print(result)</a:t>
            </a:r>
          </a:p>
          <a:p>
            <a:pPr marL="0" indent="0">
              <a:buNone/>
            </a:pPr>
            <a:endParaRPr lang="en-IN" sz="2600" b="1" dirty="0"/>
          </a:p>
        </p:txBody>
      </p:sp>
    </p:spTree>
    <p:extLst>
      <p:ext uri="{BB962C8B-B14F-4D97-AF65-F5344CB8AC3E}">
        <p14:creationId xmlns:p14="http://schemas.microsoft.com/office/powerpoint/2010/main" val="2367852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762000" y="174626"/>
            <a:ext cx="10515600" cy="425450"/>
          </a:xfrm>
        </p:spPr>
        <p:txBody>
          <a:bodyPr>
            <a:noAutofit/>
          </a:bodyPr>
          <a:lstStyle/>
          <a:p>
            <a:r>
              <a:rPr lang="en-US" sz="3000" b="1" i="0" dirty="0">
                <a:solidFill>
                  <a:srgbClr val="FF0000"/>
                </a:solidFill>
                <a:effectLst/>
                <a:highlight>
                  <a:srgbClr val="FFFFFF"/>
                </a:highlight>
                <a:latin typeface="+mn-lt"/>
              </a:rPr>
              <a:t>Problem Statement 11</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762000" y="996950"/>
            <a:ext cx="10515600" cy="5556250"/>
          </a:xfrm>
        </p:spPr>
        <p:txBody>
          <a:bodyPr>
            <a:normAutofit fontScale="92500" lnSpcReduction="20000"/>
          </a:bodyPr>
          <a:lstStyle/>
          <a:p>
            <a:pPr algn="just"/>
            <a:r>
              <a:rPr lang="en-US" b="0" i="0" dirty="0">
                <a:solidFill>
                  <a:srgbClr val="343434"/>
                </a:solidFill>
                <a:effectLst/>
                <a:highlight>
                  <a:srgbClr val="FFFFFF"/>
                </a:highlight>
              </a:rPr>
              <a:t>You will be given an array of integers and a target value. Determine the number of pairs of array elements that have a difference equal to a target value.</a:t>
            </a:r>
          </a:p>
          <a:p>
            <a:pPr algn="l"/>
            <a:r>
              <a:rPr lang="en-US" b="0" i="0" dirty="0">
                <a:solidFill>
                  <a:srgbClr val="343434"/>
                </a:solidFill>
                <a:effectLst/>
                <a:highlight>
                  <a:srgbClr val="FFFFFF"/>
                </a:highlight>
              </a:rPr>
              <a:t>For example, given an array of [1, 2, 3, 4] and a target value of 1, we have three values meeting the condition: 2-1 = 1, 3-2 = 1, and 4-3 = 1.</a:t>
            </a:r>
          </a:p>
          <a:p>
            <a:pPr marL="0" indent="0" algn="l">
              <a:buNone/>
            </a:pPr>
            <a:r>
              <a:rPr lang="en-US" b="1" i="0" dirty="0">
                <a:solidFill>
                  <a:srgbClr val="343434"/>
                </a:solidFill>
                <a:effectLst/>
                <a:highlight>
                  <a:srgbClr val="FFFFFF"/>
                </a:highlight>
              </a:rPr>
              <a:t>Function Description</a:t>
            </a:r>
            <a:endParaRPr lang="en-US" b="0" i="0" dirty="0">
              <a:solidFill>
                <a:srgbClr val="343434"/>
              </a:solidFill>
              <a:effectLst/>
              <a:highlight>
                <a:srgbClr val="FFFFFF"/>
              </a:highlight>
            </a:endParaRPr>
          </a:p>
          <a:p>
            <a:pPr algn="l"/>
            <a:r>
              <a:rPr lang="en-US" b="0" i="0" dirty="0">
                <a:solidFill>
                  <a:srgbClr val="343434"/>
                </a:solidFill>
                <a:effectLst/>
                <a:highlight>
                  <a:srgbClr val="FFFFFF"/>
                </a:highlight>
              </a:rPr>
              <a:t>Write a function </a:t>
            </a:r>
            <a:r>
              <a:rPr lang="en-US" b="0" i="1" dirty="0">
                <a:solidFill>
                  <a:srgbClr val="343434"/>
                </a:solidFill>
                <a:effectLst/>
                <a:highlight>
                  <a:srgbClr val="FFFFFF"/>
                </a:highlight>
              </a:rPr>
              <a:t>pairs</a:t>
            </a:r>
            <a:r>
              <a:rPr lang="en-US" b="0" i="0" dirty="0">
                <a:solidFill>
                  <a:srgbClr val="343434"/>
                </a:solidFill>
                <a:effectLst/>
                <a:highlight>
                  <a:srgbClr val="FFFFFF"/>
                </a:highlight>
              </a:rPr>
              <a:t>. It must return an integer representing the number of element pairs having the required difference.</a:t>
            </a:r>
          </a:p>
          <a:p>
            <a:pPr algn="l"/>
            <a:r>
              <a:rPr lang="en-US" b="0" i="0" dirty="0">
                <a:solidFill>
                  <a:srgbClr val="343434"/>
                </a:solidFill>
                <a:effectLst/>
                <a:highlight>
                  <a:srgbClr val="FFFFFF"/>
                </a:highlight>
              </a:rPr>
              <a:t>Pairs has the following parameter(s):</a:t>
            </a:r>
          </a:p>
          <a:p>
            <a:pPr algn="l">
              <a:buFont typeface="Arial" panose="020B0604020202020204" pitchFamily="34" charset="0"/>
              <a:buChar char="•"/>
            </a:pPr>
            <a:r>
              <a:rPr lang="en-US" b="0" i="1" dirty="0">
                <a:solidFill>
                  <a:srgbClr val="343434"/>
                </a:solidFill>
                <a:effectLst/>
                <a:highlight>
                  <a:srgbClr val="FFFFFF"/>
                </a:highlight>
              </a:rPr>
              <a:t>k</a:t>
            </a:r>
            <a:r>
              <a:rPr lang="en-US" b="0" i="0" dirty="0">
                <a:solidFill>
                  <a:srgbClr val="343434"/>
                </a:solidFill>
                <a:effectLst/>
                <a:highlight>
                  <a:srgbClr val="FFFFFF"/>
                </a:highlight>
              </a:rPr>
              <a:t>: an integer, the target difference</a:t>
            </a:r>
          </a:p>
          <a:p>
            <a:pPr algn="l">
              <a:buFont typeface="Arial" panose="020B0604020202020204" pitchFamily="34" charset="0"/>
              <a:buChar char="•"/>
            </a:pPr>
            <a:r>
              <a:rPr lang="en-US" b="0" i="1" dirty="0" err="1">
                <a:solidFill>
                  <a:srgbClr val="343434"/>
                </a:solidFill>
                <a:effectLst/>
                <a:highlight>
                  <a:srgbClr val="FFFFFF"/>
                </a:highlight>
              </a:rPr>
              <a:t>arr</a:t>
            </a:r>
            <a:r>
              <a:rPr lang="en-US" b="0" i="0" dirty="0">
                <a:solidFill>
                  <a:srgbClr val="343434"/>
                </a:solidFill>
                <a:effectLst/>
                <a:highlight>
                  <a:srgbClr val="FFFFFF"/>
                </a:highlight>
              </a:rPr>
              <a:t>: an array of integers</a:t>
            </a:r>
          </a:p>
          <a:p>
            <a:pPr marL="0" indent="0" algn="l">
              <a:buNone/>
            </a:pPr>
            <a:r>
              <a:rPr lang="en-US" b="1" i="0" dirty="0">
                <a:solidFill>
                  <a:srgbClr val="343434"/>
                </a:solidFill>
                <a:effectLst/>
                <a:highlight>
                  <a:srgbClr val="FFFFFF"/>
                </a:highlight>
              </a:rPr>
              <a:t>Input Format</a:t>
            </a:r>
            <a:endParaRPr lang="en-US" b="0" i="0" dirty="0">
              <a:solidFill>
                <a:srgbClr val="343434"/>
              </a:solidFill>
              <a:effectLst/>
              <a:highlight>
                <a:srgbClr val="FFFFFF"/>
              </a:highlight>
            </a:endParaRPr>
          </a:p>
          <a:p>
            <a:pPr algn="l">
              <a:buFont typeface="Arial" panose="020B0604020202020204" pitchFamily="34" charset="0"/>
              <a:buChar char="•"/>
            </a:pPr>
            <a:r>
              <a:rPr lang="en-US" b="0" i="0" dirty="0">
                <a:solidFill>
                  <a:srgbClr val="343434"/>
                </a:solidFill>
                <a:effectLst/>
                <a:highlight>
                  <a:srgbClr val="FFFFFF"/>
                </a:highlight>
              </a:rPr>
              <a:t>The first line contains two space-separated integers n and k, the size of </a:t>
            </a:r>
            <a:r>
              <a:rPr lang="en-US" b="0" i="0" dirty="0" err="1">
                <a:solidFill>
                  <a:srgbClr val="343434"/>
                </a:solidFill>
                <a:effectLst/>
                <a:highlight>
                  <a:srgbClr val="FFFFFF"/>
                </a:highlight>
              </a:rPr>
              <a:t>arr</a:t>
            </a:r>
            <a:r>
              <a:rPr lang="en-US" b="0" i="0" dirty="0">
                <a:solidFill>
                  <a:srgbClr val="343434"/>
                </a:solidFill>
                <a:effectLst/>
                <a:highlight>
                  <a:srgbClr val="FFFFFF"/>
                </a:highlight>
              </a:rPr>
              <a:t> and the target value.</a:t>
            </a:r>
          </a:p>
          <a:p>
            <a:pPr algn="l">
              <a:buFont typeface="Arial" panose="020B0604020202020204" pitchFamily="34" charset="0"/>
              <a:buChar char="•"/>
            </a:pPr>
            <a:r>
              <a:rPr lang="en-US" b="0" i="0" dirty="0">
                <a:solidFill>
                  <a:srgbClr val="343434"/>
                </a:solidFill>
                <a:effectLst/>
                <a:highlight>
                  <a:srgbClr val="FFFFFF"/>
                </a:highlight>
              </a:rPr>
              <a:t>The second line contains n space-separated integers of the array arr.</a:t>
            </a:r>
          </a:p>
          <a:p>
            <a:endParaRPr lang="en-IN" dirty="0"/>
          </a:p>
        </p:txBody>
      </p:sp>
    </p:spTree>
    <p:extLst>
      <p:ext uri="{BB962C8B-B14F-4D97-AF65-F5344CB8AC3E}">
        <p14:creationId xmlns:p14="http://schemas.microsoft.com/office/powerpoint/2010/main" val="4095445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p:txBody>
          <a:bodyPr>
            <a:normAutofit/>
          </a:bodyPr>
          <a:lstStyle/>
          <a:p>
            <a:pPr marL="0" indent="0" algn="l">
              <a:buNone/>
            </a:pPr>
            <a:r>
              <a:rPr lang="en-US" sz="2600" b="1" i="0" dirty="0">
                <a:solidFill>
                  <a:srgbClr val="343434"/>
                </a:solidFill>
                <a:effectLst/>
                <a:highlight>
                  <a:srgbClr val="FFFFFF"/>
                </a:highlight>
              </a:rPr>
              <a:t>Sample Input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5 2</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1 5 3 4 2 </a:t>
            </a:r>
          </a:p>
          <a:p>
            <a:pPr marL="0" indent="0" algn="l">
              <a:buNone/>
            </a:pPr>
            <a:r>
              <a:rPr lang="en-US" sz="2600" b="1" i="0" dirty="0">
                <a:solidFill>
                  <a:srgbClr val="343434"/>
                </a:solidFill>
                <a:effectLst/>
                <a:highlight>
                  <a:srgbClr val="FFFFFF"/>
                </a:highlight>
              </a:rPr>
              <a:t>Sample Output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3</a:t>
            </a:r>
          </a:p>
          <a:p>
            <a:pPr marL="0" indent="0">
              <a:buNone/>
            </a:pPr>
            <a:endParaRPr lang="en-IN" sz="2600" dirty="0"/>
          </a:p>
        </p:txBody>
      </p:sp>
    </p:spTree>
    <p:extLst>
      <p:ext uri="{BB962C8B-B14F-4D97-AF65-F5344CB8AC3E}">
        <p14:creationId xmlns:p14="http://schemas.microsoft.com/office/powerpoint/2010/main" val="2925276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609600" y="301624"/>
            <a:ext cx="10515600" cy="6194425"/>
          </a:xfrm>
        </p:spPr>
        <p:txBody>
          <a:bodyPr>
            <a:noAutofit/>
          </a:bodyPr>
          <a:lstStyle/>
          <a:p>
            <a:pPr marL="0" indent="0">
              <a:spcBef>
                <a:spcPts val="0"/>
              </a:spcBef>
              <a:buNone/>
            </a:pPr>
            <a:r>
              <a:rPr lang="en-IN" sz="2400" b="1" dirty="0"/>
              <a:t>def pairs(k, </a:t>
            </a:r>
            <a:r>
              <a:rPr lang="en-IN" sz="2400" b="1" dirty="0" err="1"/>
              <a:t>arr</a:t>
            </a:r>
            <a:r>
              <a:rPr lang="en-IN" sz="2400" b="1" dirty="0"/>
              <a:t>):</a:t>
            </a:r>
          </a:p>
          <a:p>
            <a:pPr marL="0" indent="0">
              <a:spcBef>
                <a:spcPts val="0"/>
              </a:spcBef>
              <a:buNone/>
            </a:pPr>
            <a:r>
              <a:rPr lang="en-IN" sz="2400" b="1" dirty="0"/>
              <a:t>    q = 0</a:t>
            </a:r>
          </a:p>
          <a:p>
            <a:pPr marL="0" indent="0">
              <a:spcBef>
                <a:spcPts val="0"/>
              </a:spcBef>
              <a:buNone/>
            </a:pPr>
            <a:r>
              <a:rPr lang="en-IN" sz="2400" b="1" dirty="0"/>
              <a:t>    n = </a:t>
            </a:r>
            <a:r>
              <a:rPr lang="en-IN" sz="2400" b="1" dirty="0" err="1"/>
              <a:t>len</a:t>
            </a:r>
            <a:r>
              <a:rPr lang="en-IN" sz="2400" b="1" dirty="0"/>
              <a:t>(</a:t>
            </a:r>
            <a:r>
              <a:rPr lang="en-IN" sz="2400" b="1" dirty="0" err="1"/>
              <a:t>arr</a:t>
            </a:r>
            <a:r>
              <a:rPr lang="en-IN" sz="2400" b="1" dirty="0"/>
              <a:t>)</a:t>
            </a:r>
          </a:p>
          <a:p>
            <a:pPr marL="0" indent="0">
              <a:spcBef>
                <a:spcPts val="0"/>
              </a:spcBef>
              <a:buNone/>
            </a:pPr>
            <a:r>
              <a:rPr lang="en-IN" sz="2400" b="1" dirty="0"/>
              <a:t>    </a:t>
            </a:r>
            <a:r>
              <a:rPr lang="en-IN" sz="2400" b="1" dirty="0" err="1"/>
              <a:t>arr</a:t>
            </a:r>
            <a:r>
              <a:rPr lang="en-IN" sz="2400" b="1" dirty="0"/>
              <a:t> = set(</a:t>
            </a:r>
            <a:r>
              <a:rPr lang="en-IN" sz="2400" b="1" dirty="0" err="1"/>
              <a:t>arr</a:t>
            </a:r>
            <a:r>
              <a:rPr lang="en-IN" sz="2400" b="1" dirty="0"/>
              <a:t>)</a:t>
            </a:r>
          </a:p>
          <a:p>
            <a:pPr marL="0" indent="0">
              <a:spcBef>
                <a:spcPts val="0"/>
              </a:spcBef>
              <a:buNone/>
            </a:pPr>
            <a:r>
              <a:rPr lang="en-IN" sz="2400" b="1" dirty="0"/>
              <a:t>    h = </a:t>
            </a:r>
            <a:r>
              <a:rPr lang="en-IN" sz="2400" b="1" dirty="0" err="1"/>
              <a:t>len</a:t>
            </a:r>
            <a:r>
              <a:rPr lang="en-IN" sz="2400" b="1" dirty="0"/>
              <a:t>(</a:t>
            </a:r>
            <a:r>
              <a:rPr lang="en-IN" sz="2400" b="1" dirty="0" err="1"/>
              <a:t>arr</a:t>
            </a:r>
            <a:r>
              <a:rPr lang="en-IN" sz="2400" b="1" dirty="0"/>
              <a:t>) - n</a:t>
            </a:r>
          </a:p>
          <a:p>
            <a:pPr marL="0" indent="0">
              <a:spcBef>
                <a:spcPts val="0"/>
              </a:spcBef>
              <a:buNone/>
            </a:pPr>
            <a:r>
              <a:rPr lang="en-IN" sz="2400" b="1" dirty="0"/>
              <a:t>    for </a:t>
            </a:r>
            <a:r>
              <a:rPr lang="en-IN" sz="2400" b="1" dirty="0" err="1"/>
              <a:t>i</a:t>
            </a:r>
            <a:r>
              <a:rPr lang="en-IN" sz="2400" b="1" dirty="0"/>
              <a:t> in </a:t>
            </a:r>
            <a:r>
              <a:rPr lang="en-IN" sz="2400" b="1" dirty="0" err="1"/>
              <a:t>arr</a:t>
            </a:r>
            <a:r>
              <a:rPr lang="en-IN" sz="2400" b="1" dirty="0"/>
              <a:t>:</a:t>
            </a:r>
          </a:p>
          <a:p>
            <a:pPr marL="0" indent="0">
              <a:spcBef>
                <a:spcPts val="0"/>
              </a:spcBef>
              <a:buNone/>
            </a:pPr>
            <a:r>
              <a:rPr lang="en-IN" sz="2400" b="1" dirty="0"/>
              <a:t>        if </a:t>
            </a:r>
            <a:r>
              <a:rPr lang="en-IN" sz="2400" b="1" dirty="0" err="1"/>
              <a:t>i+k</a:t>
            </a:r>
            <a:r>
              <a:rPr lang="en-IN" sz="2400" b="1" dirty="0"/>
              <a:t> in </a:t>
            </a:r>
            <a:r>
              <a:rPr lang="en-IN" sz="2400" b="1" dirty="0" err="1"/>
              <a:t>arr</a:t>
            </a:r>
            <a:r>
              <a:rPr lang="en-IN" sz="2400" b="1" dirty="0"/>
              <a:t>:</a:t>
            </a:r>
          </a:p>
          <a:p>
            <a:pPr marL="0" indent="0">
              <a:spcBef>
                <a:spcPts val="0"/>
              </a:spcBef>
              <a:buNone/>
            </a:pPr>
            <a:r>
              <a:rPr lang="en-IN" sz="2400" b="1" dirty="0"/>
              <a:t>            q+=1</a:t>
            </a:r>
          </a:p>
          <a:p>
            <a:pPr marL="0" indent="0">
              <a:spcBef>
                <a:spcPts val="0"/>
              </a:spcBef>
              <a:buNone/>
            </a:pPr>
            <a:r>
              <a:rPr lang="en-IN" sz="2400" b="1" dirty="0"/>
              <a:t>    return </a:t>
            </a:r>
            <a:r>
              <a:rPr lang="en-IN" sz="2400" b="1" dirty="0" err="1"/>
              <a:t>q+h</a:t>
            </a:r>
            <a:endParaRPr lang="en-IN" sz="2400" b="1" dirty="0"/>
          </a:p>
          <a:p>
            <a:pPr marL="0" indent="0">
              <a:spcBef>
                <a:spcPts val="0"/>
              </a:spcBef>
              <a:buNone/>
            </a:pPr>
            <a:endParaRPr lang="en-IN" sz="2400" b="1" dirty="0"/>
          </a:p>
          <a:p>
            <a:pPr marL="0" indent="0">
              <a:spcBef>
                <a:spcPts val="0"/>
              </a:spcBef>
              <a:buNone/>
            </a:pPr>
            <a:r>
              <a:rPr lang="en-IN" sz="2400" b="1" dirty="0" err="1"/>
              <a:t>nk</a:t>
            </a:r>
            <a:r>
              <a:rPr lang="en-IN" sz="2400" b="1" dirty="0"/>
              <a:t> = input().split()</a:t>
            </a:r>
          </a:p>
          <a:p>
            <a:pPr marL="0" indent="0">
              <a:spcBef>
                <a:spcPts val="0"/>
              </a:spcBef>
              <a:buNone/>
            </a:pPr>
            <a:r>
              <a:rPr lang="en-IN" sz="2400" b="1" dirty="0"/>
              <a:t>n = int(</a:t>
            </a:r>
            <a:r>
              <a:rPr lang="en-IN" sz="2400" b="1" dirty="0" err="1"/>
              <a:t>nk</a:t>
            </a:r>
            <a:r>
              <a:rPr lang="en-IN" sz="2400" b="1" dirty="0"/>
              <a:t>[0])</a:t>
            </a:r>
          </a:p>
          <a:p>
            <a:pPr marL="0" indent="0">
              <a:spcBef>
                <a:spcPts val="0"/>
              </a:spcBef>
              <a:buNone/>
            </a:pPr>
            <a:r>
              <a:rPr lang="en-IN" sz="2400" b="1" dirty="0"/>
              <a:t>k = int(</a:t>
            </a:r>
            <a:r>
              <a:rPr lang="en-IN" sz="2400" b="1" dirty="0" err="1"/>
              <a:t>nk</a:t>
            </a:r>
            <a:r>
              <a:rPr lang="en-IN" sz="2400" b="1" dirty="0"/>
              <a:t>[1])</a:t>
            </a:r>
          </a:p>
          <a:p>
            <a:pPr marL="0" indent="0">
              <a:spcBef>
                <a:spcPts val="0"/>
              </a:spcBef>
              <a:buNone/>
            </a:pPr>
            <a:r>
              <a:rPr lang="en-IN" sz="2400" b="1" dirty="0" err="1"/>
              <a:t>arr</a:t>
            </a:r>
            <a:r>
              <a:rPr lang="en-IN" sz="2400" b="1" dirty="0"/>
              <a:t> = list(map(int, input().</a:t>
            </a:r>
            <a:r>
              <a:rPr lang="en-IN" sz="2400" b="1" dirty="0" err="1"/>
              <a:t>rstrip</a:t>
            </a:r>
            <a:r>
              <a:rPr lang="en-IN" sz="2400" b="1" dirty="0"/>
              <a:t>().split()))</a:t>
            </a:r>
          </a:p>
          <a:p>
            <a:pPr marL="0" indent="0">
              <a:spcBef>
                <a:spcPts val="0"/>
              </a:spcBef>
              <a:buNone/>
            </a:pPr>
            <a:r>
              <a:rPr lang="en-IN" sz="2400" b="1" dirty="0"/>
              <a:t>result = pairs(k, </a:t>
            </a:r>
            <a:r>
              <a:rPr lang="en-IN" sz="2400" b="1" dirty="0" err="1"/>
              <a:t>arr</a:t>
            </a:r>
            <a:r>
              <a:rPr lang="en-IN" sz="2400" b="1" dirty="0"/>
              <a:t>)</a:t>
            </a:r>
          </a:p>
          <a:p>
            <a:pPr marL="0" indent="0">
              <a:spcBef>
                <a:spcPts val="0"/>
              </a:spcBef>
              <a:buNone/>
            </a:pPr>
            <a:r>
              <a:rPr lang="en-IN" sz="2400" b="1" dirty="0"/>
              <a:t>print(result)</a:t>
            </a:r>
          </a:p>
        </p:txBody>
      </p:sp>
    </p:spTree>
    <p:extLst>
      <p:ext uri="{BB962C8B-B14F-4D97-AF65-F5344CB8AC3E}">
        <p14:creationId xmlns:p14="http://schemas.microsoft.com/office/powerpoint/2010/main" val="3861875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E00D-2EF2-B0FB-63A2-9CEAC142CF5E}"/>
              </a:ext>
            </a:extLst>
          </p:cNvPr>
          <p:cNvSpPr>
            <a:spLocks noGrp="1"/>
          </p:cNvSpPr>
          <p:nvPr>
            <p:ph type="title"/>
          </p:nvPr>
        </p:nvSpPr>
        <p:spPr>
          <a:xfrm>
            <a:off x="838200" y="193675"/>
            <a:ext cx="10515600" cy="587375"/>
          </a:xfrm>
        </p:spPr>
        <p:txBody>
          <a:bodyPr>
            <a:normAutofit/>
          </a:bodyPr>
          <a:lstStyle/>
          <a:p>
            <a:r>
              <a:rPr lang="en-US" sz="3000" b="1" i="0" dirty="0">
                <a:solidFill>
                  <a:srgbClr val="FF0000"/>
                </a:solidFill>
                <a:effectLst/>
                <a:highlight>
                  <a:srgbClr val="FFFFFF"/>
                </a:highlight>
                <a:latin typeface="+mn-lt"/>
              </a:rPr>
              <a:t>Problem Statement 12</a:t>
            </a:r>
            <a:endParaRPr lang="en-IN" sz="3000" dirty="0">
              <a:solidFill>
                <a:srgbClr val="FF0000"/>
              </a:solidFill>
              <a:latin typeface="+mn-lt"/>
            </a:endParaRPr>
          </a:p>
        </p:txBody>
      </p:sp>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1085850"/>
            <a:ext cx="10515600" cy="5091113"/>
          </a:xfrm>
        </p:spPr>
        <p:txBody>
          <a:bodyPr>
            <a:normAutofit/>
          </a:bodyPr>
          <a:lstStyle/>
          <a:p>
            <a:pPr algn="just">
              <a:buFont typeface="Wingdings" panose="05000000000000000000" pitchFamily="2" charset="2"/>
              <a:buChar char="Ø"/>
            </a:pPr>
            <a:r>
              <a:rPr lang="en-US" sz="2400" b="0" i="0" dirty="0">
                <a:solidFill>
                  <a:srgbClr val="343434"/>
                </a:solidFill>
                <a:effectLst/>
                <a:highlight>
                  <a:srgbClr val="FFFFFF"/>
                </a:highlight>
              </a:rPr>
              <a:t>A jail has several prisoners and several treats to pass out to them. Their jailer decides the fairest way to divide the treats is to seat the prisoners around a circular table in sequentially numbered chairs. A chair number will be drawn from a hat. Beginning with the prisoner in that chair, one candy will be handed to each prisoner sequentially around the table until all have been distributed.</a:t>
            </a:r>
          </a:p>
          <a:p>
            <a:pPr algn="just">
              <a:buFont typeface="Wingdings" panose="05000000000000000000" pitchFamily="2" charset="2"/>
              <a:buChar char="Ø"/>
            </a:pPr>
            <a:r>
              <a:rPr lang="en-US" sz="2400" b="0" i="0" dirty="0">
                <a:solidFill>
                  <a:srgbClr val="343434"/>
                </a:solidFill>
                <a:effectLst/>
                <a:highlight>
                  <a:srgbClr val="FFFFFF"/>
                </a:highlight>
              </a:rPr>
              <a:t>The jailer is playing a little joke, though. The last piece of candy looks like all the others, but it tastes </a:t>
            </a:r>
            <a:r>
              <a:rPr lang="en-US" sz="2400" b="0" i="1" dirty="0">
                <a:solidFill>
                  <a:srgbClr val="343434"/>
                </a:solidFill>
                <a:effectLst/>
                <a:highlight>
                  <a:srgbClr val="FFFFFF"/>
                </a:highlight>
              </a:rPr>
              <a:t>awful</a:t>
            </a:r>
            <a:r>
              <a:rPr lang="en-US" sz="2400" b="0" i="0" dirty="0">
                <a:solidFill>
                  <a:srgbClr val="343434"/>
                </a:solidFill>
                <a:effectLst/>
                <a:highlight>
                  <a:srgbClr val="FFFFFF"/>
                </a:highlight>
              </a:rPr>
              <a:t>. Determine the chair number occupied by the prisoner who will receive that candy.</a:t>
            </a:r>
          </a:p>
          <a:p>
            <a:pPr algn="just">
              <a:buFont typeface="Wingdings" panose="05000000000000000000" pitchFamily="2" charset="2"/>
              <a:buChar char="Ø"/>
            </a:pPr>
            <a:r>
              <a:rPr lang="en-US" sz="2400" b="0" i="0" dirty="0">
                <a:solidFill>
                  <a:srgbClr val="343434"/>
                </a:solidFill>
                <a:effectLst/>
                <a:highlight>
                  <a:srgbClr val="FFFFFF"/>
                </a:highlight>
              </a:rPr>
              <a:t>For example, there are 4 prisoners and 6 pieces of candy. The prisoners arrange themselves in seats numbered 1 to 4. Let’s suppose two are drawn from the hat. Prisoners receive candy at positions 2,3,4,1,2,3. The prisoner to be warned sits in chair number 3</a:t>
            </a:r>
          </a:p>
          <a:p>
            <a:pPr algn="just">
              <a:buFont typeface="Wingdings" panose="05000000000000000000" pitchFamily="2" charset="2"/>
              <a:buChar char="Ø"/>
            </a:pPr>
            <a:endParaRPr lang="en-IN" sz="2400" dirty="0"/>
          </a:p>
        </p:txBody>
      </p:sp>
    </p:spTree>
    <p:extLst>
      <p:ext uri="{BB962C8B-B14F-4D97-AF65-F5344CB8AC3E}">
        <p14:creationId xmlns:p14="http://schemas.microsoft.com/office/powerpoint/2010/main" val="1939285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CB926-5D92-175A-272A-28149A885067}"/>
              </a:ext>
            </a:extLst>
          </p:cNvPr>
          <p:cNvSpPr>
            <a:spLocks noGrp="1"/>
          </p:cNvSpPr>
          <p:nvPr>
            <p:ph idx="1"/>
          </p:nvPr>
        </p:nvSpPr>
        <p:spPr>
          <a:xfrm>
            <a:off x="838200" y="381000"/>
            <a:ext cx="10515600" cy="5795963"/>
          </a:xfrm>
        </p:spPr>
        <p:txBody>
          <a:bodyPr>
            <a:normAutofit/>
          </a:bodyPr>
          <a:lstStyle/>
          <a:p>
            <a:pPr marL="0" indent="0" algn="l">
              <a:buNone/>
            </a:pPr>
            <a:r>
              <a:rPr lang="en-US" sz="2400" b="1" i="0" dirty="0">
                <a:solidFill>
                  <a:srgbClr val="343434"/>
                </a:solidFill>
                <a:effectLst/>
                <a:highlight>
                  <a:srgbClr val="FFFFFF"/>
                </a:highlight>
              </a:rPr>
              <a:t>Function Description</a:t>
            </a:r>
            <a:endParaRPr lang="en-US" sz="2400" b="0" i="0" dirty="0">
              <a:solidFill>
                <a:srgbClr val="343434"/>
              </a:solidFill>
              <a:effectLst/>
              <a:highlight>
                <a:srgbClr val="FFFFFF"/>
              </a:highlight>
            </a:endParaRPr>
          </a:p>
          <a:p>
            <a:pPr algn="l"/>
            <a:r>
              <a:rPr lang="en-US" sz="2400" b="0" i="0" dirty="0">
                <a:solidFill>
                  <a:srgbClr val="343434"/>
                </a:solidFill>
                <a:effectLst/>
                <a:highlight>
                  <a:srgbClr val="FFFFFF"/>
                </a:highlight>
              </a:rPr>
              <a:t>Write a function to </a:t>
            </a:r>
            <a:r>
              <a:rPr lang="en-US" sz="2400" b="0" i="1" dirty="0">
                <a:solidFill>
                  <a:srgbClr val="343434"/>
                </a:solidFill>
                <a:effectLst/>
                <a:highlight>
                  <a:srgbClr val="FFFFFF"/>
                </a:highlight>
              </a:rPr>
              <a:t>save the prisoner</a:t>
            </a:r>
            <a:r>
              <a:rPr lang="en-US" sz="2400" b="0" i="0" dirty="0">
                <a:solidFill>
                  <a:srgbClr val="343434"/>
                </a:solidFill>
                <a:effectLst/>
                <a:highlight>
                  <a:srgbClr val="FFFFFF"/>
                </a:highlight>
              </a:rPr>
              <a:t>. It should return an integer representing the chair number of the prisoner to warn.</a:t>
            </a:r>
          </a:p>
          <a:p>
            <a:pPr algn="l"/>
            <a:r>
              <a:rPr lang="en-US" sz="2400" b="0" i="1" dirty="0">
                <a:solidFill>
                  <a:srgbClr val="343434"/>
                </a:solidFill>
                <a:effectLst/>
                <a:highlight>
                  <a:srgbClr val="FFFFFF"/>
                </a:highlight>
              </a:rPr>
              <a:t>save the prisoner</a:t>
            </a:r>
            <a:r>
              <a:rPr lang="en-US" sz="2400" b="0" i="0" dirty="0">
                <a:solidFill>
                  <a:srgbClr val="343434"/>
                </a:solidFill>
                <a:effectLst/>
                <a:highlight>
                  <a:srgbClr val="FFFFFF"/>
                </a:highlight>
              </a:rPr>
              <a:t> has the following parameter(s):</a:t>
            </a:r>
          </a:p>
          <a:p>
            <a:pPr algn="l">
              <a:buFont typeface="Arial" panose="020B0604020202020204" pitchFamily="34" charset="0"/>
              <a:buChar char="•"/>
            </a:pPr>
            <a:r>
              <a:rPr lang="en-US" sz="2400" b="0" i="1" dirty="0">
                <a:solidFill>
                  <a:srgbClr val="343434"/>
                </a:solidFill>
                <a:effectLst/>
                <a:highlight>
                  <a:srgbClr val="FFFFFF"/>
                </a:highlight>
              </a:rPr>
              <a:t>n</a:t>
            </a:r>
            <a:r>
              <a:rPr lang="en-US" sz="2400" b="0" i="0" dirty="0">
                <a:solidFill>
                  <a:srgbClr val="343434"/>
                </a:solidFill>
                <a:effectLst/>
                <a:highlight>
                  <a:srgbClr val="FFFFFF"/>
                </a:highlight>
              </a:rPr>
              <a:t>: an integer, the number of prisoners</a:t>
            </a:r>
          </a:p>
          <a:p>
            <a:pPr algn="l">
              <a:buFont typeface="Arial" panose="020B0604020202020204" pitchFamily="34" charset="0"/>
              <a:buChar char="•"/>
            </a:pPr>
            <a:r>
              <a:rPr lang="en-US" sz="2400" b="0" i="1" dirty="0">
                <a:solidFill>
                  <a:srgbClr val="343434"/>
                </a:solidFill>
                <a:effectLst/>
                <a:highlight>
                  <a:srgbClr val="FFFFFF"/>
                </a:highlight>
              </a:rPr>
              <a:t>m</a:t>
            </a:r>
            <a:r>
              <a:rPr lang="en-US" sz="2400" b="0" i="0" dirty="0">
                <a:solidFill>
                  <a:srgbClr val="343434"/>
                </a:solidFill>
                <a:effectLst/>
                <a:highlight>
                  <a:srgbClr val="FFFFFF"/>
                </a:highlight>
              </a:rPr>
              <a:t>: an integer, the number of sweets</a:t>
            </a:r>
          </a:p>
          <a:p>
            <a:pPr algn="l">
              <a:buFont typeface="Arial" panose="020B0604020202020204" pitchFamily="34" charset="0"/>
              <a:buChar char="•"/>
            </a:pPr>
            <a:r>
              <a:rPr lang="en-US" sz="2400" b="0" i="1" dirty="0">
                <a:solidFill>
                  <a:srgbClr val="343434"/>
                </a:solidFill>
                <a:effectLst/>
                <a:highlight>
                  <a:srgbClr val="FFFFFF"/>
                </a:highlight>
              </a:rPr>
              <a:t>s</a:t>
            </a:r>
            <a:r>
              <a:rPr lang="en-US" sz="2400" b="0" i="0" dirty="0">
                <a:solidFill>
                  <a:srgbClr val="343434"/>
                </a:solidFill>
                <a:effectLst/>
                <a:highlight>
                  <a:srgbClr val="FFFFFF"/>
                </a:highlight>
              </a:rPr>
              <a:t>: an integer, the chair number to begin passing out sweets from</a:t>
            </a:r>
          </a:p>
          <a:p>
            <a:pPr marL="0" indent="0" algn="l">
              <a:buNone/>
            </a:pPr>
            <a:r>
              <a:rPr lang="en-US" sz="2400" b="1" i="0" dirty="0">
                <a:solidFill>
                  <a:srgbClr val="343434"/>
                </a:solidFill>
                <a:effectLst/>
                <a:highlight>
                  <a:srgbClr val="FFFFFF"/>
                </a:highlight>
              </a:rPr>
              <a:t>Input Format</a:t>
            </a:r>
            <a:endParaRPr lang="en-US" sz="2400" b="0" i="0" dirty="0">
              <a:solidFill>
                <a:srgbClr val="343434"/>
              </a:solidFill>
              <a:effectLst/>
              <a:highlight>
                <a:srgbClr val="FFFFFF"/>
              </a:highlight>
            </a:endParaRPr>
          </a:p>
          <a:p>
            <a:pPr algn="l">
              <a:buFont typeface="Arial" panose="020B0604020202020204" pitchFamily="34" charset="0"/>
              <a:buChar char="•"/>
            </a:pPr>
            <a:r>
              <a:rPr lang="en-US" sz="2400" b="0" i="0" dirty="0">
                <a:solidFill>
                  <a:srgbClr val="343434"/>
                </a:solidFill>
                <a:effectLst/>
                <a:highlight>
                  <a:srgbClr val="FFFFFF"/>
                </a:highlight>
              </a:rPr>
              <a:t>The first line contains an integer t, denoting the number of test cases.</a:t>
            </a:r>
          </a:p>
          <a:p>
            <a:pPr algn="l">
              <a:buFont typeface="Arial" panose="020B0604020202020204" pitchFamily="34" charset="0"/>
              <a:buChar char="•"/>
            </a:pPr>
            <a:r>
              <a:rPr lang="en-US" sz="2400" b="0" i="0" dirty="0">
                <a:solidFill>
                  <a:srgbClr val="343434"/>
                </a:solidFill>
                <a:effectLst/>
                <a:highlight>
                  <a:srgbClr val="FFFFFF"/>
                </a:highlight>
              </a:rPr>
              <a:t>The next t lines each contain 3 space-separated integers:</a:t>
            </a:r>
          </a:p>
          <a:p>
            <a:pPr marL="742950" lvl="1" indent="-285750" algn="l">
              <a:buFont typeface="Arial" panose="020B0604020202020204" pitchFamily="34" charset="0"/>
              <a:buChar char="•"/>
            </a:pPr>
            <a:r>
              <a:rPr lang="en-US" b="0" i="0" dirty="0">
                <a:solidFill>
                  <a:srgbClr val="343434"/>
                </a:solidFill>
                <a:effectLst/>
                <a:highlight>
                  <a:srgbClr val="FFFFFF"/>
                </a:highlight>
              </a:rPr>
              <a:t>-: n the number of prisoners</a:t>
            </a:r>
          </a:p>
          <a:p>
            <a:pPr marL="742950" lvl="1" indent="-285750" algn="l">
              <a:buFont typeface="Arial" panose="020B0604020202020204" pitchFamily="34" charset="0"/>
              <a:buChar char="•"/>
            </a:pPr>
            <a:r>
              <a:rPr lang="en-US" b="0" i="0" dirty="0">
                <a:solidFill>
                  <a:srgbClr val="343434"/>
                </a:solidFill>
                <a:effectLst/>
                <a:highlight>
                  <a:srgbClr val="FFFFFF"/>
                </a:highlight>
              </a:rPr>
              <a:t>-: m the number of sweets</a:t>
            </a:r>
          </a:p>
          <a:p>
            <a:pPr marL="742950" lvl="1" indent="-285750" algn="l">
              <a:buFont typeface="Arial" panose="020B0604020202020204" pitchFamily="34" charset="0"/>
              <a:buChar char="•"/>
            </a:pPr>
            <a:r>
              <a:rPr lang="en-US" b="0" i="0" dirty="0">
                <a:solidFill>
                  <a:srgbClr val="343434"/>
                </a:solidFill>
                <a:effectLst/>
                <a:highlight>
                  <a:srgbClr val="FFFFFF"/>
                </a:highlight>
              </a:rPr>
              <a:t>-: s the chair number to start passing out treats at </a:t>
            </a:r>
          </a:p>
          <a:p>
            <a:endParaRPr lang="en-IN" sz="2400" dirty="0"/>
          </a:p>
        </p:txBody>
      </p:sp>
    </p:spTree>
    <p:extLst>
      <p:ext uri="{BB962C8B-B14F-4D97-AF65-F5344CB8AC3E}">
        <p14:creationId xmlns:p14="http://schemas.microsoft.com/office/powerpoint/2010/main" val="2076881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63A54-C343-2C1E-FC52-2B7A7E5D4799}"/>
              </a:ext>
            </a:extLst>
          </p:cNvPr>
          <p:cNvSpPr>
            <a:spLocks noGrp="1"/>
          </p:cNvSpPr>
          <p:nvPr>
            <p:ph idx="1"/>
          </p:nvPr>
        </p:nvSpPr>
        <p:spPr>
          <a:xfrm>
            <a:off x="714375" y="711200"/>
            <a:ext cx="10515600" cy="4351338"/>
          </a:xfrm>
        </p:spPr>
        <p:txBody>
          <a:bodyPr>
            <a:normAutofit/>
          </a:bodyPr>
          <a:lstStyle/>
          <a:p>
            <a:pPr marL="0" indent="0" algn="l">
              <a:buNone/>
            </a:pPr>
            <a:r>
              <a:rPr lang="en-US" sz="2600" b="1" i="0" dirty="0">
                <a:solidFill>
                  <a:srgbClr val="343434"/>
                </a:solidFill>
                <a:effectLst/>
                <a:highlight>
                  <a:srgbClr val="FFFFFF"/>
                </a:highlight>
              </a:rPr>
              <a:t>Output Format</a:t>
            </a:r>
            <a:endParaRPr lang="en-US" sz="2600" b="0" i="0" dirty="0">
              <a:solidFill>
                <a:srgbClr val="343434"/>
              </a:solidFill>
              <a:effectLst/>
              <a:highlight>
                <a:srgbClr val="FFFFFF"/>
              </a:highlight>
            </a:endParaRPr>
          </a:p>
          <a:p>
            <a:pPr marL="0" indent="0" algn="l">
              <a:buNone/>
            </a:pPr>
            <a:r>
              <a:rPr lang="en-US" sz="2600" b="0" i="0" dirty="0">
                <a:solidFill>
                  <a:srgbClr val="343434"/>
                </a:solidFill>
                <a:effectLst/>
                <a:highlight>
                  <a:srgbClr val="FFFFFF"/>
                </a:highlight>
              </a:rPr>
              <a:t>For each test case, print the chair number of the prisoner who receives the </a:t>
            </a:r>
            <a:r>
              <a:rPr lang="en-US" sz="2600" b="0" i="1" dirty="0">
                <a:solidFill>
                  <a:srgbClr val="343434"/>
                </a:solidFill>
                <a:effectLst/>
                <a:highlight>
                  <a:srgbClr val="FFFFFF"/>
                </a:highlight>
              </a:rPr>
              <a:t>awful treat</a:t>
            </a:r>
            <a:r>
              <a:rPr lang="en-US" sz="2600" b="0" i="0" dirty="0">
                <a:solidFill>
                  <a:srgbClr val="343434"/>
                </a:solidFill>
                <a:effectLst/>
                <a:highlight>
                  <a:srgbClr val="FFFFFF"/>
                </a:highlight>
              </a:rPr>
              <a:t> on a new line.</a:t>
            </a:r>
          </a:p>
          <a:p>
            <a:pPr marL="0" indent="0" algn="l">
              <a:buNone/>
            </a:pPr>
            <a:r>
              <a:rPr lang="en-US" sz="2600" b="1" i="0" dirty="0">
                <a:solidFill>
                  <a:srgbClr val="343434"/>
                </a:solidFill>
                <a:effectLst/>
                <a:highlight>
                  <a:srgbClr val="FFFFFF"/>
                </a:highlight>
              </a:rPr>
              <a:t>Sample</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2</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5 2 1</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5 2 2</a:t>
            </a:r>
          </a:p>
          <a:p>
            <a:pPr marL="0" indent="0" algn="l">
              <a:buNone/>
            </a:pPr>
            <a:r>
              <a:rPr lang="en-US" sz="2600" b="1" i="0" dirty="0">
                <a:solidFill>
                  <a:srgbClr val="343434"/>
                </a:solidFill>
                <a:effectLst/>
                <a:highlight>
                  <a:srgbClr val="FFFFFF"/>
                </a:highlight>
              </a:rPr>
              <a:t>Sample Output</a:t>
            </a:r>
            <a:br>
              <a:rPr lang="en-US" sz="2600" b="1" i="0" dirty="0">
                <a:solidFill>
                  <a:srgbClr val="343434"/>
                </a:solidFill>
                <a:effectLst/>
                <a:highlight>
                  <a:srgbClr val="FFFFFF"/>
                </a:highlight>
              </a:rPr>
            </a:br>
            <a:r>
              <a:rPr lang="en-US" sz="2600" b="0" i="0" dirty="0">
                <a:solidFill>
                  <a:srgbClr val="343434"/>
                </a:solidFill>
                <a:effectLst/>
                <a:highlight>
                  <a:srgbClr val="FFFFFF"/>
                </a:highlight>
              </a:rPr>
              <a:t>2</a:t>
            </a:r>
            <a:br>
              <a:rPr lang="en-US" sz="2600" b="0" i="0" dirty="0">
                <a:solidFill>
                  <a:srgbClr val="343434"/>
                </a:solidFill>
                <a:effectLst/>
                <a:highlight>
                  <a:srgbClr val="FFFFFF"/>
                </a:highlight>
              </a:rPr>
            </a:br>
            <a:r>
              <a:rPr lang="en-US" sz="2600" b="0" i="0" dirty="0">
                <a:solidFill>
                  <a:srgbClr val="343434"/>
                </a:solidFill>
                <a:effectLst/>
                <a:highlight>
                  <a:srgbClr val="FFFFFF"/>
                </a:highlight>
              </a:rPr>
              <a:t>3</a:t>
            </a:r>
          </a:p>
          <a:p>
            <a:pPr marL="0" indent="0">
              <a:buNone/>
            </a:pPr>
            <a:endParaRPr lang="en-IN" sz="2600" dirty="0"/>
          </a:p>
        </p:txBody>
      </p:sp>
    </p:spTree>
    <p:extLst>
      <p:ext uri="{BB962C8B-B14F-4D97-AF65-F5344CB8AC3E}">
        <p14:creationId xmlns:p14="http://schemas.microsoft.com/office/powerpoint/2010/main" val="22371461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1E7C3-C715-1928-6B4F-7C0C405945F2}"/>
              </a:ext>
            </a:extLst>
          </p:cNvPr>
          <p:cNvSpPr>
            <a:spLocks noGrp="1"/>
          </p:cNvSpPr>
          <p:nvPr>
            <p:ph idx="1"/>
          </p:nvPr>
        </p:nvSpPr>
        <p:spPr>
          <a:xfrm>
            <a:off x="838200" y="552450"/>
            <a:ext cx="10515600" cy="5624513"/>
          </a:xfrm>
        </p:spPr>
        <p:txBody>
          <a:bodyPr>
            <a:normAutofit/>
          </a:bodyPr>
          <a:lstStyle/>
          <a:p>
            <a:pPr marL="0" indent="0">
              <a:buNone/>
            </a:pPr>
            <a:r>
              <a:rPr lang="en-IN" sz="2400" b="1" dirty="0"/>
              <a:t>def </a:t>
            </a:r>
            <a:r>
              <a:rPr lang="en-IN" sz="2400" b="1" dirty="0" err="1"/>
              <a:t>saveThePrisoner</a:t>
            </a:r>
            <a:r>
              <a:rPr lang="en-IN" sz="2400" b="1" dirty="0"/>
              <a:t>(n, m, s):</a:t>
            </a:r>
          </a:p>
          <a:p>
            <a:pPr marL="0" indent="0">
              <a:buNone/>
            </a:pPr>
            <a:r>
              <a:rPr lang="en-IN" sz="2400" b="1" dirty="0"/>
              <a:t>    if (m + s - 1) % n == 0:</a:t>
            </a:r>
          </a:p>
          <a:p>
            <a:pPr marL="0" indent="0">
              <a:buNone/>
            </a:pPr>
            <a:r>
              <a:rPr lang="en-IN" sz="2400" b="1" dirty="0"/>
              <a:t>        return n</a:t>
            </a:r>
          </a:p>
          <a:p>
            <a:pPr marL="0" indent="0">
              <a:buNone/>
            </a:pPr>
            <a:r>
              <a:rPr lang="en-IN" sz="2400" b="1" dirty="0"/>
              <a:t>    else:</a:t>
            </a:r>
          </a:p>
          <a:p>
            <a:pPr marL="0" indent="0">
              <a:buNone/>
            </a:pPr>
            <a:r>
              <a:rPr lang="en-IN" sz="2400" b="1" dirty="0"/>
              <a:t>        return (m+s-1) % n</a:t>
            </a:r>
          </a:p>
          <a:p>
            <a:pPr marL="0" indent="0">
              <a:buNone/>
            </a:pPr>
            <a:r>
              <a:rPr lang="en-IN" sz="2400" b="1" dirty="0"/>
              <a:t>t = int(input())</a:t>
            </a:r>
          </a:p>
          <a:p>
            <a:pPr marL="0" indent="0">
              <a:buNone/>
            </a:pPr>
            <a:r>
              <a:rPr lang="en-IN" sz="2400" b="1" dirty="0"/>
              <a:t>for </a:t>
            </a:r>
            <a:r>
              <a:rPr lang="en-IN" sz="2400" b="1" dirty="0" err="1"/>
              <a:t>t_itr</a:t>
            </a:r>
            <a:r>
              <a:rPr lang="en-IN" sz="2400" b="1" dirty="0"/>
              <a:t> in range(t):</a:t>
            </a:r>
          </a:p>
          <a:p>
            <a:pPr marL="0" indent="0">
              <a:buNone/>
            </a:pPr>
            <a:r>
              <a:rPr lang="en-IN" sz="2400" b="1" dirty="0"/>
              <a:t>    </a:t>
            </a:r>
            <a:r>
              <a:rPr lang="en-IN" sz="2400" b="1" dirty="0" err="1"/>
              <a:t>nms</a:t>
            </a:r>
            <a:r>
              <a:rPr lang="en-IN" sz="2400" b="1" dirty="0"/>
              <a:t> = input().split()</a:t>
            </a:r>
          </a:p>
          <a:p>
            <a:pPr marL="0" indent="0">
              <a:buNone/>
            </a:pPr>
            <a:r>
              <a:rPr lang="en-IN" sz="2400" b="1" dirty="0"/>
              <a:t>    n = int(</a:t>
            </a:r>
            <a:r>
              <a:rPr lang="en-IN" sz="2400" b="1" dirty="0" err="1"/>
              <a:t>nms</a:t>
            </a:r>
            <a:r>
              <a:rPr lang="en-IN" sz="2400" b="1" dirty="0"/>
              <a:t>[0])</a:t>
            </a:r>
          </a:p>
          <a:p>
            <a:pPr marL="0" indent="0">
              <a:buNone/>
            </a:pPr>
            <a:r>
              <a:rPr lang="en-IN" sz="2400" b="1" dirty="0"/>
              <a:t>    m = int(</a:t>
            </a:r>
            <a:r>
              <a:rPr lang="en-IN" sz="2400" b="1" dirty="0" err="1"/>
              <a:t>nms</a:t>
            </a:r>
            <a:r>
              <a:rPr lang="en-IN" sz="2400" b="1" dirty="0"/>
              <a:t>[1])</a:t>
            </a:r>
          </a:p>
          <a:p>
            <a:pPr marL="0" indent="0">
              <a:buNone/>
            </a:pPr>
            <a:r>
              <a:rPr lang="en-IN" sz="2400" b="1" dirty="0"/>
              <a:t>    s = int(</a:t>
            </a:r>
            <a:r>
              <a:rPr lang="en-IN" sz="2400" b="1" dirty="0" err="1"/>
              <a:t>nms</a:t>
            </a:r>
            <a:r>
              <a:rPr lang="en-IN" sz="2400" b="1" dirty="0"/>
              <a:t>[2])</a:t>
            </a:r>
          </a:p>
          <a:p>
            <a:pPr marL="0" indent="0">
              <a:buNone/>
            </a:pPr>
            <a:endParaRPr lang="en-IN" sz="2400" b="1" dirty="0"/>
          </a:p>
        </p:txBody>
      </p:sp>
    </p:spTree>
    <p:extLst>
      <p:ext uri="{BB962C8B-B14F-4D97-AF65-F5344CB8AC3E}">
        <p14:creationId xmlns:p14="http://schemas.microsoft.com/office/powerpoint/2010/main" val="2722907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TotalTime>
  <Words>4722</Words>
  <Application>Microsoft Office PowerPoint</Application>
  <PresentationFormat>Widescreen</PresentationFormat>
  <Paragraphs>427</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Wingdings</vt:lpstr>
      <vt:lpstr>Office Theme</vt:lpstr>
      <vt:lpstr>Problem Statement 1</vt:lpstr>
      <vt:lpstr>PowerPoint Presentation</vt:lpstr>
      <vt:lpstr>PowerPoint Presentation</vt:lpstr>
      <vt:lpstr>PowerPoint Presentation</vt:lpstr>
      <vt:lpstr>PowerPoint Presentation</vt:lpstr>
      <vt:lpstr>PowerPoint Presentation</vt:lpstr>
      <vt:lpstr>Problem Statement 2</vt:lpstr>
      <vt:lpstr>PowerPoint Presentation</vt:lpstr>
      <vt:lpstr>PowerPoint Presentation</vt:lpstr>
      <vt:lpstr>Problem Statement 3</vt:lpstr>
      <vt:lpstr>PowerPoint Presentation</vt:lpstr>
      <vt:lpstr>PowerPoint Presentation</vt:lpstr>
      <vt:lpstr>PowerPoint Presentation</vt:lpstr>
      <vt:lpstr>Problem Statement 4</vt:lpstr>
      <vt:lpstr>PowerPoint Presentation</vt:lpstr>
      <vt:lpstr>PowerPoint Presentation</vt:lpstr>
      <vt:lpstr>PowerPoint Presentation</vt:lpstr>
      <vt:lpstr>Problem Statement 5</vt:lpstr>
      <vt:lpstr>PowerPoint Presentation</vt:lpstr>
      <vt:lpstr>PowerPoint Presentation</vt:lpstr>
      <vt:lpstr>PowerPoint Presentation</vt:lpstr>
      <vt:lpstr>Problem Statement 6</vt:lpstr>
      <vt:lpstr>PowerPoint Presentation</vt:lpstr>
      <vt:lpstr>Problem Statement 7</vt:lpstr>
      <vt:lpstr>PowerPoint Presentation</vt:lpstr>
      <vt:lpstr>PowerPoint Presentation</vt:lpstr>
      <vt:lpstr>PowerPoint Presentation</vt:lpstr>
      <vt:lpstr>Problem Statement 8</vt:lpstr>
      <vt:lpstr>PowerPoint Presentation</vt:lpstr>
      <vt:lpstr>PowerPoint Presentation</vt:lpstr>
      <vt:lpstr>PowerPoint Presentation</vt:lpstr>
      <vt:lpstr>PowerPoint Presentation</vt:lpstr>
      <vt:lpstr>Problem Statement 9</vt:lpstr>
      <vt:lpstr>PowerPoint Presentation</vt:lpstr>
      <vt:lpstr>PowerPoint Presentation</vt:lpstr>
      <vt:lpstr>Problem Statement 10</vt:lpstr>
      <vt:lpstr>PowerPoint Presentation</vt:lpstr>
      <vt:lpstr>PowerPoint Presentation</vt:lpstr>
      <vt:lpstr>Problem Statement 11</vt:lpstr>
      <vt:lpstr>PowerPoint Presentation</vt:lpstr>
      <vt:lpstr>PowerPoint Presentation</vt:lpstr>
      <vt:lpstr>Problem Statement 12</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penchala swamy</dc:creator>
  <cp:lastModifiedBy>penchala swamy</cp:lastModifiedBy>
  <cp:revision>122</cp:revision>
  <dcterms:created xsi:type="dcterms:W3CDTF">2024-04-09T05:27:24Z</dcterms:created>
  <dcterms:modified xsi:type="dcterms:W3CDTF">2024-04-10T10:39:48Z</dcterms:modified>
</cp:coreProperties>
</file>